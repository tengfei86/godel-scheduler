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1" r:id="rId2"/>
  </p:sldMasterIdLst>
  <p:notesMasterIdLst>
    <p:notesMasterId r:id="rId32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7"/>
    <p:sldId id="281" r:id="rId6"/>
    <p:sldId id="282" r:id="rId5"/>
    <p:sldId id="283" r:id="rId4"/>
    <p:sldId id="284" r:id="rId3"/>
    <p:sldId id="285" r:id="rId37"/>
    <p:sldId id="286" r:id="rId38"/>
    <p:sldId id="287" r:id="rId39"/>
    <p:sldId id="288" r:id="rId40"/>
  </p:sldIdLst>
  <p:sldSz cx="12196763" cy="6858000"/>
  <p:notesSz cx="6858000" cy="9144000"/>
  <p:defaultTextStyle>
    <a:defPPr>
      <a:defRPr lang="zh-CN"/>
    </a:defPPr>
    <a:lvl1pPr marL="0" lvl="0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1pPr>
    <a:lvl2pPr marL="457200" lvl="1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2pPr>
    <a:lvl3pPr marL="914400" lvl="2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3pPr>
    <a:lvl4pPr marL="1371600" lvl="3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4pPr>
    <a:lvl5pPr marL="1828800" lvl="4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5pPr>
    <a:lvl6pPr marL="2286000" lvl="5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6pPr>
    <a:lvl7pPr marL="2743200" lvl="6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7pPr>
    <a:lvl8pPr marL="3200400" lvl="7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8pPr>
    <a:lvl9pPr marL="3657600" lvl="8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9pPr>
  </p:defaultTextStyle>
  <p:extLst>
    <p:ext uri="{EFAFB233-063F-42B5-8137-9DF3F51BA10A}">
      <p15:sldGuideLst xmlns:p15="http://schemas.microsoft.com/office/powerpoint/2012/main">
        <p15:guide id="1" orient="horz" pos="2142">
          <p15:clr>
            <a:srgbClr val="A4A3A4"/>
          </p15:clr>
        </p15:guide>
        <p15:guide id="2" pos="384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8F8F8"/>
    <a:srgbClr val="113E6A"/>
    <a:srgbClr val="006BBC"/>
    <a:srgbClr val="363636"/>
    <a:srgbClr val="FAFAFA"/>
    <a:srgbClr val="0F3D68"/>
    <a:srgbClr val="003366"/>
    <a:srgbClr val="EAEAE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477" autoAdjust="0"/>
    <p:restoredTop sz="94660"/>
  </p:normalViewPr>
  <p:slideViewPr>
    <p:cSldViewPr snapToObjects="1" showGuides="1">
      <p:cViewPr varScale="1">
        <p:scale>
          <a:sx n="58" d="100"/>
          <a:sy n="58" d="100"/>
        </p:scale>
        <p:origin x="738" y="66"/>
      </p:cViewPr>
      <p:guideLst>
        <p:guide orient="horz" pos="2142"/>
        <p:guide pos="3841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29.xml"/><Relationship Id="rId4" Type="http://schemas.openxmlformats.org/officeDocument/2006/relationships/slide" Target="slides/slide28.xml"/><Relationship Id="rId5" Type="http://schemas.openxmlformats.org/officeDocument/2006/relationships/slide" Target="slides/slide27.xml"/><Relationship Id="rId6" Type="http://schemas.openxmlformats.org/officeDocument/2006/relationships/slide" Target="slides/slide26.xml"/><Relationship Id="rId7" Type="http://schemas.openxmlformats.org/officeDocument/2006/relationships/slide" Target="slides/slide25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eaLnBrk="0" hangingPunct="0">
              <a:buFont typeface="Arial" panose="020B0604020202020204" pitchFamily="34" charset="0"/>
              <a:buNone/>
              <a:defRPr sz="1200"/>
            </a:lvl1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147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algn="r" eaLnBrk="0" hangingPunct="0">
              <a:buFont typeface="Arial" panose="020B0604020202020204" pitchFamily="34" charset="0"/>
              <a:buNone/>
              <a:defRPr sz="1200"/>
            </a:lvl1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en-US" altLang="zh-CN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5124" name="Rectangle 4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9525">
            <a:noFill/>
          </a:ln>
        </p:spPr>
      </p:sp>
      <p:sp>
        <p:nvSpPr>
          <p:cNvPr id="6149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单击此处编辑母版文本样式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第二级</a:t>
            </a:r>
          </a:p>
          <a:p>
            <a:pPr marL="914400" marR="0" lvl="2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第三级</a:t>
            </a:r>
          </a:p>
          <a:p>
            <a:pPr marL="1371600" marR="0" lvl="3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第四级</a:t>
            </a:r>
          </a:p>
          <a:p>
            <a:pPr marL="1828800" marR="0" lvl="4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第五级</a:t>
            </a:r>
          </a:p>
        </p:txBody>
      </p:sp>
      <p:sp>
        <p:nvSpPr>
          <p:cNvPr id="6150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/>
          <a:lstStyle>
            <a:lvl1pPr eaLnBrk="0" hangingPunct="0">
              <a:buFont typeface="Arial" panose="020B0604020202020204" pitchFamily="34" charset="0"/>
              <a:buNone/>
              <a:defRPr sz="1200"/>
            </a:lvl1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en-US" altLang="zh-CN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151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/>
          <a:lstStyle/>
          <a:p>
            <a:pPr lvl="0" algn="r" fontAlgn="base">
              <a:buChar char="•"/>
            </a:pPr>
            <a:fld id="{9A0DB2DC-4C9A-4742-B13C-FB6460FD3503}" type="slidenum">
              <a:rPr lang="zh-CN" altLang="en-US" sz="1200" strike="noStrike" noProof="1" dirty="0">
                <a:latin typeface="Arial" panose="020B0604020202020204" pitchFamily="34" charset="0"/>
                <a:ea typeface="宋体" panose="02010600030101010101" pitchFamily="2" charset="-122"/>
                <a:cs typeface="+mn-ea"/>
              </a:rPr>
              <a:pPr lvl="0" algn="r" fontAlgn="base">
                <a:buChar char="•"/>
              </a:pPr>
              <a:t>‹#›</a:t>
            </a:fld>
            <a:endParaRPr lang="zh-CN" altLang="en-US" sz="1200" strike="noStrike" noProof="1"/>
          </a:p>
        </p:txBody>
      </p:sp>
    </p:spTree>
    <p:extLst>
      <p:ext uri="{BB962C8B-B14F-4D97-AF65-F5344CB8AC3E}">
        <p14:creationId xmlns:p14="http://schemas.microsoft.com/office/powerpoint/2010/main" val="3360921475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各位老师上午好。我汇报的题目是《基于 etcd 的分布式 Kubernetes 调度器研究与实现》。这项工作针对分布式调度器把绑定拆出去之后吞吐上不去、一致性也守不住的问题。一句话概括：把 Binder 合并回 Scheduler，用四层机制守住“至多绑定一次”。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先说背景。云原生负载规模持续增长，生产集群已经进入万节点量级；业务对调度器提出双重要求，既要秒级承接海量 Pod，又要长期运行不因单点失效中断服务。原生 kube-scheduler 是单实例架构，这两条同时满足很吃力——这正是工业界做分布式改造的起点，也是本文要处理的问题。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现状分国外与国内两条线。国外从集中式走到共享状态：Borg、Omega、Mesos，再到 kube-scheduler 的插件框架。国内代表是 Gödel，字节跳动开源，用节点分区做分片式多实例；Volcano 与 Koordinator 走插件增强。共同缺口在落盘侧，本文正落在这个缺口上。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这一页把全文压成两句。架构上，单 Dispatcher、多独立 Scheduler，Binder 合并进 Scheduler 进程，CacheAdapter 零拷贝共享缓存，去掉跨进程的事件传递与序列化。一致性上，四层容错，L0 到 L3 覆盖 Bind 前中后，每层对应一类 etcd 原子语义。两条创新指向同一个目标：不改 API，跑得快且绑得对。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Gödel 是最有代表性的开源实现：Dispatcher 分发、Scheduler 决策、Binder 落盘，加节点分区。但它留了两个缺口：Binder 独立部署，绑定又变成跨进程串行环节；分区归属会漂移，严格一致性缺少完整论证。本文的两个问题就对着这两个缺口。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左边是原形态，Binder 独立部署，决策完要把任务发过去；右边是本文形态，Binder 就在 Scheduler 进程里。这一刀去掉三段开销：事件传递、跨进程调用、序列化。后面所有吞吐数字都从这一刀下来，同时保留 CLI 开关可回退。开关的意义是：改动可回退，部署可平滑。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先看 Dispatcher 的内部流程。它进来先做归属校验，把分区漂移的 Pod 拦住；再按实例负载做分区选择，决定交给哪个 Scheduler；然后入队。注意它不选节点，只决定 Pod 去哪，选节点是下一环的事，这也是它能并行分发的原因。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这是总体架构。Dispatcher 只做两件事：分区怎么分、出事怎么退；中间多个 Scheduler 各管一个分区，跑 Filter、Score、Reserve；最下面把决策写进 apiserver。分区之间没有共享锁，状态靠 Watch 驱动，这是能扩展的前提。三层职责清晰，故障面也就容易划清。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难点在缓存。以前 Binder 在另一个进程，缓存要么复制要么重建。CacheAdapter 让进程内 Binder 直接拿到同一份 SchedulerCache 的对象引用，所以叫零拷贝。两边看到同一份状态，Layer 0 的校验才有同一个真相可依。零拷贝的收益，会在扩展性实验里直接体现。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四层是一条时间轴。Bind 前，Layer 0 校验归属注解，把漂移拦在门外；Bind 中，Layer 1 用同步退避处理暂态错误；失败后，Layer 2 用异步 Reconciler 回收孤儿状态；重试耗尽，Layer 3 由 Dispatcher 清注解、触发全局重分发。四层之间是衔接关系，不是四个独立补丁。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所有机制最后都回到不变量 I：任一 Pod 至多绑定到一个节点。证明拆四点：P1 来自 Bind 子资源原子写；P2 是 Assumed 状态清理；P3 是注解清理与重分发的时序；P4 是 Layer 0 前置拦截。四层都不破坏 I，且可在 apiserver 侧复核。这也是后面所有实验断言的设计依据。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所有机制最后都要回到不变量 I：任一 Pod 至多绑定到一个节点。证明拆四点：P1 来自 Bind 子资源原子写；P2 是 Assumed 状态清理；P3 是注解清理与重分发的时序；P4 是 Layer 0 前置拦截。四层都不破坏 I，而且可以在 apiserver 侧用断言复核，不是自说自话。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这一页是方法学核心。吞吐时序是爬升、平台、归零三段，直接取平均会被尾段零值稀释，稀释程度还取决于跑多久，跨调度器就不可比，所以主口径是总工作量除以总完成时间。时序类指标先对三条 run 逐点取中位数，再剔首尾各两点。还有一条限定：c、d、e 是单实例，过载时大量 Pod 堵在 activeQ 没进直方图，存在幸存者偏差，只做定性说明。这三条口径，是后面所有数字可比的前提。另外，跨调度器我只用吞吐、队列堆积与绑定成功率做整体比较，延迟只在 ENO 与 Gödel 之间比。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在给性能数字之前，先说正确性。144 次 run，每次跑完都在 apiserver 侧断言：未绑定为零、重复绑定为零，全部通过；ENO 那 48 次 run 成功率都是 100%。两场故障注入各 6 项判据全过。所谓正确，不是日志没报错，而是外部事实对得上。两场注入分别是分区漂移与实例失活，正好覆盖两类威胁。判据包括成功率、断言、拦截数、回退数、耗时与队列行为，六项都要成立。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第一场注入：s2/w2、三实例，第 30 秒把 10% 的节点、约 100 个，归属注解从 scheduler-0 改为 scheduler-1。NodeValidator 拦截 300 次，Dispatcher 回退 300 次，两条曲线重叠。关键是拦截不等于丢弃：Pod 进回退队列被重分发，所以成功率仍是 1.00，断言 50000 全过，总耗时 683 秒，只比基线多 3 秒。这组数字说明 Layer 0 只是把错误前置，不是把工作丢掉，代价几乎为零。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第二场注入：第 10 秒杀掉 scheduler-0，停机 180 秒，实测中断 189 秒。被杀实例未完成的绑定只占 68/8407，即 0.81%；两个存活实例接管 8407 个 Pod，孤儿回收 77.15 每秒，队列峰值 353 后回落到 2。累计绑定 49607/50000，断言仍全过。代价是 784 秒、多 104 秒，这是工作量重排，不是数据损坏。对比基线是同一场景下的无故障运行，680 秒；这也说明接管是可控的，代价有界。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五组对比，结论是三档。第一档 ENO 与 Gödel，都是几百 pods/s；第二档 kube-scheduler；第三档 Volcano 与 Koordinator，只有约 48 和约 24 pods/s，几乎不随规模变化。主评估四场景里，ENO 比 kube-scheduler 高 1.8% 到 22.5%，比 Volcano 约 6 倍、比 Koordinator 12 倍以上。唯一例外是 s1/w1 低负载低 7.2%，那是没饱和。柱状图按场景排序，第三档几乎是一条水平线。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 14 个领先、2 个持平，没有落后的，提升 2.0% 到 22.9%，平均 11.9%。优势最大的是高负载与多实例：s2/w3 高 22.9%，s3/w3 三实例高 21.7%，s3/w5 与 s3/w7 三实例也都超过 21%。持平场景是没饱和，完成时间由注入速率决定。四个亮点场景分别是高负载、突发、异构与多实例。平均 11.9% 这个数，是把 14 个领先场景的幅度取均值得到的。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延迟这页。除 s2/w2 外，11 个非 Gang 场景 P99 都低于 Gödel，改善 0.3% 到 82.9%。最典型是 s2/w3，23.48 秒降到 4.00 秒；单实例 s3/w3 从 32.57 秒到 16.22 秒。Pod 端到端 P99 在 12 个非 Gang 场景也都不高于 Gödel，改善 0.6% 到 75.3%。Gang 是反的，放到局限里展开。延迟的单位都是秒，纵轴用对数，便于跨量级比较；改善的下界 0.3% 出现在接近饱和的场景。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这是全文最强的归因证据。同样把实例从 1 加到 3，两边延迟都降约 99%，这部分一样。差别在吞吐：ENO 从 297.6 到 349.7，提升 17.5%；Gödel 从 283.3 到 287.4，只提升 1.4%。同样多的并发能力，Gödel 的增量被独立 Binder 的串行绑定吸收掉了。扩展性实验固定负载为 s3/w3，w3 即 1000 pods per second，两组都跑三次取中位数。延迟数量级下降，说明瓶颈不在决策侧。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两件事。第一，规模从 5000 到 10000、实例数不变，两边都退化：ENO -15.2%，Gödel -2.3%；但 ENO 仍领先——吞吐 296.7 对 280.9 高 5.6%，P99 0.19 对 0.28 秒低 33.4%，队列峰值 9 对 61。第二，复杂负载：极限 +9.3% 与 +16.0%，突发 +21.3% 与 +2.8%，异构 s3 高 21.2%、s4 持平。注意固定三实例，回落不等于扩展上限。s4 的退化与固定三实例有关，这写在局限里。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把机制和指标对齐。进程内绑定去掉事件传递，对应 E2E 降低，三实例 0.45 对 0.93 秒；零拷贝让状态复用无同步延迟；关键是第三行，没有独立 Binder 的串行段，吞吐才能随实例扩展，+17.5% 对 +1.4%；第四行四层容错守住不变量。也要说明相关与归因的区别：峰值吞吐不是每个场景都领先，s3/w5 与 s4/w3 低于 Gödel。四行对应四个机制，每一项都有可复核的字段；如果评委追问某个数字，备用页里有完整口径以及原始目录。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局限六条，只讲关键。KWOK 是仿真，绝对数值不外推，但跨调度器相对比较成立。Gang 即 w6，ENO 尾延迟确实更高：吞吐高 4.3% 到 19.1%，单 Pod P99 高 1.6 到 4.1 倍，原因是同组预留等待与决策共用进程和队列，我们没用独立计时实验把两段分离。其余是固定实例数、资源公平、Volcano 口径、幸存者偏差。这六条不是免责声明，而是给结论划边界；在这个边界内，跨调度器的相对结论是稳的。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最后收束。两个创新：ENO 把 Binder 放进进程内并用 CacheAdapter 共享缓存；四层容错给出不变量 I 的证明要点。三组证据：16 场景 144 次 run 全成功、平均 +11.9%、P99 最高 -82.9%、实例扩展 +17.5% 对 +1.4%。价值：不改 API、保留开关、基准开源。三组证据合起来，正好对应问题、方法与效果。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汇报到这里。一句话总结：把 Binder 合并进 Scheduler 进程，用 etcd 原子语义上的四层容错守住“至多绑定一次”，在 16 个场景、144 次 run 上做到更高吞吐、更低尾延迟、100% 成功率。请各位老师批评指正。如果只问一个问题，我的回答就是刚才那一句。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我的汇报到这里。如果只允许一句话总结：本文把 Binder 从独立进程合并进 Scheduler，用基于 etcd 原子语义的四层容错守住“至多绑定一次”，在 16 个场景、144 次 run 上做到更高吞吐、更低尾延迟和 100% 绑定成功率。请各位老师批评指正，谢谢。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备用页：抽查任意场景的原始数值。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备用页：如果评委追问某个数字怎么算出来的，用这页回答。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备用页：幸存者偏差的解释。过载时 Pod 根本没被处理，所以延迟看起来“很好”。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备用页：w6 反向结果的完整数据与解释。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备用页：公平性与资源开销的口径说明。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备用页：评委问可复现性时展示。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备用页：这一页给评委看形态。左边吞吐，右边 P99，共享时间轴。ENO 的平台更高、更早稳定；P99 峰值更低、回落更快。两张图放一起的意义是：我们的优势不是某个瞬时点，而是整段完成时间更短。这正好解释为什么有效吞吐对我们有利——它衡量的就是固定工作量多久做完，而不是某一秒的瞬时速率。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jpe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jpe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8763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8763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fontAlgn="base"/>
            <a:r>
              <a:rPr lang="zh-CN" altLang="en-US" strike="noStrike" noProof="1"/>
              <a:t>单击此处编辑母版副标题样式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20363" cy="2852737"/>
          </a:xfrm>
        </p:spPr>
        <p:txBody>
          <a:bodyPr anchor="b"/>
          <a:lstStyle>
            <a:lvl1pPr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20363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09600" y="1600200"/>
            <a:ext cx="5411788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3788" y="1600200"/>
            <a:ext cx="5413375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20362" cy="1325563"/>
          </a:xfrm>
        </p:spPr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93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93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5375" y="1681163"/>
            <a:ext cx="51847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5375" y="2505075"/>
            <a:ext cx="51847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bg>
      <p:bgPr>
        <a:blipFill rotWithShape="0">
          <a:blip r:embed="rId2" cstate="print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4" name="图片 3"/>
          <p:cNvPicPr>
            <a:picLocks noChangeAspect="1"/>
          </p:cNvPicPr>
          <p:nvPr userDrawn="1"/>
        </p:nvPicPr>
        <p:blipFill>
          <a:blip r:embed="rId3" cstate="print"/>
          <a:srcRect t="14301" b="13251"/>
          <a:stretch>
            <a:fillRect/>
          </a:stretch>
        </p:blipFill>
        <p:spPr>
          <a:xfrm>
            <a:off x="0" y="0"/>
            <a:ext cx="12196763" cy="685800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5" name="矩形 4"/>
          <p:cNvSpPr>
            <a:spLocks noChangeArrowheads="1"/>
          </p:cNvSpPr>
          <p:nvPr/>
        </p:nvSpPr>
        <p:spPr bwMode="auto">
          <a:xfrm>
            <a:off x="0" y="0"/>
            <a:ext cx="12196763" cy="6858000"/>
          </a:xfrm>
          <a:prstGeom prst="rect">
            <a:avLst/>
          </a:prstGeom>
          <a:solidFill>
            <a:srgbClr val="003366">
              <a:alpha val="85881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</a14:hiddenLine>
            </a:ext>
          </a:extLst>
        </p:spPr>
        <p:txBody>
          <a:bodyPr/>
          <a:lstStyle>
            <a:lvl1pP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空白">
    <p:bg>
      <p:bgPr>
        <a:blipFill rotWithShape="0">
          <a:blip r:embed="rId2" cstate="print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8" name="图片 3"/>
          <p:cNvPicPr>
            <a:picLocks noChangeAspect="1"/>
          </p:cNvPicPr>
          <p:nvPr userDrawn="1"/>
        </p:nvPicPr>
        <p:blipFill>
          <a:blip r:embed="rId3" cstate="print"/>
          <a:srcRect t="14301" b="13251"/>
          <a:stretch>
            <a:fillRect/>
          </a:stretch>
        </p:blipFill>
        <p:spPr>
          <a:xfrm>
            <a:off x="0" y="0"/>
            <a:ext cx="12196763" cy="685800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5" name="矩形 4"/>
          <p:cNvSpPr>
            <a:spLocks noChangeArrowheads="1"/>
          </p:cNvSpPr>
          <p:nvPr/>
        </p:nvSpPr>
        <p:spPr bwMode="auto">
          <a:xfrm>
            <a:off x="0" y="0"/>
            <a:ext cx="12196763" cy="6858000"/>
          </a:xfrm>
          <a:prstGeom prst="rect">
            <a:avLst/>
          </a:prstGeom>
          <a:solidFill>
            <a:srgbClr val="003366">
              <a:alpha val="85881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</a14:hiddenLine>
            </a:ext>
          </a:extLst>
        </p:spPr>
        <p:txBody>
          <a:bodyPr/>
          <a:lstStyle>
            <a:lvl1pP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" name="矩形 5"/>
          <p:cNvSpPr>
            <a:spLocks noChangeArrowheads="1"/>
          </p:cNvSpPr>
          <p:nvPr/>
        </p:nvSpPr>
        <p:spPr bwMode="auto">
          <a:xfrm>
            <a:off x="5522913" y="0"/>
            <a:ext cx="6673850" cy="6858000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txBody>
          <a:bodyPr/>
          <a:lstStyle>
            <a:lvl1pP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4775" y="987425"/>
            <a:ext cx="6175375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4775" y="987425"/>
            <a:ext cx="6175375" cy="4873625"/>
          </a:xfrm>
        </p:spPr>
        <p:txBody>
          <a:bodyPr vert="horz" wrap="square" lIns="91440" tIns="45720" rIns="91440" bIns="45720" numCol="1" anchor="t" anchorCtr="0" compatLnSpc="1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3200" b="0" i="0" u="none" strike="noStrike" kern="1200" cap="none" spc="0" normalizeH="0" baseline="0" noProof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843963" y="908050"/>
            <a:ext cx="2743200" cy="5218113"/>
          </a:xfrm>
        </p:spPr>
        <p:txBody>
          <a:bodyPr vert="eaVert"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609600" y="908050"/>
            <a:ext cx="8081963" cy="5218113"/>
          </a:xfrm>
        </p:spPr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8763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8763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fontAlgn="base"/>
            <a:r>
              <a:rPr lang="zh-CN" altLang="en-US" strike="noStrike" noProof="1"/>
              <a:t>单击此处编辑母版副标题样式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20363" cy="2852737"/>
          </a:xfrm>
        </p:spPr>
        <p:txBody>
          <a:bodyPr anchor="b"/>
          <a:lstStyle>
            <a:lvl1pPr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20363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09600" y="1600200"/>
            <a:ext cx="5411788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3788" y="1600200"/>
            <a:ext cx="5413375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20362" cy="1325563"/>
          </a:xfrm>
        </p:spPr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93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93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5375" y="1681163"/>
            <a:ext cx="51847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5375" y="2505075"/>
            <a:ext cx="51847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4775" y="987425"/>
            <a:ext cx="6175375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4775" y="987425"/>
            <a:ext cx="6175375" cy="4873625"/>
          </a:xfrm>
        </p:spPr>
        <p:txBody>
          <a:bodyPr vert="horz" wrap="square" lIns="91440" tIns="45720" rIns="91440" bIns="45720" numCol="1" anchor="t" anchorCtr="0" compatLnSpc="1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3200" b="0" i="0" u="none" strike="noStrike" kern="1200" cap="none" spc="0" normalizeH="0" baseline="0" noProof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843963" y="908050"/>
            <a:ext cx="2743200" cy="5218113"/>
          </a:xfrm>
        </p:spPr>
        <p:txBody>
          <a:bodyPr vert="eaVert"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609600" y="908050"/>
            <a:ext cx="8081963" cy="5218113"/>
          </a:xfrm>
        </p:spPr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Relationship Id="rId14" Type="http://schemas.openxmlformats.org/officeDocument/2006/relationships/image" Target="../media/image1.jpe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slideLayout" Target="../slideLayouts/slideLayout14.xml"/><Relationship Id="rId3" Type="http://schemas.openxmlformats.org/officeDocument/2006/relationships/slideLayout" Target="../slideLayouts/slideLayout15.xml"/><Relationship Id="rId4" Type="http://schemas.openxmlformats.org/officeDocument/2006/relationships/slideLayout" Target="../slideLayouts/slideLayout16.xml"/><Relationship Id="rId5" Type="http://schemas.openxmlformats.org/officeDocument/2006/relationships/slideLayout" Target="../slideLayouts/slideLayout17.xml"/><Relationship Id="rId6" Type="http://schemas.openxmlformats.org/officeDocument/2006/relationships/slideLayout" Target="../slideLayouts/slideLayout18.xml"/><Relationship Id="rId7" Type="http://schemas.openxmlformats.org/officeDocument/2006/relationships/slideLayout" Target="../slideLayouts/slideLayout19.xml"/><Relationship Id="rId8" Type="http://schemas.openxmlformats.org/officeDocument/2006/relationships/slideLayout" Target="../slideLayouts/slideLayout20.xml"/><Relationship Id="rId9" Type="http://schemas.openxmlformats.org/officeDocument/2006/relationships/slideLayout" Target="../slideLayouts/slideLayout21.xml"/><Relationship Id="rId10" Type="http://schemas.openxmlformats.org/officeDocument/2006/relationships/slideLayout" Target="../slideLayouts/slideLayout22.xml"/><Relationship Id="rId11" Type="http://schemas.openxmlformats.org/officeDocument/2006/relationships/slideLayout" Target="../slideLayouts/slideLayout23.xml"/><Relationship Id="rId12" Type="http://schemas.openxmlformats.org/officeDocument/2006/relationships/theme" Target="../theme/theme2.xml"/><Relationship Id="rId13" Type="http://schemas.openxmlformats.org/officeDocument/2006/relationships/image" Target="../media/image3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0">
          <a:blip r:embed="rId14" cstate="print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/>
          </p:cNvSpPr>
          <p:nvPr>
            <p:ph type="title"/>
          </p:nvPr>
        </p:nvSpPr>
        <p:spPr>
          <a:xfrm>
            <a:off x="609600" y="908050"/>
            <a:ext cx="10977563" cy="635000"/>
          </a:xfrm>
          <a:prstGeom prst="rect">
            <a:avLst/>
          </a:prstGeom>
          <a:noFill/>
          <a:ln w="9525">
            <a:noFill/>
          </a:ln>
        </p:spPr>
        <p:txBody>
          <a:bodyPr anchor="ctr"/>
          <a:lstStyle/>
          <a:p>
            <a:pPr lvl="0"/>
            <a:r>
              <a:rPr lang="zh-CN" altLang="zh-CN" dirty="0"/>
              <a:t>单击此处编辑母版标题样式</a:t>
            </a:r>
          </a:p>
        </p:txBody>
      </p:sp>
      <p:sp>
        <p:nvSpPr>
          <p:cNvPr id="1027" name="Rectangle 3"/>
          <p:cNvSpPr>
            <a:spLocks noGrp="1"/>
          </p:cNvSpPr>
          <p:nvPr>
            <p:ph type="body"/>
          </p:nvPr>
        </p:nvSpPr>
        <p:spPr>
          <a:xfrm>
            <a:off x="609600" y="1600200"/>
            <a:ext cx="10977563" cy="4525963"/>
          </a:xfrm>
          <a:prstGeom prst="rect">
            <a:avLst/>
          </a:prstGeom>
          <a:noFill/>
          <a:ln w="9525">
            <a:noFill/>
          </a:ln>
        </p:spPr>
        <p:txBody>
          <a:bodyPr anchor="t"/>
          <a:lstStyle/>
          <a:p>
            <a:pPr lvl="0" indent="-342900"/>
            <a:r>
              <a:rPr lang="zh-CN" altLang="zh-CN" dirty="0"/>
              <a:t>单击此处编辑母版文本样式</a:t>
            </a:r>
          </a:p>
          <a:p>
            <a:pPr lvl="1" indent="-285750"/>
            <a:r>
              <a:rPr lang="zh-CN" altLang="zh-CN" dirty="0"/>
              <a:t>第二级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 kern="1200">
          <a:solidFill>
            <a:schemeClr val="accent1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5pPr>
      <a:lvl6pPr marL="4572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6pPr>
      <a:lvl7pPr marL="9144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7pPr>
      <a:lvl8pPr marL="13716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8pPr>
      <a:lvl9pPr marL="18288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2000" kern="1200">
          <a:solidFill>
            <a:schemeClr val="accent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accent1"/>
          </a:solidFill>
          <a:latin typeface="+mn-lt"/>
          <a:ea typeface="仿宋_GB2312" pitchFamily="1" charset="-122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0">
          <a:blip r:embed="rId13" cstate="print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矩形 3"/>
          <p:cNvSpPr>
            <a:spLocks noChangeArrowheads="1"/>
          </p:cNvSpPr>
          <p:nvPr/>
        </p:nvSpPr>
        <p:spPr bwMode="auto">
          <a:xfrm>
            <a:off x="11582400" y="6381750"/>
            <a:ext cx="492125" cy="396875"/>
          </a:xfrm>
          <a:prstGeom prst="rect">
            <a:avLst/>
          </a:prstGeom>
          <a:solidFill>
            <a:srgbClr val="0F3D68"/>
          </a:solidFill>
          <a:ln>
            <a:noFill/>
          </a:ln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3075" name="TextBox 4"/>
          <p:cNvSpPr txBox="1"/>
          <p:nvPr/>
        </p:nvSpPr>
        <p:spPr>
          <a:xfrm>
            <a:off x="11609388" y="6410325"/>
            <a:ext cx="436562" cy="339725"/>
          </a:xfrm>
          <a:prstGeom prst="rect">
            <a:avLst/>
          </a:prstGeom>
          <a:noFill/>
          <a:ln w="9525">
            <a:noFill/>
          </a:ln>
        </p:spPr>
        <p:txBody>
          <a:bodyPr wrap="none" anchor="t">
            <a:spAutoFit/>
          </a:bodyPr>
          <a:lstStyle/>
          <a:p>
            <a:pPr lvl="0" indent="0" algn="ctr"/>
            <a:fld id="{9A0DB2DC-4C9A-4742-B13C-FB6460FD3503}" type="slidenum">
              <a:rPr lang="zh-CN" altLang="en-US" sz="1600" dirty="0">
                <a:solidFill>
                  <a:schemeClr val="accent2"/>
                </a:solidFill>
                <a:latin typeface="Arial" panose="020B0604020202020204" pitchFamily="34" charset="0"/>
                <a:ea typeface="宋体" panose="02010600030101010101" pitchFamily="2" charset="-122"/>
              </a:rPr>
              <a:pPr lvl="0" indent="0" algn="ctr"/>
              <a:t>‹#›</a:t>
            </a:fld>
            <a:endParaRPr lang="zh-CN" altLang="en-US" sz="1600" dirty="0">
              <a:solidFill>
                <a:schemeClr val="accent2"/>
              </a:solidFill>
              <a:latin typeface="Arial" panose="020B0604020202020204" pitchFamily="34" charset="0"/>
              <a:ea typeface="宋体" panose="02010600030101010101" pitchFamily="2" charset="-122"/>
            </a:endParaRPr>
          </a:p>
        </p:txBody>
      </p:sp>
      <p:sp>
        <p:nvSpPr>
          <p:cNvPr id="2052" name="Rectangle 2"/>
          <p:cNvSpPr>
            <a:spLocks noGrp="1"/>
          </p:cNvSpPr>
          <p:nvPr>
            <p:ph type="title"/>
          </p:nvPr>
        </p:nvSpPr>
        <p:spPr>
          <a:xfrm>
            <a:off x="609600" y="908050"/>
            <a:ext cx="10977563" cy="635000"/>
          </a:xfrm>
          <a:prstGeom prst="rect">
            <a:avLst/>
          </a:prstGeom>
          <a:noFill/>
          <a:ln w="9525">
            <a:noFill/>
          </a:ln>
        </p:spPr>
        <p:txBody>
          <a:bodyPr anchor="ctr"/>
          <a:lstStyle/>
          <a:p>
            <a:pPr lvl="0"/>
            <a:r>
              <a:rPr lang="zh-CN" altLang="zh-CN" dirty="0"/>
              <a:t>单击此处编辑母版标题样式</a:t>
            </a:r>
          </a:p>
        </p:txBody>
      </p:sp>
      <p:sp>
        <p:nvSpPr>
          <p:cNvPr id="2053" name="Rectangle 3"/>
          <p:cNvSpPr>
            <a:spLocks noGrp="1"/>
          </p:cNvSpPr>
          <p:nvPr>
            <p:ph type="body"/>
          </p:nvPr>
        </p:nvSpPr>
        <p:spPr>
          <a:xfrm>
            <a:off x="609600" y="1600200"/>
            <a:ext cx="10977563" cy="4525963"/>
          </a:xfrm>
          <a:prstGeom prst="rect">
            <a:avLst/>
          </a:prstGeom>
          <a:noFill/>
          <a:ln w="9525">
            <a:noFill/>
          </a:ln>
        </p:spPr>
        <p:txBody>
          <a:bodyPr anchor="t"/>
          <a:lstStyle/>
          <a:p>
            <a:pPr lvl="0" indent="-342900"/>
            <a:r>
              <a:rPr lang="zh-CN" altLang="zh-CN" dirty="0"/>
              <a:t>单击此处编辑母版文本样式</a:t>
            </a:r>
          </a:p>
          <a:p>
            <a:pPr lvl="1" indent="-285750"/>
            <a:r>
              <a:rPr lang="zh-CN" altLang="zh-CN" dirty="0"/>
              <a:t>第二级</a:t>
            </a:r>
          </a:p>
        </p:txBody>
      </p:sp>
      <p:sp>
        <p:nvSpPr>
          <p:cNvPr id="2054" name="矩形 1"/>
          <p:cNvSpPr>
            <a:spLocks noChangeArrowheads="1"/>
          </p:cNvSpPr>
          <p:nvPr/>
        </p:nvSpPr>
        <p:spPr bwMode="auto">
          <a:xfrm>
            <a:off x="0" y="6713538"/>
            <a:ext cx="12196763" cy="144463"/>
          </a:xfrm>
          <a:prstGeom prst="rect">
            <a:avLst/>
          </a:prstGeom>
          <a:solidFill>
            <a:srgbClr val="0F3D68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</a14:hiddenLine>
            </a:ext>
          </a:extLst>
        </p:spPr>
        <p:txBody>
          <a:bodyPr/>
          <a:lstStyle>
            <a:lvl1pP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</p:sldLayoutIdLs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307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307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400" fill="hold"/>
                                        <p:tgtEl>
                                          <p:spTgt spid="3075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0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75" grpId="0"/>
    </p:bldLst>
  </p:timing>
  <p:hf sldNum="0"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 kern="1200">
          <a:solidFill>
            <a:schemeClr val="accent1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5pPr>
      <a:lvl6pPr marL="4572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6pPr>
      <a:lvl7pPr marL="9144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7pPr>
      <a:lvl8pPr marL="13716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8pPr>
      <a:lvl9pPr marL="18288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2000" kern="1200">
          <a:solidFill>
            <a:schemeClr val="accent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accent1"/>
          </a:solidFill>
          <a:latin typeface="+mn-lt"/>
          <a:ea typeface="仿宋_GB2312" pitchFamily="1" charset="-122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9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Relationship Id="rId4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eihang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85615" y="942540"/>
            <a:ext cx="4224528" cy="803255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197864" y="2157984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97864" y="3282696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2231136"/>
            <a:ext cx="10725912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800" b="1">
                <a:solidFill>
                  <a:srgbClr val="113E6A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8096" y="3456432"/>
            <a:ext cx="1072591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0">
                <a:solidFill>
                  <a:srgbClr val="0070C0"/>
                </a:solidFill>
                <a:latin typeface="Arial"/>
                <a:ea typeface="微软雅黑"/>
              </a:rPr>
              <a:t>硕士学位论文答辩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97864" y="4617720"/>
            <a:ext cx="9866376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>
                <a:solidFill>
                  <a:srgbClr val="636363"/>
                </a:solidFill>
                <a:latin typeface="Arial"/>
                <a:ea typeface="微软雅黑"/>
              </a:rPr>
              <a:t>答辩人：[姓名]　　指导教师：[导师]　　学院：[学院]　　日期：[日期]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 / 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427038" y="220663"/>
            <a:ext cx="474662" cy="560387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001" name="TextBox 9000"/>
          <p:cNvSpPr txBox="1"/>
          <p:nvPr/>
        </p:nvSpPr>
        <p:spPr>
          <a:xfrm>
            <a:off x="1014984" y="155448"/>
            <a:ext cx="104241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万节点规模下，吞吐上限与单点风险同时暴露</a:t>
            </a:r>
          </a:p>
        </p:txBody>
      </p:sp>
      <p:sp>
        <p:nvSpPr>
          <p:cNvPr id="9002" name="Rectangle 9001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3" name="TextBox 9002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业务要求秒级承接海量 Pod，又不能因单点中断；单实例架构在两头受制</a:t>
            </a:r>
          </a:p>
        </p:txBody>
      </p:sp>
      <p:sp>
        <p:nvSpPr>
          <p:cNvPr id="9004" name="Rounded Rectangle 9003"/>
          <p:cNvSpPr/>
          <p:nvPr/>
        </p:nvSpPr>
        <p:spPr>
          <a:xfrm>
            <a:off x="566928" y="1874519"/>
            <a:ext cx="3517391" cy="1371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Oval 9004"/>
          <p:cNvSpPr/>
          <p:nvPr/>
        </p:nvSpPr>
        <p:spPr>
          <a:xfrm>
            <a:off x="713232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992" y="2011679"/>
            <a:ext cx="2877312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113E6A"/>
                </a:solidFill>
                <a:latin typeface="Arial"/>
                <a:ea typeface="微软雅黑"/>
              </a:rPr>
              <a:t>规模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00" b="0">
                <a:solidFill>
                  <a:srgbClr val="2E2C2C"/>
                </a:solidFill>
                <a:latin typeface="Arial"/>
                <a:ea typeface="微软雅黑"/>
              </a:rPr>
              <a:t>生产集群已进入万节点级，规模仍在增长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40351" y="1874519"/>
            <a:ext cx="3517391" cy="1371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Oval 9007"/>
          <p:cNvSpPr/>
          <p:nvPr/>
        </p:nvSpPr>
        <p:spPr>
          <a:xfrm>
            <a:off x="4486656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09" name="TextBox 9008"/>
          <p:cNvSpPr txBox="1"/>
          <p:nvPr/>
        </p:nvSpPr>
        <p:spPr>
          <a:xfrm>
            <a:off x="4852416" y="2011679"/>
            <a:ext cx="2877312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113E6A"/>
                </a:solidFill>
                <a:latin typeface="Arial"/>
                <a:ea typeface="微软雅黑"/>
              </a:rPr>
              <a:t>吞吐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00" b="0">
                <a:solidFill>
                  <a:srgbClr val="2E2C2C"/>
                </a:solidFill>
                <a:latin typeface="Arial"/>
                <a:ea typeface="微软雅黑"/>
              </a:rPr>
              <a:t>业务要求秒级承接海量 Pod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113775" y="1874519"/>
            <a:ext cx="3517391" cy="1371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Oval 9010"/>
          <p:cNvSpPr/>
          <p:nvPr/>
        </p:nvSpPr>
        <p:spPr>
          <a:xfrm>
            <a:off x="8260079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2" name="TextBox 9011"/>
          <p:cNvSpPr txBox="1"/>
          <p:nvPr/>
        </p:nvSpPr>
        <p:spPr>
          <a:xfrm>
            <a:off x="8625839" y="2011679"/>
            <a:ext cx="2877312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113E6A"/>
                </a:solidFill>
                <a:latin typeface="Arial"/>
                <a:ea typeface="微软雅黑"/>
              </a:rPr>
              <a:t>可用性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00" b="0">
                <a:solidFill>
                  <a:srgbClr val="2E2C2C"/>
                </a:solidFill>
                <a:latin typeface="Arial"/>
                <a:ea typeface="微软雅黑"/>
              </a:rPr>
              <a:t>长期运行不能因单点失效中断服务</a:t>
            </a:r>
          </a:p>
        </p:txBody>
      </p:sp>
      <p:sp>
        <p:nvSpPr>
          <p:cNvPr id="9013" name="Rounded Rectangle 9012"/>
          <p:cNvSpPr/>
          <p:nvPr/>
        </p:nvSpPr>
        <p:spPr>
          <a:xfrm>
            <a:off x="566928" y="3657600"/>
            <a:ext cx="11064240" cy="868680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Rectangle 9013"/>
          <p:cNvSpPr/>
          <p:nvPr/>
        </p:nvSpPr>
        <p:spPr>
          <a:xfrm>
            <a:off x="566928" y="3657600"/>
            <a:ext cx="73152" cy="86868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5" name="TextBox 9014"/>
          <p:cNvSpPr txBox="1"/>
          <p:nvPr/>
        </p:nvSpPr>
        <p:spPr>
          <a:xfrm>
            <a:off x="786384" y="3749039"/>
            <a:ext cx="10607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单实例架构难以同时满足高吞吐与高可用，分布式改造成为必然；但改造会带来新的一致性难题。</a:t>
            </a:r>
          </a:p>
        </p:txBody>
      </p:sp>
      <p:sp>
        <p:nvSpPr>
          <p:cNvPr id="9016" name="TextBox 901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 / 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427038" y="220663"/>
            <a:ext cx="474662" cy="560387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001" name="TextBox 9000"/>
          <p:cNvSpPr txBox="1"/>
          <p:nvPr/>
        </p:nvSpPr>
        <p:spPr>
          <a:xfrm>
            <a:off x="1014984" y="155448"/>
            <a:ext cx="104241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国内外研究现状</a:t>
            </a:r>
          </a:p>
        </p:txBody>
      </p:sp>
      <p:sp>
        <p:nvSpPr>
          <p:cNvPr id="9002" name="Rectangle 9001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3" name="TextBox 9002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国外从集中式走到共享状态，国内以 Gödel 分片式多实例为代表；落盘侧仍缺结构化方案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4871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051560"/>
                <a:gridCol w="4343400"/>
                <a:gridCol w="338328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系统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区域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架构特征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局限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Borg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集中式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单点决策路径上限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Omega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共享状态 + 乐观并发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冲突处理复杂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Mesos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两级资源调度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多框架共享开销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kube-scheduler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中心式插件框架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超大规模扩展受限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分片式分布式（字节跳动）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独立 Binder 存在瓶颈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插件增强（Gang/队列）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中心路径仍有瓶颈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Koordinator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插件增强（QoS/超卖）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单实例扩展受限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国外：Borg→Omega→Mesos→kube-scheduler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国内：Gödel（字节跳动）做分片，Volcano/Koordinator 做插件增强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缺口：绑定阶段串行化、漂移下的严格一致性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3 / 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427038" y="220663"/>
            <a:ext cx="474662" cy="560387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001" name="TextBox 9000"/>
          <p:cNvSpPr txBox="1"/>
          <p:nvPr/>
        </p:nvSpPr>
        <p:spPr>
          <a:xfrm>
            <a:off x="1014984" y="155448"/>
            <a:ext cx="104241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研究内容与创新点</a:t>
            </a:r>
          </a:p>
        </p:txBody>
      </p:sp>
      <p:sp>
        <p:nvSpPr>
          <p:cNvPr id="9002" name="Rectangle 9001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3" name="TextBox 9002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两个创新：把 Binder 放进 Scheduler 进程；用四层容错守住“至多绑定一次”</a:t>
            </a:r>
          </a:p>
        </p:txBody>
      </p:sp>
      <p:sp>
        <p:nvSpPr>
          <p:cNvPr id="9004" name="Rounded Rectangle 9003"/>
          <p:cNvSpPr/>
          <p:nvPr/>
        </p:nvSpPr>
        <p:spPr>
          <a:xfrm>
            <a:off x="566928" y="1874519"/>
            <a:ext cx="5404104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Oval 9004"/>
          <p:cNvSpPr/>
          <p:nvPr/>
        </p:nvSpPr>
        <p:spPr>
          <a:xfrm>
            <a:off x="713232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992" y="2011679"/>
            <a:ext cx="4764024" cy="19019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113E6A"/>
                </a:solidFill>
                <a:latin typeface="Arial"/>
                <a:ea typeface="微软雅黑"/>
              </a:rPr>
              <a:t>创新 1 · ENO 架构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00" b="0">
                <a:solidFill>
                  <a:srgbClr val="2E2C2C"/>
                </a:solidFill>
                <a:latin typeface="Arial"/>
                <a:ea typeface="微软雅黑"/>
              </a:rPr>
              <a:t>单 Dispatcher、多独立 Scheduler；Binder 与决策同域；CacheAdapter 零拷贝共享 SchedulerCache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6227064" y="1874519"/>
            <a:ext cx="5404104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Oval 9007"/>
          <p:cNvSpPr/>
          <p:nvPr/>
        </p:nvSpPr>
        <p:spPr>
          <a:xfrm>
            <a:off x="6373368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09" name="TextBox 9008"/>
          <p:cNvSpPr txBox="1"/>
          <p:nvPr/>
        </p:nvSpPr>
        <p:spPr>
          <a:xfrm>
            <a:off x="6739128" y="2011679"/>
            <a:ext cx="4764024" cy="19019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113E6A"/>
                </a:solidFill>
                <a:latin typeface="Arial"/>
                <a:ea typeface="微软雅黑"/>
              </a:rPr>
              <a:t>创新 2 · 四层容错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00" b="0">
                <a:solidFill>
                  <a:srgbClr val="2E2C2C"/>
                </a:solidFill>
                <a:latin typeface="Arial"/>
                <a:ea typeface="微软雅黑"/>
              </a:rPr>
              <a:t>L0 归属校验 · L1 同步退避 · L2 异步回收 · L3 全局回退，全部建立在 etcd 原子语义上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566928" y="4343400"/>
            <a:ext cx="11064240" cy="868680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Rectangle 9010"/>
          <p:cNvSpPr/>
          <p:nvPr/>
        </p:nvSpPr>
        <p:spPr>
          <a:xfrm>
            <a:off x="566928" y="4343400"/>
            <a:ext cx="73152" cy="86868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786384" y="4434840"/>
            <a:ext cx="10607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两条创新指向同一目标：不改 API 的前提下，让分布式调度既跑得快，又绑得对。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4 / 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427038" y="220663"/>
            <a:ext cx="474662" cy="560387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001" name="TextBox 9000"/>
          <p:cNvSpPr txBox="1"/>
          <p:nvPr/>
        </p:nvSpPr>
        <p:spPr>
          <a:xfrm>
            <a:off x="1014984" y="155448"/>
            <a:ext cx="104241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分布式改造真正的难点在“绑定阶段”</a:t>
            </a:r>
          </a:p>
        </p:txBody>
      </p:sp>
      <p:sp>
        <p:nvSpPr>
          <p:cNvPr id="9002" name="Rectangle 9001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3" name="TextBox 9002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Gödel 用三层解耦拿到并发，但 Binder 独立部署与分区漂移留下两个缺口</a:t>
            </a:r>
          </a:p>
        </p:txBody>
      </p:sp>
      <p:pic>
        <p:nvPicPr>
          <p:cNvPr id="9004" name="Picture 9003" descr="fig5-1a-shared-bin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7273" y="1783080"/>
            <a:ext cx="4930493" cy="4206240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Q1 独立 Binder 重新引入串行化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Q2 归属漂移缺乏完整一致性论证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本文定位：把绑定拉回进程内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5 / 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427038" y="220663"/>
            <a:ext cx="474662" cy="560387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001" name="TextBox 9000"/>
          <p:cNvSpPr txBox="1"/>
          <p:nvPr/>
        </p:nvSpPr>
        <p:spPr>
          <a:xfrm>
            <a:off x="1014984" y="155448"/>
            <a:ext cx="104241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三层职责</a:t>
            </a:r>
          </a:p>
        </p:txBody>
      </p:sp>
      <p:sp>
        <p:nvSpPr>
          <p:cNvPr id="9002" name="Rectangle 9001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3" name="TextBox 9002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分区之间无锁并发，状态推进全部由 Watch 事件驱动</a:t>
            </a:r>
          </a:p>
        </p:txBody>
      </p:sp>
      <p:pic>
        <p:nvPicPr>
          <p:cNvPr id="9004" name="Picture 9003" descr="fig3-1-system-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587294"/>
            <a:ext cx="5852160" cy="2597811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Dispatcher：分区分配与回退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Scheduler：Filter/Score/Reserve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Binder：Bind 原子写与失败处理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6 / 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427038" y="220663"/>
            <a:ext cx="474662" cy="560387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001" name="TextBox 9000"/>
          <p:cNvSpPr txBox="1"/>
          <p:nvPr/>
        </p:nvSpPr>
        <p:spPr>
          <a:xfrm>
            <a:off x="1014984" y="155448"/>
            <a:ext cx="104241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Dispatcher 内部流程</a:t>
            </a:r>
          </a:p>
        </p:txBody>
      </p:sp>
      <p:sp>
        <p:nvSpPr>
          <p:cNvPr id="9002" name="Rectangle 9001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3" name="TextBox 9002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先校验归属、再选分区、然后入队——它不选节点，只决定 Pod 去哪</a:t>
            </a:r>
          </a:p>
        </p:txBody>
      </p:sp>
      <p:pic>
        <p:nvPicPr>
          <p:cNvPr id="9004" name="Picture 9003" descr="fig3-3-dispatcher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666984"/>
            <a:ext cx="6720840" cy="4246406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416052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归属校验：把漂移的 Pod 拦住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分区选择：按实例负载均衡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入队：交给对应 Scheduler 实例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7 / 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427038" y="220663"/>
            <a:ext cx="474662" cy="560387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001" name="TextBox 9000"/>
          <p:cNvSpPr txBox="1"/>
          <p:nvPr/>
        </p:nvSpPr>
        <p:spPr>
          <a:xfrm>
            <a:off x="1014984" y="155448"/>
            <a:ext cx="104241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Scheduler 内部流程</a:t>
            </a:r>
          </a:p>
        </p:txBody>
      </p:sp>
      <p:sp>
        <p:nvSpPr>
          <p:cNvPr id="9002" name="Rectangle 9001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3" name="TextBox 9002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Filter → Score → Reserve → Permit，产出目标节点后交给 Binder 落盘</a:t>
            </a:r>
          </a:p>
        </p:txBody>
      </p:sp>
      <p:pic>
        <p:nvPicPr>
          <p:cNvPr id="9004" name="Picture 9003" descr="fig3-4-scheduler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99282" y="1664208"/>
            <a:ext cx="6506354" cy="4251960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416052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Filter：在分区内过滤候选节点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Score：打分选出最优节点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Reserve/Permit 后交 Binder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8 / 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427038" y="220663"/>
            <a:ext cx="474662" cy="560387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001" name="TextBox 9000"/>
          <p:cNvSpPr txBox="1"/>
          <p:nvPr/>
        </p:nvSpPr>
        <p:spPr>
          <a:xfrm>
            <a:off x="1014984" y="155448"/>
            <a:ext cx="104241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创新点 1</a:t>
            </a:r>
          </a:p>
        </p:txBody>
      </p:sp>
      <p:sp>
        <p:nvSpPr>
          <p:cNvPr id="9002" name="Rectangle 9001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3" name="TextBox 9002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去掉一次跨进程绑定链路，是吞吐提升的第一性来源</a:t>
            </a:r>
          </a:p>
        </p:txBody>
      </p:sp>
      <p:pic>
        <p:nvPicPr>
          <p:cNvPr id="9004" name="Picture 9003" descr="fig5-1a-shared-bin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8676" y="1828800"/>
            <a:ext cx="3751462" cy="3200400"/>
          </a:xfrm>
          <a:prstGeom prst="rect">
            <a:avLst/>
          </a:prstGeom>
        </p:spPr>
      </p:pic>
      <p:pic>
        <p:nvPicPr>
          <p:cNvPr id="9005" name="Picture 9004" descr="fig5-1b-eno-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9354" y="1828800"/>
            <a:ext cx="1580651" cy="3200400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绑定与决策同域，事件传递归零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序列化与网络往返被消除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保留 CLI 开关，可回退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9 / 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427038" y="220663"/>
            <a:ext cx="474662" cy="560387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001" name="TextBox 9000"/>
          <p:cNvSpPr txBox="1"/>
          <p:nvPr/>
        </p:nvSpPr>
        <p:spPr>
          <a:xfrm>
            <a:off x="1014984" y="155448"/>
            <a:ext cx="104241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CacheAdapter</a:t>
            </a:r>
          </a:p>
        </p:txBody>
      </p:sp>
      <p:sp>
        <p:nvSpPr>
          <p:cNvPr id="9002" name="Rectangle 9001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3" name="TextBox 9002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状态以对象引用共享，不再复制，也没有跨进程同步延迟</a:t>
            </a:r>
          </a:p>
        </p:txBody>
      </p:sp>
      <p:pic>
        <p:nvPicPr>
          <p:cNvPr id="9004" name="Picture 9003" descr="fig5-2-cache-zero-cop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4622" y="1783080"/>
            <a:ext cx="5115794" cy="4206240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对象引用而非序列化拷贝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进程内 Binder 与 Scheduler 同视图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为一致性校验提供同一份真相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10 / 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427038" y="220663"/>
            <a:ext cx="474662" cy="560387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001" name="TextBox 9000"/>
          <p:cNvSpPr txBox="1"/>
          <p:nvPr/>
        </p:nvSpPr>
        <p:spPr>
          <a:xfrm>
            <a:off x="1014984" y="155448"/>
            <a:ext cx="104241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创新点 2</a:t>
            </a:r>
          </a:p>
        </p:txBody>
      </p:sp>
      <p:sp>
        <p:nvSpPr>
          <p:cNvPr id="9002" name="Rectangle 9001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3" name="TextBox 9002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每一层对应一类威胁，并分别依赖一种 etcd 原子语义</a:t>
            </a:r>
          </a:p>
        </p:txBody>
      </p:sp>
      <p:sp>
        <p:nvSpPr>
          <p:cNvPr id="9004" name="Rectangle 9003"/>
          <p:cNvSpPr/>
          <p:nvPr/>
        </p:nvSpPr>
        <p:spPr>
          <a:xfrm>
            <a:off x="2212848" y="1920240"/>
            <a:ext cx="25603" cy="396849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Oval 9004"/>
          <p:cNvSpPr/>
          <p:nvPr/>
        </p:nvSpPr>
        <p:spPr>
          <a:xfrm>
            <a:off x="2139696" y="2194560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566928" y="2029968"/>
            <a:ext cx="1444752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50" b="1">
                <a:solidFill>
                  <a:srgbClr val="113E6A"/>
                </a:solidFill>
                <a:latin typeface="Arial"/>
                <a:ea typeface="微软雅黑"/>
              </a:rPr>
              <a:t>Layer 0</a:t>
            </a:r>
          </a:p>
          <a:p>
            <a:pPr algn="r">
              <a:spcBef>
                <a:spcPts val="100"/>
              </a:spcBef>
            </a:pPr>
            <a:r>
              <a:rPr sz="1050" b="0">
                <a:solidFill>
                  <a:srgbClr val="636363"/>
                </a:solidFill>
                <a:latin typeface="Arial"/>
                <a:ea typeface="微软雅黑"/>
              </a:rPr>
              <a:t>预防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2450592" y="1938528"/>
            <a:ext cx="8961120" cy="84124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TextBox 9007"/>
          <p:cNvSpPr txBox="1"/>
          <p:nvPr/>
        </p:nvSpPr>
        <p:spPr>
          <a:xfrm>
            <a:off x="2615184" y="2039112"/>
            <a:ext cx="86410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2E2C2C"/>
                </a:solidFill>
                <a:latin typeface="Arial"/>
                <a:ea typeface="微软雅黑"/>
              </a:rPr>
              <a:t>威胁：分区归属漂移</a:t>
            </a:r>
          </a:p>
          <a:p>
            <a:pPr algn="l">
              <a:spcBef>
                <a:spcPts val="200"/>
              </a:spcBef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etcd：resourceVersion 乐观并发</a:t>
            </a:r>
          </a:p>
        </p:txBody>
      </p:sp>
      <p:sp>
        <p:nvSpPr>
          <p:cNvPr id="9009" name="Oval 9008"/>
          <p:cNvSpPr/>
          <p:nvPr/>
        </p:nvSpPr>
        <p:spPr>
          <a:xfrm>
            <a:off x="2139696" y="3172968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TextBox 9009"/>
          <p:cNvSpPr txBox="1"/>
          <p:nvPr/>
        </p:nvSpPr>
        <p:spPr>
          <a:xfrm>
            <a:off x="566928" y="3008376"/>
            <a:ext cx="1444752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50" b="1">
                <a:solidFill>
                  <a:srgbClr val="113E6A"/>
                </a:solidFill>
                <a:latin typeface="Arial"/>
                <a:ea typeface="微软雅黑"/>
              </a:rPr>
              <a:t>Layer 1</a:t>
            </a:r>
          </a:p>
          <a:p>
            <a:pPr algn="r">
              <a:spcBef>
                <a:spcPts val="100"/>
              </a:spcBef>
            </a:pPr>
            <a:r>
              <a:rPr sz="1050" b="0">
                <a:solidFill>
                  <a:srgbClr val="636363"/>
                </a:solidFill>
                <a:latin typeface="Arial"/>
                <a:ea typeface="微软雅黑"/>
              </a:rPr>
              <a:t>即时恢复</a:t>
            </a:r>
          </a:p>
        </p:txBody>
      </p:sp>
      <p:sp>
        <p:nvSpPr>
          <p:cNvPr id="9011" name="Rounded Rectangle 9010"/>
          <p:cNvSpPr/>
          <p:nvPr/>
        </p:nvSpPr>
        <p:spPr>
          <a:xfrm>
            <a:off x="2450592" y="2916936"/>
            <a:ext cx="8961120" cy="84124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2615184" y="3017520"/>
            <a:ext cx="86410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2E2C2C"/>
                </a:solidFill>
                <a:latin typeface="Arial"/>
                <a:ea typeface="微软雅黑"/>
              </a:rPr>
              <a:t>威胁：apiserver 暂态错误</a:t>
            </a:r>
          </a:p>
          <a:p>
            <a:pPr algn="l">
              <a:spcBef>
                <a:spcPts val="200"/>
              </a:spcBef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etcd：Bind 原子写 / 409 冲突</a:t>
            </a:r>
          </a:p>
        </p:txBody>
      </p:sp>
      <p:sp>
        <p:nvSpPr>
          <p:cNvPr id="9013" name="Oval 9012"/>
          <p:cNvSpPr/>
          <p:nvPr/>
        </p:nvSpPr>
        <p:spPr>
          <a:xfrm>
            <a:off x="2139696" y="4151376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TextBox 9013"/>
          <p:cNvSpPr txBox="1"/>
          <p:nvPr/>
        </p:nvSpPr>
        <p:spPr>
          <a:xfrm>
            <a:off x="566928" y="3986783"/>
            <a:ext cx="1444752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50" b="1">
                <a:solidFill>
                  <a:srgbClr val="113E6A"/>
                </a:solidFill>
                <a:latin typeface="Arial"/>
                <a:ea typeface="微软雅黑"/>
              </a:rPr>
              <a:t>Layer 2</a:t>
            </a:r>
          </a:p>
          <a:p>
            <a:pPr algn="r">
              <a:spcBef>
                <a:spcPts val="100"/>
              </a:spcBef>
            </a:pPr>
            <a:r>
              <a:rPr sz="1050" b="0">
                <a:solidFill>
                  <a:srgbClr val="636363"/>
                </a:solidFill>
                <a:latin typeface="Arial"/>
                <a:ea typeface="微软雅黑"/>
              </a:rPr>
              <a:t>后台回收</a:t>
            </a:r>
          </a:p>
        </p:txBody>
      </p:sp>
      <p:sp>
        <p:nvSpPr>
          <p:cNvPr id="9015" name="Rounded Rectangle 9014"/>
          <p:cNvSpPr/>
          <p:nvPr/>
        </p:nvSpPr>
        <p:spPr>
          <a:xfrm>
            <a:off x="2450592" y="3895344"/>
            <a:ext cx="8961120" cy="84124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6" name="TextBox 9015"/>
          <p:cNvSpPr txBox="1"/>
          <p:nvPr/>
        </p:nvSpPr>
        <p:spPr>
          <a:xfrm>
            <a:off x="2615184" y="3995928"/>
            <a:ext cx="86410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2E2C2C"/>
                </a:solidFill>
                <a:latin typeface="Arial"/>
                <a:ea typeface="微软雅黑"/>
              </a:rPr>
              <a:t>威胁：孤儿 Assumed 状态</a:t>
            </a:r>
          </a:p>
          <a:p>
            <a:pPr algn="l">
              <a:spcBef>
                <a:spcPts val="200"/>
              </a:spcBef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etcd：Watch 一致性视图</a:t>
            </a:r>
          </a:p>
        </p:txBody>
      </p:sp>
      <p:sp>
        <p:nvSpPr>
          <p:cNvPr id="9017" name="Oval 9016"/>
          <p:cNvSpPr/>
          <p:nvPr/>
        </p:nvSpPr>
        <p:spPr>
          <a:xfrm>
            <a:off x="2139696" y="5129784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8" name="TextBox 9017"/>
          <p:cNvSpPr txBox="1"/>
          <p:nvPr/>
        </p:nvSpPr>
        <p:spPr>
          <a:xfrm>
            <a:off x="566928" y="4965192"/>
            <a:ext cx="1444752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50" b="1">
                <a:solidFill>
                  <a:srgbClr val="113E6A"/>
                </a:solidFill>
                <a:latin typeface="Arial"/>
                <a:ea typeface="微软雅黑"/>
              </a:rPr>
              <a:t>Layer 3</a:t>
            </a:r>
          </a:p>
          <a:p>
            <a:pPr algn="r">
              <a:spcBef>
                <a:spcPts val="100"/>
              </a:spcBef>
            </a:pPr>
            <a:r>
              <a:rPr sz="1050" b="0">
                <a:solidFill>
                  <a:srgbClr val="636363"/>
                </a:solidFill>
                <a:latin typeface="Arial"/>
                <a:ea typeface="微软雅黑"/>
              </a:rPr>
              <a:t>全局回退</a:t>
            </a:r>
          </a:p>
        </p:txBody>
      </p:sp>
      <p:sp>
        <p:nvSpPr>
          <p:cNvPr id="9019" name="Rounded Rectangle 9018"/>
          <p:cNvSpPr/>
          <p:nvPr/>
        </p:nvSpPr>
        <p:spPr>
          <a:xfrm>
            <a:off x="2450592" y="4873752"/>
            <a:ext cx="8961120" cy="84124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0" name="TextBox 9019"/>
          <p:cNvSpPr txBox="1"/>
          <p:nvPr/>
        </p:nvSpPr>
        <p:spPr>
          <a:xfrm>
            <a:off x="2615184" y="4974336"/>
            <a:ext cx="86410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2E2C2C"/>
                </a:solidFill>
                <a:latin typeface="Arial"/>
                <a:ea typeface="微软雅黑"/>
              </a:rPr>
              <a:t>威胁：实例失活、重试耗尽</a:t>
            </a:r>
          </a:p>
          <a:p>
            <a:pPr algn="l">
              <a:spcBef>
                <a:spcPts val="200"/>
              </a:spcBef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etcd：注解清理 + 全局重分发</a:t>
            </a:r>
          </a:p>
        </p:txBody>
      </p:sp>
      <p:sp>
        <p:nvSpPr>
          <p:cNvPr id="9021" name="TextBox 9020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11 / 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427038" y="220663"/>
            <a:ext cx="474662" cy="560387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001" name="TextBox 9000"/>
          <p:cNvSpPr txBox="1"/>
          <p:nvPr/>
        </p:nvSpPr>
        <p:spPr>
          <a:xfrm>
            <a:off x="1014984" y="155448"/>
            <a:ext cx="104241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正确性根基</a:t>
            </a:r>
          </a:p>
        </p:txBody>
      </p:sp>
      <p:sp>
        <p:nvSpPr>
          <p:cNvPr id="9002" name="Rectangle 9001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3" name="TextBox 9002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所有机制最终归约到“任一 Pod 至多绑定到一个节点”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874519"/>
            <a:ext cx="1088136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Bind 原子写是最后防线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resourceVersion 防并发覆盖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四层机制均不破坏 I</a:t>
            </a:r>
          </a:p>
        </p:txBody>
      </p:sp>
      <p:pic>
        <p:nvPicPr>
          <p:cNvPr id="9005" name="Picture 9004" descr="fig4-3-consistency-invaria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3582352"/>
            <a:ext cx="11064240" cy="2116455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12 / 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427038" y="220663"/>
            <a:ext cx="474662" cy="560387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001" name="TextBox 9000"/>
          <p:cNvSpPr txBox="1"/>
          <p:nvPr/>
        </p:nvSpPr>
        <p:spPr>
          <a:xfrm>
            <a:off x="1014984" y="155448"/>
            <a:ext cx="104241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实验设计</a:t>
            </a:r>
          </a:p>
        </p:txBody>
      </p:sp>
      <p:sp>
        <p:nvSpPr>
          <p:cNvPr id="9002" name="Rectangle 9001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3" name="TextBox 9002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16 个对比场景，每场景 3 次重复，共 144 次 run，n=3 取中位数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5237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维度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取值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规模 s1–s4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100 / 1000 / 5000 / 10000 节点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负载 w1–w7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w1 100 → w4 2000 pods/s（极限）；w5 突发、w6 Gang、w7 异构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实例 inst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inst1 = 1 个实例；inst3 = 3 个实例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对比组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a=ENO  b=Gödel  c=kube-scheduler  d=Volcano  e=Koordinator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公平性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每 Pod 2C/4G；客户端 QPS=Burst=10000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KWOK 仿真，kind 内 K8s v1.34.8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Prometheus 15 s 抓取 + recording rules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warmup/cooldown 各剔除 30 s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13 / 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427038" y="220663"/>
            <a:ext cx="474662" cy="560387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001" name="TextBox 9000"/>
          <p:cNvSpPr txBox="1"/>
          <p:nvPr/>
        </p:nvSpPr>
        <p:spPr>
          <a:xfrm>
            <a:off x="1014984" y="155448"/>
            <a:ext cx="104241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评估指标</a:t>
            </a:r>
          </a:p>
        </p:txBody>
      </p:sp>
      <p:sp>
        <p:nvSpPr>
          <p:cNvPr id="9002" name="Rectangle 9001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3" name="TextBox 9002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吞吐时序会“归零”，只有“总工作量 ÷ 总完成时间”跨场景可比</a:t>
            </a:r>
          </a:p>
        </p:txBody>
      </p:sp>
      <p:pic>
        <p:nvPicPr>
          <p:cNvPr id="9004" name="Picture 9003" descr="fig6-throughput-s2-w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8493" y="1755647"/>
            <a:ext cx="7357788" cy="3017520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4809744"/>
            <a:ext cx="73609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s2/w3 吞吐时序：爬升—平台—归零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8138160" y="1828800"/>
            <a:ext cx="3474720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2E2C2C"/>
                </a:solidFill>
                <a:latin typeface="Arial"/>
                <a:ea typeface="微软雅黑"/>
              </a:rPr>
              <a:t>▪  三段结构：爬升—平台—归零，均值被尾段零值稀释</a:t>
            </a:r>
          </a:p>
          <a:p>
            <a:pPr algn="l">
              <a:lnSpc>
                <a:spcPct val="115000"/>
              </a:lnSpc>
              <a:spcBef>
                <a:spcPts val="800"/>
              </a:spcBef>
            </a:pPr>
            <a:r>
              <a:rPr sz="1100" b="0">
                <a:solidFill>
                  <a:srgbClr val="2E2C2C"/>
                </a:solidFill>
                <a:latin typeface="Arial"/>
                <a:ea typeface="微软雅黑"/>
              </a:rPr>
              <a:t>▪  时序类：3 run 逐点中位数，再去首尾各 2 点（约 30 s）</a:t>
            </a:r>
          </a:p>
          <a:p>
            <a:pPr algn="l">
              <a:lnSpc>
                <a:spcPct val="115000"/>
              </a:lnSpc>
              <a:spcBef>
                <a:spcPts val="800"/>
              </a:spcBef>
            </a:pPr>
            <a:r>
              <a:rPr sz="1100" b="0">
                <a:solidFill>
                  <a:srgbClr val="2E2C2C"/>
                </a:solidFill>
                <a:latin typeface="Arial"/>
                <a:ea typeface="微软雅黑"/>
              </a:rPr>
              <a:t>▪  c/d/e 单实例过载存在幸存者偏差，只与 a/b 比吞吐、队列、成功率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566928" y="4956048"/>
            <a:ext cx="1744980" cy="841248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TextBox 9007"/>
          <p:cNvSpPr txBox="1"/>
          <p:nvPr/>
        </p:nvSpPr>
        <p:spPr>
          <a:xfrm>
            <a:off x="658368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113E6A"/>
                </a:solidFill>
                <a:latin typeface="Arial"/>
                <a:ea typeface="微软雅黑"/>
              </a:rPr>
              <a:t>有效吞吐 pods/s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636363"/>
                </a:solidFill>
                <a:latin typeface="Arial"/>
                <a:ea typeface="微软雅黑"/>
              </a:rPr>
              <a:t>名义工作量 ÷ 完成时间（主口径）</a:t>
            </a:r>
          </a:p>
        </p:txBody>
      </p:sp>
      <p:sp>
        <p:nvSpPr>
          <p:cNvPr id="9009" name="Rounded Rectangle 9008"/>
          <p:cNvSpPr/>
          <p:nvPr/>
        </p:nvSpPr>
        <p:spPr>
          <a:xfrm>
            <a:off x="2430780" y="4956048"/>
            <a:ext cx="1744980" cy="841248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TextBox 9009"/>
          <p:cNvSpPr txBox="1"/>
          <p:nvPr/>
        </p:nvSpPr>
        <p:spPr>
          <a:xfrm>
            <a:off x="2522220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113E6A"/>
                </a:solidFill>
                <a:latin typeface="Arial"/>
                <a:ea typeface="微软雅黑"/>
              </a:rPr>
              <a:t>峰值吞吐 pods/s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636363"/>
                </a:solidFill>
                <a:latin typeface="Arial"/>
                <a:ea typeface="微软雅黑"/>
              </a:rPr>
              <a:t>过程中的最高瞬时调度速率</a:t>
            </a:r>
          </a:p>
        </p:txBody>
      </p:sp>
      <p:sp>
        <p:nvSpPr>
          <p:cNvPr id="9011" name="Rounded Rectangle 9010"/>
          <p:cNvSpPr/>
          <p:nvPr/>
        </p:nvSpPr>
        <p:spPr>
          <a:xfrm>
            <a:off x="4294632" y="4956048"/>
            <a:ext cx="1744980" cy="841248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4386071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113E6A"/>
                </a:solidFill>
                <a:latin typeface="Arial"/>
                <a:ea typeface="微软雅黑"/>
              </a:rPr>
              <a:t>P90 / P99 延迟 s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636363"/>
                </a:solidFill>
                <a:latin typeface="Arial"/>
                <a:ea typeface="微软雅黑"/>
              </a:rPr>
              <a:t>入 activeQ 到 Bind 完成</a:t>
            </a:r>
          </a:p>
        </p:txBody>
      </p:sp>
      <p:sp>
        <p:nvSpPr>
          <p:cNvPr id="9013" name="Rounded Rectangle 9012"/>
          <p:cNvSpPr/>
          <p:nvPr/>
        </p:nvSpPr>
        <p:spPr>
          <a:xfrm>
            <a:off x="6158483" y="4956048"/>
            <a:ext cx="1744980" cy="841248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TextBox 9013"/>
          <p:cNvSpPr txBox="1"/>
          <p:nvPr/>
        </p:nvSpPr>
        <p:spPr>
          <a:xfrm>
            <a:off x="6249923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113E6A"/>
                </a:solidFill>
                <a:latin typeface="Arial"/>
                <a:ea typeface="微软雅黑"/>
              </a:rPr>
              <a:t>Pod E2E P99 s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636363"/>
                </a:solidFill>
                <a:latin typeface="Arial"/>
                <a:ea typeface="微软雅黑"/>
              </a:rPr>
              <a:t>Dispatcher 观察到绑定完成</a:t>
            </a:r>
          </a:p>
        </p:txBody>
      </p:sp>
      <p:sp>
        <p:nvSpPr>
          <p:cNvPr id="9015" name="Rounded Rectangle 9014"/>
          <p:cNvSpPr/>
          <p:nvPr/>
        </p:nvSpPr>
        <p:spPr>
          <a:xfrm>
            <a:off x="8022335" y="4956048"/>
            <a:ext cx="1744980" cy="841248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6" name="TextBox 9015"/>
          <p:cNvSpPr txBox="1"/>
          <p:nvPr/>
        </p:nvSpPr>
        <p:spPr>
          <a:xfrm>
            <a:off x="8113775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113E6A"/>
                </a:solidFill>
                <a:latin typeface="Arial"/>
                <a:ea typeface="微软雅黑"/>
              </a:rPr>
              <a:t>绑定成功率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636363"/>
                </a:solidFill>
                <a:latin typeface="Arial"/>
                <a:ea typeface="微软雅黑"/>
              </a:rPr>
              <a:t>Bind 成功 / Bind 尝试</a:t>
            </a:r>
          </a:p>
        </p:txBody>
      </p:sp>
      <p:sp>
        <p:nvSpPr>
          <p:cNvPr id="9017" name="Rounded Rectangle 9016"/>
          <p:cNvSpPr/>
          <p:nvPr/>
        </p:nvSpPr>
        <p:spPr>
          <a:xfrm>
            <a:off x="9886188" y="4956048"/>
            <a:ext cx="1744980" cy="841248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8" name="TextBox 9017"/>
          <p:cNvSpPr txBox="1"/>
          <p:nvPr/>
        </p:nvSpPr>
        <p:spPr>
          <a:xfrm>
            <a:off x="9977627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113E6A"/>
                </a:solidFill>
                <a:latin typeface="Arial"/>
                <a:ea typeface="微软雅黑"/>
              </a:rPr>
              <a:t>队列堆积峰值 pods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636363"/>
                </a:solidFill>
                <a:latin typeface="Arial"/>
                <a:ea typeface="微软雅黑"/>
              </a:rPr>
              <a:t>pending_pods 最大值</a:t>
            </a:r>
          </a:p>
        </p:txBody>
      </p:sp>
      <p:sp>
        <p:nvSpPr>
          <p:cNvPr id="9019" name="TextBox 9018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20" name="TextBox 9019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14 / 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427038" y="220663"/>
            <a:ext cx="474662" cy="560387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001" name="TextBox 9000"/>
          <p:cNvSpPr txBox="1"/>
          <p:nvPr/>
        </p:nvSpPr>
        <p:spPr>
          <a:xfrm>
            <a:off x="1014984" y="155448"/>
            <a:ext cx="104241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绑定正确性与不变量验证</a:t>
            </a:r>
          </a:p>
        </p:txBody>
      </p:sp>
      <p:sp>
        <p:nvSpPr>
          <p:cNvPr id="9002" name="Rectangle 9001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3" name="TextBox 9002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144 次 run 的 apiserver 断言全部通过：unbound = 0 且 dup = 0</a:t>
            </a:r>
          </a:p>
        </p:txBody>
      </p:sp>
      <p:sp>
        <p:nvSpPr>
          <p:cNvPr id="9004" name="Rounded Rectangle 9003"/>
          <p:cNvSpPr/>
          <p:nvPr/>
        </p:nvSpPr>
        <p:spPr>
          <a:xfrm>
            <a:off x="658368" y="1783080"/>
            <a:ext cx="341376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658368" y="1783080"/>
            <a:ext cx="3413760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658368" y="1911095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113E6A"/>
                </a:solidFill>
                <a:latin typeface="Arial"/>
                <a:ea typeface="微软雅黑"/>
              </a:rPr>
              <a:t>100%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6583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绑定成功率</a:t>
            </a:r>
          </a:p>
        </p:txBody>
      </p:sp>
      <p:sp>
        <p:nvSpPr>
          <p:cNvPr id="9008" name="Rounded Rectangle 9007"/>
          <p:cNvSpPr/>
          <p:nvPr/>
        </p:nvSpPr>
        <p:spPr>
          <a:xfrm>
            <a:off x="4392168" y="1783080"/>
            <a:ext cx="341376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Rectangle 9008"/>
          <p:cNvSpPr/>
          <p:nvPr/>
        </p:nvSpPr>
        <p:spPr>
          <a:xfrm>
            <a:off x="4392168" y="1783080"/>
            <a:ext cx="3413760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TextBox 9009"/>
          <p:cNvSpPr txBox="1"/>
          <p:nvPr/>
        </p:nvSpPr>
        <p:spPr>
          <a:xfrm>
            <a:off x="4392168" y="1911095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113E6A"/>
                </a:solidFill>
                <a:latin typeface="Arial"/>
                <a:ea typeface="微软雅黑"/>
              </a:rPr>
              <a:t>144</a:t>
            </a:r>
          </a:p>
        </p:txBody>
      </p:sp>
      <p:sp>
        <p:nvSpPr>
          <p:cNvPr id="9011" name="TextBox 9010"/>
          <p:cNvSpPr txBox="1"/>
          <p:nvPr/>
        </p:nvSpPr>
        <p:spPr>
          <a:xfrm>
            <a:off x="43921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次 run 全部通过</a:t>
            </a:r>
          </a:p>
        </p:txBody>
      </p:sp>
      <p:sp>
        <p:nvSpPr>
          <p:cNvPr id="9012" name="Rounded Rectangle 9011"/>
          <p:cNvSpPr/>
          <p:nvPr/>
        </p:nvSpPr>
        <p:spPr>
          <a:xfrm>
            <a:off x="8125968" y="1783080"/>
            <a:ext cx="341376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3" name="Rectangle 9012"/>
          <p:cNvSpPr/>
          <p:nvPr/>
        </p:nvSpPr>
        <p:spPr>
          <a:xfrm>
            <a:off x="8125968" y="1783080"/>
            <a:ext cx="3413760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TextBox 9013"/>
          <p:cNvSpPr txBox="1"/>
          <p:nvPr/>
        </p:nvSpPr>
        <p:spPr>
          <a:xfrm>
            <a:off x="8125968" y="1911095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113E6A"/>
                </a:solidFill>
                <a:latin typeface="Arial"/>
                <a:ea typeface="微软雅黑"/>
              </a:rPr>
              <a:t>0</a:t>
            </a:r>
          </a:p>
        </p:txBody>
      </p:sp>
      <p:sp>
        <p:nvSpPr>
          <p:cNvPr id="9015" name="TextBox 9014"/>
          <p:cNvSpPr txBox="1"/>
          <p:nvPr/>
        </p:nvSpPr>
        <p:spPr>
          <a:xfrm>
            <a:off x="81259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unbound / dup</a:t>
            </a:r>
          </a:p>
        </p:txBody>
      </p:sp>
      <p:sp>
        <p:nvSpPr>
          <p:cNvPr id="9016" name="TextBox 9015"/>
          <p:cNvSpPr txBox="1"/>
          <p:nvPr/>
        </p:nvSpPr>
        <p:spPr>
          <a:xfrm>
            <a:off x="566928" y="3520440"/>
            <a:ext cx="1078992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ENO 48 次 run：绑定成功率 100%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Layer 0 / Layer 3 故障注入各 6 项判据全过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断言在 apiserver 侧可复核</a:t>
            </a:r>
          </a:p>
        </p:txBody>
      </p:sp>
      <p:sp>
        <p:nvSpPr>
          <p:cNvPr id="9017" name="TextBox 901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15 / 26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427038" y="220663"/>
            <a:ext cx="474662" cy="560387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001" name="TextBox 9000"/>
          <p:cNvSpPr txBox="1"/>
          <p:nvPr/>
        </p:nvSpPr>
        <p:spPr>
          <a:xfrm>
            <a:off x="1014984" y="155448"/>
            <a:ext cx="104241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故障注入 Layer 0</a:t>
            </a:r>
          </a:p>
        </p:txBody>
      </p:sp>
      <p:sp>
        <p:nvSpPr>
          <p:cNvPr id="9002" name="Rectangle 9001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3" name="TextBox 9002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10% 节点注解漂移，300 次拦截全部转为合规重排</a:t>
            </a:r>
          </a:p>
        </p:txBody>
      </p:sp>
      <p:pic>
        <p:nvPicPr>
          <p:cNvPr id="9004" name="Picture 9003" descr="fig6-29a-layer0-times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拦截 300 次 / 回退 300 次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绑定成功率 1.00；断言 50000/50000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总耗时 683 s 对基线 680 s（+0.4%）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16 / 26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427038" y="220663"/>
            <a:ext cx="474662" cy="560387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001" name="TextBox 9000"/>
          <p:cNvSpPr txBox="1"/>
          <p:nvPr/>
        </p:nvSpPr>
        <p:spPr>
          <a:xfrm>
            <a:off x="1014984" y="155448"/>
            <a:ext cx="104241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故障注入 Layer 3</a:t>
            </a:r>
          </a:p>
        </p:txBody>
      </p:sp>
      <p:sp>
        <p:nvSpPr>
          <p:cNvPr id="9002" name="Rectangle 9001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3" name="TextBox 9002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杀掉 1/3 实例并停机 180 s，系统仍在 784 s 内完成全部绑定</a:t>
            </a:r>
          </a:p>
        </p:txBody>
      </p:sp>
      <p:pic>
        <p:nvPicPr>
          <p:cNvPr id="9004" name="Picture 9003" descr="fig6-29b-layer3-times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被杀实例绑定占比 68/8407 = 0.81%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存活实例接管 8407 pods；pending 353→2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总耗时 784 s，较基线 +15.3%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17 / 26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427038" y="220663"/>
            <a:ext cx="474662" cy="560387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001" name="TextBox 9000"/>
          <p:cNvSpPr txBox="1"/>
          <p:nvPr/>
        </p:nvSpPr>
        <p:spPr>
          <a:xfrm>
            <a:off x="1014984" y="155448"/>
            <a:ext cx="104241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五组基线</a:t>
            </a:r>
          </a:p>
        </p:txBody>
      </p:sp>
      <p:sp>
        <p:nvSpPr>
          <p:cNvPr id="9002" name="Rectangle 9001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3" name="TextBox 9002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ENO/Gödel 第一档，kube-scheduler 第二档，Volcano/Koordinator 低一个数量级</a:t>
            </a:r>
          </a:p>
        </p:txBody>
      </p:sp>
      <p:pic>
        <p:nvPicPr>
          <p:cNvPr id="9004" name="Picture 9003" descr="fig6-3-throughput-5gro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较 kube-scheduler +1.8%~+22.5%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较 Volcano 约 6×，较 Koordinator 12× 以上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s1/w1 低负载例外 -7.2%（未饱和）</a:t>
            </a:r>
          </a:p>
        </p:txBody>
      </p:sp>
      <p:graphicFrame>
        <p:nvGraphicFramePr>
          <p:cNvPr id="9006" name="Table 9005"/>
          <p:cNvGraphicFramePr>
            <a:graphicFrameLocks noGrp="1"/>
          </p:cNvGraphicFramePr>
          <p:nvPr/>
        </p:nvGraphicFramePr>
        <p:xfrm>
          <a:off x="566928" y="4160520"/>
          <a:ext cx="5029200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8200"/>
                <a:gridCol w="838200"/>
                <a:gridCol w="838200"/>
                <a:gridCol w="838200"/>
                <a:gridCol w="838200"/>
                <a:gridCol w="83820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k-sched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Koord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≈297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≈292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≈24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7" name="TextBox 9006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18 / 26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427038" y="220663"/>
            <a:ext cx="474662" cy="560387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001" name="TextBox 9000"/>
          <p:cNvSpPr txBox="1"/>
          <p:nvPr/>
        </p:nvSpPr>
        <p:spPr>
          <a:xfrm>
            <a:off x="1014984" y="155448"/>
            <a:ext cx="104241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ENO vs Gödel</a:t>
            </a:r>
          </a:p>
        </p:txBody>
      </p:sp>
      <p:sp>
        <p:nvSpPr>
          <p:cNvPr id="9002" name="Rectangle 9001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3" name="TextBox 9002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平均 +11.9%，高负载与多实例场景优势最大</a:t>
            </a:r>
          </a:p>
        </p:txBody>
      </p:sp>
      <p:pic>
        <p:nvPicPr>
          <p:cNvPr id="9004" name="Picture 9003" descr="fig6-2-effective-throughp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14 领先、2 持平（s1/w1、s4/w7）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提升 +2.0%~+22.9%，平均 +11.9%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亮点：s2/w3 +22.9%、s3/w3 inst3 +21.7%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19 / 26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427038" y="220663"/>
            <a:ext cx="474662" cy="560387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001" name="TextBox 9000"/>
          <p:cNvSpPr txBox="1"/>
          <p:nvPr/>
        </p:nvSpPr>
        <p:spPr>
          <a:xfrm>
            <a:off x="1014984" y="155448"/>
            <a:ext cx="104241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尾延迟</a:t>
            </a:r>
          </a:p>
        </p:txBody>
      </p:sp>
      <p:sp>
        <p:nvSpPr>
          <p:cNvPr id="9002" name="Rectangle 9001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3" name="TextBox 9002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s2/w3 从 23.48 s 降到 4.00 s，降幅 82.9%</a:t>
            </a:r>
          </a:p>
        </p:txBody>
      </p:sp>
      <p:pic>
        <p:nvPicPr>
          <p:cNvPr id="9004" name="Picture 9003" descr="fig6-4-latency-p99-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527662"/>
            <a:ext cx="5852160" cy="2717074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P99 改善 0.3%~82.9%（除 s2/w2）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s3/w3 inst1 32.57→16.22 s（-50.2%）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Pod E2E P99 改善 0.6%~75.3%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20 / 26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427038" y="220663"/>
            <a:ext cx="474662" cy="560387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001" name="TextBox 9000"/>
          <p:cNvSpPr txBox="1"/>
          <p:nvPr/>
        </p:nvSpPr>
        <p:spPr>
          <a:xfrm>
            <a:off x="1014984" y="155448"/>
            <a:ext cx="104241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实例 1→3</a:t>
            </a:r>
          </a:p>
        </p:txBody>
      </p:sp>
      <p:sp>
        <p:nvSpPr>
          <p:cNvPr id="9002" name="Rectangle 9001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3" name="TextBox 9002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ENO 有效吞吐 +17.5%，Gödel 仅 +1.4%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10512"/>
          <a:ext cx="56235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8760"/>
                <a:gridCol w="2103120"/>
                <a:gridCol w="2011680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指标（s3/w3）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inst1→inst3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inst1→inst3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有效吞吐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297.6 → 349.7（+17.5%）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283.3 → 287.4（+1.4%）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P99 延迟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16.22 → 0.13 s（-99.2%）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32.57 → 0.15 s（-99.5%）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14698 → 20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22652 → 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9005" name="Picture 9004" descr="fig6-16-throughput-s3-w3-inst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812181"/>
            <a:ext cx="5276088" cy="2163788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6355080" y="4014215"/>
            <a:ext cx="527608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s3/w3 inst3 吞吐时序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566928" y="452628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E2C2C"/>
                </a:solidFill>
                <a:latin typeface="Arial"/>
                <a:ea typeface="微软雅黑"/>
              </a:rPr>
              <a:t>▪  延迟都降约 99%，但吞吐转化率差 12 倍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00" b="0">
                <a:solidFill>
                  <a:srgbClr val="2E2C2C"/>
                </a:solidFill>
                <a:latin typeface="Arial"/>
                <a:ea typeface="微软雅黑"/>
              </a:rPr>
              <a:t>▪  Gödel 增量被独立 Binder 串行吸收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00" b="0">
                <a:solidFill>
                  <a:srgbClr val="2E2C2C"/>
                </a:solidFill>
                <a:latin typeface="Arial"/>
                <a:ea typeface="微软雅黑"/>
              </a:rPr>
              <a:t>▪  这是架构归因最强的一组证据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9" name="TextBox 900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21 / 26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427038" y="220663"/>
            <a:ext cx="474662" cy="560387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001" name="TextBox 9000"/>
          <p:cNvSpPr txBox="1"/>
          <p:nvPr/>
        </p:nvSpPr>
        <p:spPr>
          <a:xfrm>
            <a:off x="1014984" y="155448"/>
            <a:ext cx="104241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规模翻倍与复杂负载下仍保持领先</a:t>
            </a:r>
          </a:p>
        </p:txBody>
      </p:sp>
      <p:sp>
        <p:nvSpPr>
          <p:cNvPr id="9002" name="Rectangle 9001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3" name="TextBox 9002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s4 规模下吞吐仍 +5.6%、P99 低 33.4%；突发、极限、异构均不落后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场景（inst3）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vs Gödel 有效吞吐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P99 / E2E 变化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s3→s4（w3，实例不变）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349.7→296.7 vs 287.4→280.9（+5.6%）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P99 0.19 vs 0.28 s（低 33.4%）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w4 极限（s3 / s4）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+9.3% / +16.0%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P99 -49.7% / -14.8%；E2E -32.6%~-35.3%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w5 突发（s3 / s4）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+21.3% / +2.8%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 E2E -53.8%；s4 基本持平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w7 异构（s3 / s4）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+21.2% / 基本持平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 E2E -67.6%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s4 队列堆积峰值 9 vs 61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规模翻倍时两者都退化（ENO -15.2%）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s3/s4 固定 3 实例，口径需说明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22 / 26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427038" y="220663"/>
            <a:ext cx="474662" cy="560387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001" name="TextBox 9000"/>
          <p:cNvSpPr txBox="1"/>
          <p:nvPr/>
        </p:nvSpPr>
        <p:spPr>
          <a:xfrm>
            <a:off x="1014984" y="155448"/>
            <a:ext cx="104241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归因闭环</a:t>
            </a:r>
          </a:p>
        </p:txBody>
      </p:sp>
      <p:sp>
        <p:nvSpPr>
          <p:cNvPr id="9002" name="Rectangle 9001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3" name="TextBox 9002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去掉一次跨进程绑定链路，换来吞吐、尾延迟、队列深度的同步改善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机制差异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对应指标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实测证据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进程内绑定，无事件传递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Pod E2E P99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s3/w3 inst3 0.45 vs 0.93 s（低 51.9%）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CacheAdapter 零拷贝共享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状态复用 / 无同步延迟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inst3 队列峰值 20 vs 16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无独立 Binder 串行段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有效吞吐随实例扩展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+17.5% vs +1.4%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四层容错守住不变量 I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绑定成功率 / 断言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100%；144 次 run 全过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相关不等于归因：峰值吞吐并非全面领先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s3/w5、s4/w3 峰值吞吐低于 Gödel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收益部分来自启动更快（口径权衡）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23 / 26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427038" y="220663"/>
            <a:ext cx="474662" cy="560387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001" name="TextBox 9000"/>
          <p:cNvSpPr txBox="1"/>
          <p:nvPr/>
        </p:nvSpPr>
        <p:spPr>
          <a:xfrm>
            <a:off x="1014984" y="155448"/>
            <a:ext cx="104241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局限性与威胁效力</a:t>
            </a:r>
          </a:p>
        </p:txBody>
      </p:sp>
      <p:sp>
        <p:nvSpPr>
          <p:cNvPr id="9002" name="Rectangle 9001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3" name="TextBox 9002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结论在“跨调度器相对比较”上成立，绝对数值不外推到生产</a:t>
            </a:r>
          </a:p>
        </p:txBody>
      </p:sp>
      <p:sp>
        <p:nvSpPr>
          <p:cNvPr id="9004" name="Rounded Rectangle 9003"/>
          <p:cNvSpPr/>
          <p:nvPr/>
        </p:nvSpPr>
        <p:spPr>
          <a:xfrm>
            <a:off x="566928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Oval 9004"/>
          <p:cNvSpPr/>
          <p:nvPr/>
        </p:nvSpPr>
        <p:spPr>
          <a:xfrm>
            <a:off x="713232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992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113E6A"/>
                </a:solidFill>
                <a:latin typeface="Arial"/>
                <a:ea typeface="微软雅黑"/>
              </a:rPr>
              <a:t>KWOK 仿真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00" b="0">
                <a:solidFill>
                  <a:srgbClr val="2E2C2C"/>
                </a:solidFill>
                <a:latin typeface="Arial"/>
                <a:ea typeface="微软雅黑"/>
              </a:rPr>
              <a:t>无法反映真实资源竞争与 IO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40351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Oval 9007"/>
          <p:cNvSpPr/>
          <p:nvPr/>
        </p:nvSpPr>
        <p:spPr>
          <a:xfrm>
            <a:off x="4486656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09" name="TextBox 9008"/>
          <p:cNvSpPr txBox="1"/>
          <p:nvPr/>
        </p:nvSpPr>
        <p:spPr>
          <a:xfrm>
            <a:off x="4852416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113E6A"/>
                </a:solidFill>
                <a:latin typeface="Arial"/>
                <a:ea typeface="微软雅黑"/>
              </a:rPr>
              <a:t>Gang 延迟口径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00" b="0">
                <a:solidFill>
                  <a:srgbClr val="2E2C2C"/>
                </a:solidFill>
                <a:latin typeface="Arial"/>
                <a:ea typeface="微软雅黑"/>
              </a:rPr>
              <a:t>w6 尾延迟反向，未分离计时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113775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Oval 9010"/>
          <p:cNvSpPr/>
          <p:nvPr/>
        </p:nvSpPr>
        <p:spPr>
          <a:xfrm>
            <a:off x="8260079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2" name="TextBox 9011"/>
          <p:cNvSpPr txBox="1"/>
          <p:nvPr/>
        </p:nvSpPr>
        <p:spPr>
          <a:xfrm>
            <a:off x="8625839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113E6A"/>
                </a:solidFill>
                <a:latin typeface="Arial"/>
                <a:ea typeface="微软雅黑"/>
              </a:rPr>
              <a:t>固定实例数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00" b="0">
                <a:solidFill>
                  <a:srgbClr val="2E2C2C"/>
                </a:solidFill>
                <a:latin typeface="Arial"/>
                <a:ea typeface="微软雅黑"/>
              </a:rPr>
              <a:t>s3→s4 未同步扩容</a:t>
            </a:r>
          </a:p>
        </p:txBody>
      </p:sp>
      <p:sp>
        <p:nvSpPr>
          <p:cNvPr id="9013" name="Rounded Rectangle 9012"/>
          <p:cNvSpPr/>
          <p:nvPr/>
        </p:nvSpPr>
        <p:spPr>
          <a:xfrm>
            <a:off x="566928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Oval 9013"/>
          <p:cNvSpPr/>
          <p:nvPr/>
        </p:nvSpPr>
        <p:spPr>
          <a:xfrm>
            <a:off x="713232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  <a:ea typeface="微软雅黑"/>
              </a:rPr>
              <a:t>04</a:t>
            </a:r>
          </a:p>
        </p:txBody>
      </p:sp>
      <p:sp>
        <p:nvSpPr>
          <p:cNvPr id="9015" name="TextBox 9014"/>
          <p:cNvSpPr txBox="1"/>
          <p:nvPr/>
        </p:nvSpPr>
        <p:spPr>
          <a:xfrm>
            <a:off x="1078992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113E6A"/>
                </a:solidFill>
                <a:latin typeface="Arial"/>
                <a:ea typeface="微软雅黑"/>
              </a:rPr>
              <a:t>资源公平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00" b="0">
                <a:solidFill>
                  <a:srgbClr val="2E2C2C"/>
                </a:solidFill>
                <a:latin typeface="Arial"/>
                <a:ea typeface="微软雅黑"/>
              </a:rPr>
              <a:t>每 Deployment 同规格，对 ENO 略不利</a:t>
            </a:r>
          </a:p>
        </p:txBody>
      </p:sp>
      <p:sp>
        <p:nvSpPr>
          <p:cNvPr id="9016" name="Rounded Rectangle 9015"/>
          <p:cNvSpPr/>
          <p:nvPr/>
        </p:nvSpPr>
        <p:spPr>
          <a:xfrm>
            <a:off x="4340351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7" name="Oval 9016"/>
          <p:cNvSpPr/>
          <p:nvPr/>
        </p:nvSpPr>
        <p:spPr>
          <a:xfrm>
            <a:off x="4486656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  <a:ea typeface="微软雅黑"/>
              </a:rPr>
              <a:t>05</a:t>
            </a:r>
          </a:p>
        </p:txBody>
      </p:sp>
      <p:sp>
        <p:nvSpPr>
          <p:cNvPr id="9018" name="TextBox 9017"/>
          <p:cNvSpPr txBox="1"/>
          <p:nvPr/>
        </p:nvSpPr>
        <p:spPr>
          <a:xfrm>
            <a:off x="4852416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113E6A"/>
                </a:solidFill>
                <a:latin typeface="Arial"/>
                <a:ea typeface="微软雅黑"/>
              </a:rPr>
              <a:t>Volcano 指标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00" b="0">
                <a:solidFill>
                  <a:srgbClr val="2E2C2C"/>
                </a:solidFill>
                <a:latin typeface="Arial"/>
                <a:ea typeface="微软雅黑"/>
              </a:rPr>
              <a:t>测量对象与粒度不完全等价</a:t>
            </a:r>
          </a:p>
        </p:txBody>
      </p:sp>
      <p:sp>
        <p:nvSpPr>
          <p:cNvPr id="9019" name="Rounded Rectangle 9018"/>
          <p:cNvSpPr/>
          <p:nvPr/>
        </p:nvSpPr>
        <p:spPr>
          <a:xfrm>
            <a:off x="8113775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0" name="Oval 9019"/>
          <p:cNvSpPr/>
          <p:nvPr/>
        </p:nvSpPr>
        <p:spPr>
          <a:xfrm>
            <a:off x="8260079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  <a:ea typeface="微软雅黑"/>
              </a:rPr>
              <a:t>06</a:t>
            </a:r>
          </a:p>
        </p:txBody>
      </p:sp>
      <p:sp>
        <p:nvSpPr>
          <p:cNvPr id="9021" name="TextBox 9020"/>
          <p:cNvSpPr txBox="1"/>
          <p:nvPr/>
        </p:nvSpPr>
        <p:spPr>
          <a:xfrm>
            <a:off x="8625839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113E6A"/>
                </a:solidFill>
                <a:latin typeface="Arial"/>
                <a:ea typeface="微软雅黑"/>
              </a:rPr>
              <a:t>幸存者偏差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00" b="0">
                <a:solidFill>
                  <a:srgbClr val="2E2C2C"/>
                </a:solidFill>
                <a:latin typeface="Arial"/>
                <a:ea typeface="微软雅黑"/>
              </a:rPr>
              <a:t>c/d/e 的 P99 不做数值对齐</a:t>
            </a:r>
          </a:p>
        </p:txBody>
      </p:sp>
      <p:sp>
        <p:nvSpPr>
          <p:cNvPr id="9022" name="TextBox 9021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24 / 26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427038" y="220663"/>
            <a:ext cx="474662" cy="560387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001" name="TextBox 9000"/>
          <p:cNvSpPr txBox="1"/>
          <p:nvPr/>
        </p:nvSpPr>
        <p:spPr>
          <a:xfrm>
            <a:off x="1014984" y="155448"/>
            <a:ext cx="104241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结论</a:t>
            </a:r>
          </a:p>
        </p:txBody>
      </p:sp>
      <p:sp>
        <p:nvSpPr>
          <p:cNvPr id="9002" name="Rectangle 9001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3" name="TextBox 9002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架构创新与一致性创新都有可复现实验支撑，且实现了向后兼容的工程落地</a:t>
            </a:r>
          </a:p>
        </p:txBody>
      </p:sp>
      <p:sp>
        <p:nvSpPr>
          <p:cNvPr id="9004" name="Rounded Rectangle 9003"/>
          <p:cNvSpPr/>
          <p:nvPr/>
        </p:nvSpPr>
        <p:spPr>
          <a:xfrm>
            <a:off x="566928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Oval 9004"/>
          <p:cNvSpPr/>
          <p:nvPr/>
        </p:nvSpPr>
        <p:spPr>
          <a:xfrm>
            <a:off x="713232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992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113E6A"/>
                </a:solidFill>
                <a:latin typeface="Arial"/>
                <a:ea typeface="微软雅黑"/>
              </a:rPr>
              <a:t>创新 1 · ENO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00" b="0">
                <a:solidFill>
                  <a:srgbClr val="2E2C2C"/>
                </a:solidFill>
                <a:latin typeface="Arial"/>
                <a:ea typeface="微软雅黑"/>
              </a:rPr>
              <a:t>Binder 进进程内 + CacheAdapter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40351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Oval 9007"/>
          <p:cNvSpPr/>
          <p:nvPr/>
        </p:nvSpPr>
        <p:spPr>
          <a:xfrm>
            <a:off x="4486656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09" name="TextBox 9008"/>
          <p:cNvSpPr txBox="1"/>
          <p:nvPr/>
        </p:nvSpPr>
        <p:spPr>
          <a:xfrm>
            <a:off x="4852416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113E6A"/>
                </a:solidFill>
                <a:latin typeface="Arial"/>
                <a:ea typeface="微软雅黑"/>
              </a:rPr>
              <a:t>创新 2 · 四层容错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00" b="0">
                <a:solidFill>
                  <a:srgbClr val="2E2C2C"/>
                </a:solidFill>
                <a:latin typeface="Arial"/>
                <a:ea typeface="微软雅黑"/>
              </a:rPr>
              <a:t>不变量 I 的完整证明要点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113775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Oval 9010"/>
          <p:cNvSpPr/>
          <p:nvPr/>
        </p:nvSpPr>
        <p:spPr>
          <a:xfrm>
            <a:off x="8260079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2" name="TextBox 9011"/>
          <p:cNvSpPr txBox="1"/>
          <p:nvPr/>
        </p:nvSpPr>
        <p:spPr>
          <a:xfrm>
            <a:off x="8625839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113E6A"/>
                </a:solidFill>
                <a:latin typeface="Arial"/>
                <a:ea typeface="微软雅黑"/>
              </a:rPr>
              <a:t>证据 1 · 规模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00" b="0">
                <a:solidFill>
                  <a:srgbClr val="2E2C2C"/>
                </a:solidFill>
                <a:latin typeface="Arial"/>
                <a:ea typeface="微软雅黑"/>
              </a:rPr>
              <a:t>16 场景 / 144 run / 100% 成功率</a:t>
            </a:r>
          </a:p>
        </p:txBody>
      </p:sp>
      <p:sp>
        <p:nvSpPr>
          <p:cNvPr id="9013" name="Rounded Rectangle 9012"/>
          <p:cNvSpPr/>
          <p:nvPr/>
        </p:nvSpPr>
        <p:spPr>
          <a:xfrm>
            <a:off x="566928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Oval 9013"/>
          <p:cNvSpPr/>
          <p:nvPr/>
        </p:nvSpPr>
        <p:spPr>
          <a:xfrm>
            <a:off x="713232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  <a:ea typeface="微软雅黑"/>
              </a:rPr>
              <a:t>04</a:t>
            </a:r>
          </a:p>
        </p:txBody>
      </p:sp>
      <p:sp>
        <p:nvSpPr>
          <p:cNvPr id="9015" name="TextBox 9014"/>
          <p:cNvSpPr txBox="1"/>
          <p:nvPr/>
        </p:nvSpPr>
        <p:spPr>
          <a:xfrm>
            <a:off x="1078992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113E6A"/>
                </a:solidFill>
                <a:latin typeface="Arial"/>
                <a:ea typeface="微软雅黑"/>
              </a:rPr>
              <a:t>证据 2 · 性能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00" b="0">
                <a:solidFill>
                  <a:srgbClr val="2E2C2C"/>
                </a:solidFill>
                <a:latin typeface="Arial"/>
                <a:ea typeface="微软雅黑"/>
              </a:rPr>
              <a:t>平均 +11.9%；P99 最高 -82.9%</a:t>
            </a:r>
          </a:p>
        </p:txBody>
      </p:sp>
      <p:sp>
        <p:nvSpPr>
          <p:cNvPr id="9016" name="Rounded Rectangle 9015"/>
          <p:cNvSpPr/>
          <p:nvPr/>
        </p:nvSpPr>
        <p:spPr>
          <a:xfrm>
            <a:off x="4340351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7" name="Oval 9016"/>
          <p:cNvSpPr/>
          <p:nvPr/>
        </p:nvSpPr>
        <p:spPr>
          <a:xfrm>
            <a:off x="4486656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  <a:ea typeface="微软雅黑"/>
              </a:rPr>
              <a:t>05</a:t>
            </a:r>
          </a:p>
        </p:txBody>
      </p:sp>
      <p:sp>
        <p:nvSpPr>
          <p:cNvPr id="9018" name="TextBox 9017"/>
          <p:cNvSpPr txBox="1"/>
          <p:nvPr/>
        </p:nvSpPr>
        <p:spPr>
          <a:xfrm>
            <a:off x="4852416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113E6A"/>
                </a:solidFill>
                <a:latin typeface="Arial"/>
                <a:ea typeface="微软雅黑"/>
              </a:rPr>
              <a:t>证据 3 · 扩展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00" b="0">
                <a:solidFill>
                  <a:srgbClr val="2E2C2C"/>
                </a:solidFill>
                <a:latin typeface="Arial"/>
                <a:ea typeface="微软雅黑"/>
              </a:rPr>
              <a:t>实例 1→3：+17.5% 对 +1.4%</a:t>
            </a:r>
          </a:p>
        </p:txBody>
      </p:sp>
      <p:sp>
        <p:nvSpPr>
          <p:cNvPr id="9019" name="Rounded Rectangle 9018"/>
          <p:cNvSpPr/>
          <p:nvPr/>
        </p:nvSpPr>
        <p:spPr>
          <a:xfrm>
            <a:off x="8113775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0" name="Oval 9019"/>
          <p:cNvSpPr/>
          <p:nvPr/>
        </p:nvSpPr>
        <p:spPr>
          <a:xfrm>
            <a:off x="8260079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  <a:ea typeface="微软雅黑"/>
              </a:rPr>
              <a:t>06</a:t>
            </a:r>
          </a:p>
        </p:txBody>
      </p:sp>
      <p:sp>
        <p:nvSpPr>
          <p:cNvPr id="9021" name="TextBox 9020"/>
          <p:cNvSpPr txBox="1"/>
          <p:nvPr/>
        </p:nvSpPr>
        <p:spPr>
          <a:xfrm>
            <a:off x="8625839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113E6A"/>
                </a:solidFill>
                <a:latin typeface="Arial"/>
                <a:ea typeface="微软雅黑"/>
              </a:rPr>
              <a:t>价值 · 落地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00" b="0">
                <a:solidFill>
                  <a:srgbClr val="2E2C2C"/>
                </a:solidFill>
                <a:latin typeface="Arial"/>
                <a:ea typeface="微软雅黑"/>
              </a:rPr>
              <a:t>不改 API、保留开关、基准开源</a:t>
            </a:r>
          </a:p>
        </p:txBody>
      </p:sp>
      <p:sp>
        <p:nvSpPr>
          <p:cNvPr id="9022" name="TextBox 9021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25 / 26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197864" y="2212848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395728"/>
            <a:ext cx="1033272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>
                <a:solidFill>
                  <a:srgbClr val="113E6A"/>
                </a:solidFill>
                <a:latin typeface="Arial"/>
                <a:ea typeface="微软雅黑"/>
              </a:rPr>
              <a:t>谢谢各位老师，请批评指正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2900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636363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343400"/>
            <a:ext cx="10332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636363"/>
                </a:solidFill>
                <a:latin typeface="Arial"/>
                <a:ea typeface="微软雅黑"/>
              </a:rPr>
              <a:t>答辩人：[姓名]</a:t>
            </a:r>
          </a:p>
          <a:p>
            <a:pPr algn="ctr">
              <a:spcBef>
                <a:spcPts val="400"/>
              </a:spcBef>
            </a:pPr>
            <a:r>
              <a:rPr sz="1300" b="0">
                <a:solidFill>
                  <a:srgbClr val="636363"/>
                </a:solidFill>
                <a:latin typeface="Arial"/>
                <a:ea typeface="微软雅黑"/>
              </a:rPr>
              <a:t>联系方式：[邮箱]</a:t>
            </a:r>
          </a:p>
        </p:txBody>
      </p:sp>
      <p:sp>
        <p:nvSpPr>
          <p:cNvPr id="6" name="Rectangle 5"/>
          <p:cNvSpPr/>
          <p:nvPr/>
        </p:nvSpPr>
        <p:spPr>
          <a:xfrm>
            <a:off x="1197864" y="5074920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26 / 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427038" y="220663"/>
            <a:ext cx="474662" cy="560387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001" name="TextBox 9000"/>
          <p:cNvSpPr txBox="1"/>
          <p:nvPr/>
        </p:nvSpPr>
        <p:spPr>
          <a:xfrm>
            <a:off x="1014984" y="155448"/>
            <a:ext cx="104241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16 场景完整数据（摘要）</a:t>
            </a:r>
          </a:p>
        </p:txBody>
      </p:sp>
      <p:sp>
        <p:nvSpPr>
          <p:cNvPr id="9002" name="Rectangle 9001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3" name="TextBox 9002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有效吞吐 / P99 / Pod E2E P99 / 队列堆积峰值（n=3 中位数）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P99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P99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s2/w2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331.1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324.7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4.00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23.48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s3/w3 inst1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16.22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32.57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s3/w3 inst3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349.7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287.4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0.15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s4/w3 inst3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296.7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280.9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s4/w7 inst3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271.7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271.7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0.06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0.06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完整 16 行见论文表 6-6/6-7/6-8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数据目录：results/compare/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统计口径：n=3 中位数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B1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427038" y="220663"/>
            <a:ext cx="474662" cy="560387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001" name="TextBox 9000"/>
          <p:cNvSpPr txBox="1"/>
          <p:nvPr/>
        </p:nvSpPr>
        <p:spPr>
          <a:xfrm>
            <a:off x="1014984" y="155448"/>
            <a:ext cx="104241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6 个指标的精确口径与来源</a:t>
            </a:r>
          </a:p>
        </p:txBody>
      </p:sp>
      <p:sp>
        <p:nvSpPr>
          <p:cNvPr id="9002" name="Rectangle 9001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3" name="TextBox 9002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定义、聚合方式与对应的可复核字段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字段 / 定义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聚合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有效吞吐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名义工作量 ÷ metadata.duration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每 run 算再取中位数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峰值吞吐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scheduling_peak_throughput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 run 逐点中位数后取标量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P90/P99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activeQ 到 Bind 完成的分位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剔首尾各 2 点后取中位数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Pod E2E P99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pod_e2e_latency_p99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同上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绑定成功率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Bind 成功 / 尝试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比值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pending_pods 最大值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取最大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recording rules 归一化跨组指标名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提取脚本：collect/latency-compare.py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场景清单：results/compare/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B2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427038" y="220663"/>
            <a:ext cx="474662" cy="560387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001" name="TextBox 9000"/>
          <p:cNvSpPr txBox="1"/>
          <p:nvPr/>
        </p:nvSpPr>
        <p:spPr>
          <a:xfrm>
            <a:off x="1014984" y="155448"/>
            <a:ext cx="104241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为什么 c/d/e 的 P99 不能与 a/b 直接比</a:t>
            </a:r>
          </a:p>
        </p:txBody>
      </p:sp>
      <p:sp>
        <p:nvSpPr>
          <p:cNvPr id="9002" name="Rectangle 9001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3" name="TextBox 9002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单实例过载 → Pod 长期堵在 activeQ → 未进入延迟直方图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直方图只覆盖“已被 pop 处理”的子集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数值对该子集准确，但样本群体不同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故只比吞吐 / 队列 / 成功率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B3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427038" y="220663"/>
            <a:ext cx="474662" cy="560387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001" name="TextBox 9000"/>
          <p:cNvSpPr txBox="1"/>
          <p:nvPr/>
        </p:nvSpPr>
        <p:spPr>
          <a:xfrm>
            <a:off x="1014984" y="155448"/>
            <a:ext cx="104241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Gang（w6）尾延迟反向的机理与边界</a:t>
            </a:r>
          </a:p>
        </p:txBody>
      </p:sp>
      <p:sp>
        <p:nvSpPr>
          <p:cNvPr id="9002" name="Rectangle 9001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3" name="TextBox 9002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吞吐仍领先，但单 Pod 尾延迟高出 1.6~4.1 倍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1682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P99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P99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s3/w6 inst1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251.3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211.0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0.428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s3/w6 inst3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215.5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206.6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0.892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0.218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s4/w6 inst3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245.1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206.6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0.576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0.353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同组预留等待与决策共用进程与队列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未用独立计时实验分离两段耗时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已在论文 §6.8 列为局限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B4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427038" y="220663"/>
            <a:ext cx="474662" cy="560387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001" name="TextBox 9000"/>
          <p:cNvSpPr txBox="1"/>
          <p:nvPr/>
        </p:nvSpPr>
        <p:spPr>
          <a:xfrm>
            <a:off x="1014984" y="155448"/>
            <a:ext cx="104241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资源公平性与未量化的资源收益</a:t>
            </a:r>
          </a:p>
        </p:txBody>
      </p:sp>
      <p:sp>
        <p:nvSpPr>
          <p:cNvPr id="9002" name="Rectangle 9001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3" name="TextBox 9002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每 Deployment 同规格，对 ENO 略不利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Scheduler Pod 统一 2C/4G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ENO 少一个 Binder Deployment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集群总资源收益未量化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B5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427038" y="220663"/>
            <a:ext cx="474662" cy="560387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001" name="TextBox 9000"/>
          <p:cNvSpPr txBox="1"/>
          <p:nvPr/>
        </p:nvSpPr>
        <p:spPr>
          <a:xfrm>
            <a:off x="1014984" y="155448"/>
            <a:ext cx="104241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一键复现</a:t>
            </a:r>
          </a:p>
        </p:txBody>
      </p:sp>
      <p:sp>
        <p:nvSpPr>
          <p:cNvPr id="9002" name="Rectangle 9001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3" name="TextBox 9002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从零到结果的全部入口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run-experiment.sh：12 步实验流程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plot-results.py / collect/：聚合与出图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results/compare/：16 场景产物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B6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427038" y="220663"/>
            <a:ext cx="474662" cy="560387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001" name="TextBox 9000"/>
          <p:cNvSpPr txBox="1"/>
          <p:nvPr/>
        </p:nvSpPr>
        <p:spPr>
          <a:xfrm>
            <a:off x="1014984" y="155448"/>
            <a:ext cx="104241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主场景 s3/w3 的时序形态（备用）</a:t>
            </a:r>
          </a:p>
        </p:txBody>
      </p:sp>
      <p:sp>
        <p:nvSpPr>
          <p:cNvPr id="9002" name="Rectangle 9001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3" name="TextBox 9002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ENO 更早进入平台、平台更高、结束更早</a:t>
            </a:r>
          </a:p>
        </p:txBody>
      </p:sp>
      <p:pic>
        <p:nvPicPr>
          <p:cNvPr id="9004" name="Picture 9003" descr="fig6-throughput-s3-w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322730"/>
            <a:ext cx="5394960" cy="2212539"/>
          </a:xfrm>
          <a:prstGeom prst="rect">
            <a:avLst/>
          </a:prstGeom>
        </p:spPr>
      </p:pic>
      <p:pic>
        <p:nvPicPr>
          <p:cNvPr id="9005" name="Picture 9004" descr="fig6-6-latency-p99-s3-w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2323351"/>
            <a:ext cx="5394960" cy="2211297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吞吐平台更高且更早稳定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P99 峰值更低、回落更快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整体完成时间更短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">
  <a:themeElements>
    <a:clrScheme name="">
      <a:dk1>
        <a:srgbClr val="004C54"/>
      </a:dk1>
      <a:lt1>
        <a:srgbClr val="009EB0"/>
      </a:lt1>
      <a:dk2>
        <a:srgbClr val="DDDDDD"/>
      </a:dk2>
      <a:lt2>
        <a:srgbClr val="808080"/>
      </a:lt2>
      <a:accent1>
        <a:srgbClr val="292929"/>
      </a:accent1>
      <a:accent2>
        <a:srgbClr val="FFFFFF"/>
      </a:accent2>
      <a:accent3>
        <a:srgbClr val="AACCD4"/>
      </a:accent3>
      <a:accent4>
        <a:srgbClr val="004046"/>
      </a:accent4>
      <a:accent5>
        <a:srgbClr val="ACACAC"/>
      </a:accent5>
      <a:accent6>
        <a:srgbClr val="E7E7E7"/>
      </a:accent6>
      <a:hlink>
        <a:srgbClr val="B3B3B3"/>
      </a:hlink>
      <a:folHlink>
        <a:srgbClr val="404040"/>
      </a:folHlink>
    </a:clrScheme>
    <a:fontScheme name="2_默认设计模板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lnDef>
  </a:objectDefaults>
  <a:extraClrSchemeLst>
    <a:extraClrScheme>
      <a:clrScheme name="2_默认设计模板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FDEF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E4ECF8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7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9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3">
        <a:dk1>
          <a:srgbClr val="000000"/>
        </a:dk1>
        <a:lt1>
          <a:srgbClr val="FFFFD9"/>
        </a:lt1>
        <a:dk2>
          <a:srgbClr val="2B2E30"/>
        </a:dk2>
        <a:lt2>
          <a:srgbClr val="777777"/>
        </a:lt2>
        <a:accent1>
          <a:srgbClr val="7FBA00"/>
        </a:accent1>
        <a:accent2>
          <a:srgbClr val="FCDB00"/>
        </a:accent2>
        <a:accent3>
          <a:srgbClr val="FFFFE9"/>
        </a:accent3>
        <a:accent4>
          <a:srgbClr val="000000"/>
        </a:accent4>
        <a:accent5>
          <a:srgbClr val="C0D9AA"/>
        </a:accent5>
        <a:accent6>
          <a:srgbClr val="E4C600"/>
        </a:accent6>
        <a:hlink>
          <a:srgbClr val="21A3D0"/>
        </a:hlink>
        <a:folHlink>
          <a:srgbClr val="DA251D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2">
  <a:themeElements>
    <a:clrScheme name="">
      <a:dk1>
        <a:srgbClr val="004C54"/>
      </a:dk1>
      <a:lt1>
        <a:srgbClr val="009EB0"/>
      </a:lt1>
      <a:dk2>
        <a:srgbClr val="DDDDDD"/>
      </a:dk2>
      <a:lt2>
        <a:srgbClr val="808080"/>
      </a:lt2>
      <a:accent1>
        <a:srgbClr val="292929"/>
      </a:accent1>
      <a:accent2>
        <a:srgbClr val="FFFFFF"/>
      </a:accent2>
      <a:accent3>
        <a:srgbClr val="AACCD4"/>
      </a:accent3>
      <a:accent4>
        <a:srgbClr val="004046"/>
      </a:accent4>
      <a:accent5>
        <a:srgbClr val="ACACAC"/>
      </a:accent5>
      <a:accent6>
        <a:srgbClr val="E7E7E7"/>
      </a:accent6>
      <a:hlink>
        <a:srgbClr val="B3B3B3"/>
      </a:hlink>
      <a:folHlink>
        <a:srgbClr val="404040"/>
      </a:folHlink>
    </a:clrScheme>
    <a:fontScheme name="3_默认设计模板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lnDef>
  </a:objectDefaults>
  <a:extraClrSchemeLst>
    <a:extraClrScheme>
      <a:clrScheme name="3_默认设计模板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FDEF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E4ECF8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7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9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3">
        <a:dk1>
          <a:srgbClr val="000000"/>
        </a:dk1>
        <a:lt1>
          <a:srgbClr val="FFFFD9"/>
        </a:lt1>
        <a:dk2>
          <a:srgbClr val="2B2E30"/>
        </a:dk2>
        <a:lt2>
          <a:srgbClr val="777777"/>
        </a:lt2>
        <a:accent1>
          <a:srgbClr val="7FBA00"/>
        </a:accent1>
        <a:accent2>
          <a:srgbClr val="FCDB00"/>
        </a:accent2>
        <a:accent3>
          <a:srgbClr val="FFFFE9"/>
        </a:accent3>
        <a:accent4>
          <a:srgbClr val="000000"/>
        </a:accent4>
        <a:accent5>
          <a:srgbClr val="C0D9AA"/>
        </a:accent5>
        <a:accent6>
          <a:srgbClr val="E4C600"/>
        </a:accent6>
        <a:hlink>
          <a:srgbClr val="21A3D0"/>
        </a:hlink>
        <a:folHlink>
          <a:srgbClr val="DA251D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</TotalTime>
  <Words>2227</Words>
  <Application>Microsoft Office PowerPoint</Application>
  <PresentationFormat>自定义</PresentationFormat>
  <Paragraphs>279</Paragraphs>
  <Slides>29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29</vt:i4>
      </vt:variant>
    </vt:vector>
  </HeadingPairs>
  <TitlesOfParts>
    <vt:vector size="34" baseType="lpstr">
      <vt:lpstr>微软雅黑</vt:lpstr>
      <vt:lpstr>Arial</vt:lpstr>
      <vt:lpstr>Calibri</vt:lpstr>
      <vt:lpstr>1</vt:lpstr>
      <vt:lpstr>2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1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</dc:title>
  <dc:subject>1</dc:subject>
  <dc:creator>zhite</dc:creator>
  <dc:description>1</dc:description>
  <cp:lastModifiedBy> </cp:lastModifiedBy>
  <cp:revision>8</cp:revision>
  <dcterms:created xsi:type="dcterms:W3CDTF">2013-01-25T01:44:00Z</dcterms:created>
  <dcterms:modified xsi:type="dcterms:W3CDTF">2019-07-19T02:21:16Z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2052-10.1.0.6490</vt:lpwstr>
  </property>
</Properties>
</file>