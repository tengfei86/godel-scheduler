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各位老师上午好。我的论文题目是《基于 etcd 的分布式 Kubernetes 调度器研究与实现》。这项工作针对分布式调度器把绑定拆出去之后吞吐上不去、一致性也守不住的问题。一句话概括：把 Binder 合并回 Scheduler，用四层机制守住“至多绑定一次”。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先说背景。Kubernetes 已成为云原生的事实标准，调度器在 Pod 生命周期的关键路径上，吞吐和延迟直接决定资源利用率与业务响应速度。千节点规模单实例还能撑住，到万节点量级就暴露三个瓶颈：activeQ 串行、Filter/Score 随规模线性、Leader 单点。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第二章分国外与国内两条线。国外从集中式走到共享状态：Borg、Omega、Mesos，再到 kube-scheduler 的插件框架。国内代表是 Gödel，字节跳动开源，用节点分区做分片式多实例；Volcano 与 Koordinator 走插件增强。共同缺口在落盘侧。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这一页压成两句。架构上，单 Dispatcher、多独立 Scheduler，Binder 合并进 Scheduler 进程，CacheAdapter 零拷贝共享缓存。一致性上，四层容错覆盖 Bind 前中后，都建立在 etcd 原子语义上。两条创新指向同一个目标。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这张图是总体架构。上层 Dispatcher 单实例，维护节点分区表，把 Pod 按分区分发给对应 Scheduler，绑定出问题时清理注解、触发重分发。中间多个 Scheduler 只调度本分区节点。下层 Binder 与 Scheduler 同进程，负责真正写进 apiserver。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Dispatcher 内部三步。第一步排序入队：nodeName 为空、还没有 scheduler-name 注解的新 Pod，按 FIFO 进有序队列。第二步分发决策：PodGroup 成员复用已分配实例，否则按负载均衡挑最空闲的。第三步写入并跟踪：PatchPod 写 scheduler-name，失败进不可调度队列。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Scheduler 内部也是三步。入队前 pre-queue 先校验 PodGroup 成员与亲和依赖，不通过退回 Dispatcher。进 activeQ 后跑 Filter、Score、Reserve，Reserve 阶段写 Assumed 状态。最后调 Binder 执行 Bind；失败进 backoffQ 退避，多次失败退回 Dispatcher。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左边是原形态，Binder 独立部署，决策完要把任务发过去；右边是本文形态，Binder 就在 Scheduler 进程里。这一刀去掉三段开销：事件传递、跨进程调用、序列化。我把它称为第一性来源。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难点在缓存。以前 Binder 在另一个进程，缓存要么复制要么重建。CacheAdapter 让进程内 Binder 直接拿到同一份 SchedulerCache 的对象引用，所以叫零拷贝。两边看到同一份状态，Layer 0 的校验才有同一个真相可依。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四层是一条时间轴。Bind 前 Layer 0 校验归属注解，非本分区直接拒绝并回退。Bind 中 Layer 1 只处理 409、429、ServerTimeout 三类暂态错误：线性退避 100、200、300 毫秒，最多三次，其它错误立即上抛。失败后 Layer 2 异步清理残留注解，按失败计数决定本地重试还是上升。重试耗尽 Layer 3 用一次原子 patch 交回 Dispatcher 重分发。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所有机制最后都归约到这一条不变量 I：任一 Pod 至多绑定到一个节点。证明拆四点。P1 是 Bind 唯一性，来自 Kubernetes 自身：nodeName 为空才允许原子写入，重复写返回 409。P2 是 Assumed 清理，Reject 阶段 ForgetPod 清内存态，Layer 2 清 etcd 注解。P3 是清理到重分发的时序，一次 PatchPod 原子提交。P4 是 Layer 0 前置拦截，缓存滞后由 P1 兜底。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先讲编码：s 是规模档位，w 是负载强度，inst 是实例数，后面场景名都由这三段拼成。再说公平性：KWOK 仿真、kind 集群内运行；五个调度器 Pod 规格相同，各自的 client-go QPS 与 Burst 都放到 10000，避免把客户端限流误读成调度能力差异；每场景三次取中位数，共 144 次 run。主评估取 s2/w2、s2/w3、s3/w2、s3/w3 四个场景，其余作为扩展与复杂负载场景。观测栈是 Prometheus 每 15 秒抓取，recording rules 统一各组指标名。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是方法学核心。吞吐时序是爬升、平台、归零三段，直接取平均会被尾段零值稀释，稀释程度还取决于跑多久，跨调度器就不可比，所以主口径是总工作量除以总完成时间。时序处理三步：每个场景跑三次，按相对时间对齐后逐时间点取中位数；剔掉首尾各两个采样点，也就是约 30 秒的预热与冷却；剩下的序列上取分位数，P90、P99 用线性插值算。队列堆积是个例外，取过程最大值；绑定成功率按三次比值取中位数。c、d、e 是单实例，过载时 Pod 没进直方图，存在幸存者偏差，只做定性说明。所以跨调度器我只用吞吐、队列堆积与绑定成功率做整体比较，延迟只在 ENO 与 Gödel 之间比。这三条口径是后面所有数字可比的前提；口径不同，数字就不能直接并列。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在给性能数字之前，先说正确性。144 次 run，每次跑完都在 apiserver 侧断言：未绑定为零、重复绑定为零，全部通过；ENO 那 48 次 run 成功率都是 100%。两场故障注入各 6 项判据全过。所谓正确，不是日志里没报错，而是外部可观测的事实对得上。断言是在 apiserver 侧做的，不是调度器自报。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五组横向对比，结论是三档。第一档是 ENO 与 Gödel，单位都是几百 pods/s。第二档是 kube-scheduler。第三档是 Volcano 与 Koordinator，只有约 48 和约 24 pods/s，而且几乎不随规模变化——这是它们批处理与 QoS 感知调度的固有开销。主评估四场景里，ENO 比 kube-scheduler 高 1.8% 到 22.5%，比 Volcano 约 6 倍、比 Koordinator 12 倍以上。唯一的例外是 s1/w1 的低负载，比 kube-scheduler 低 7.2%，因为那个场景没饱和，完成时间由注入速率决定。柱状图按场景排序，第三档几乎是一条水平线，说明它们的瓶颈不在调度吞吐这一维。从 s1 到 s3，第一档的曲线始终压在最上面，第三档几乎不随规模变化。这个排序在 16 个场景上是一致的。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和 Gödel 逐场景对比：16 个场景里 14 个领先，2 个持平，没有落后的，提升 2.0% 到 22.9%，平均 11.9%。优势最大的是高负载与多实例：s2/w3 高 22.9%，s3/w3 三实例高 21.7%。两个持平场景都没饱和，完成时间由注入速率决定。两个持平场景说明，未饱和时调度器再快也压不出更多吞吐。平均 11.9% 是 14 个领先场景提升幅度的均值。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两件事。第一，规模从 5000 到 10000、实例数不变，两边都退化：ENO -15.2%，Gödel -2.3%；但 ENO 仍领先，吞吐 296.7 对 280.9 高 5.6%，P99 0.19 对 0.28 秒低 33.4%，队列峰值 9 对 61。第二，复杂负载：极限 +9.3% 与 +16.0%，突发 +21.3% 与 +2.8%，异构 s3 高 21.2%、s4 持平。s4 的退化与固定三实例有关，这写在局限里。规模翻倍而实例不扩，本身就是一个更苛刻的设定，不能当作扩展上限。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第一场注入：s2/w2、三实例，第 30 秒把 10% 的节点、约 100 个，归属注解从 scheduler-0 改为 scheduler-1。NodeValidator 拦截 300 次，Dispatcher 回退 300 次，两条曲线重叠。拦截不等于丢弃：Pod 进回退队列被重分发，成功率仍是 1.00，总耗时 683 秒、只比基线多 3 秒。这组数字说明 Layer 0 只是把错误前置，不是把工作丢掉，代价几乎为零。拦截 300 次、回退 300 次，两边对得上，说明没有 Pod 被丢掉。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第二场注入：第 10 秒杀掉 scheduler-0，停机 180 秒，实测中断 189 秒。看 kill 之后 90 秒的窗口：被杀实例只剩 68 次绑定，占该窗口 8407 次的 0.81%——它的份额被瞬间清零，而不是有 0.81% 的 Pod 丢了。同一窗口两个存活实例照常完成绑定，pending 峰值 353，之后 60 秒回落到 2；累计绑定 49607/50000，断言仍全过。代价是 784 秒、比基线多 104 秒。注意它比 180 秒停机短：另外三分之二的实例一直在工作，重排被并行吸收了。这是工作量重排的代价，不是数据损坏。对比基线是同一场景下的无故障运行，680 秒。队列在 353 之后回落到 2，说明积压是瞬时的。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这一页的局限按论文第 7 章讲三条。第一，Gang 场景的尾延迟反向：w6 下 ENO 单 Pod P99 高于 Gödel，我们的解释是同组预留等待、绑定调用与后续决策共用同一个进程和队列，但还没有用独立计时实验把这两段耗时分离开，所以如实列为未证实的归因。第二，KWOK 仿真：去掉了 kubelet、运行时、真实网络与磁盘 IO，绝对数值不能外推到生产，只能用于跨调度器的相对比较。第三，资源开销：公平策略是每个 Deployment 同规格，所以没有量化 ENO 移除整个 Binder Deployment 在集群总资源上的收益。对应的三个延伸方向是生产灰度、多 Dispatcher 分区协同、以及在 ENO 上叠加具体调度策略。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最后收束。两个创新：ENO 把 Binder 放进进程内并用 CacheAdapter 共享缓存；四层容错给出不变量 I 的证明要点。三组证据：16 场景 144 次 run 全成功、平均 +11.9%、P99 最高 -82.9%、实例扩展 +17.5% 对 +1.4%。价值：不改 API、保留开关、基准开源。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汇报到这里。一句话总结：把 Binder 合并进 Scheduler 进程，用 etcd 原子语义上的四层容错守住“至多绑定一次”，在 16 个场景、144 次 run 上做到更高吞吐、更低尾延迟与 100% 绑定成功率。请各位老师批评指正。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备用页：抽查任意场景的原始数值。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备用页：如果评委追问某个数字怎么算出来的，用这页回答。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备用页：幸存者偏差的解释。过载时 Pod 根本没被处理，所以延迟看起来“很好”。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备用页：w6 反向结果的完整数据与解释。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备用页：公平性与资源开销的口径说明。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备用页：评委问可复现性时展示。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备用页：这一页是给评委看“形态”的。左边吞吐，右边 P99，共享同一条时间轴。ENO 的平台更高、更早稳定；右边的 P99 峰值更低、回落更快。这两张图放在一起的意义是：我们的优势不是某个瞬时点上的抖动，而是整段完成时间都更短——这也正好解释了为什么有效吞吐这个口径对我们有利，因为它衡量的是固定工作量做多久做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g3-1-system-arch.png"/>
          <p:cNvPicPr>
            <a:picLocks noChangeAspect="1"/>
          </p:cNvPicPr>
          <p:nvPr/>
        </p:nvPicPr>
        <p:blipFill>
          <a:blip r:embed="rId2">
            <a:alphaModFix amt="18000"/>
          </a:blip>
          <a:stretch>
            <a:fillRect/>
          </a:stretch>
        </p:blipFill>
        <p:spPr>
          <a:xfrm>
            <a:off x="5760719" y="2069208"/>
            <a:ext cx="6126480" cy="271958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417320"/>
            <a:ext cx="493776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B2A4A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>
                <a:solidFill>
                  <a:srgbClr val="1F5C99"/>
                </a:solidFill>
                <a:latin typeface="Arial"/>
                <a:ea typeface="微软雅黑"/>
              </a:rPr>
              <a:t>硕士学位论文答辩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49377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指导教师：[导师]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学院：[学院]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566474"/>
                </a:solidFill>
                <a:latin typeface="Arial"/>
                <a:ea typeface="微软雅黑"/>
              </a:rPr>
              <a:t>日期：[日期]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 / 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生产集群进入万节点量级，单实例架构在吞吐与高可用上同时受制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088136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333333"/>
                </a:solidFill>
                <a:latin typeface="Arial"/>
                <a:ea typeface="微软雅黑"/>
              </a:rPr>
              <a:t>Kubernetes 已成为云原生的事实标准，调度器处在 Pod 生命周期的关键路径上：它的吞吐与延迟直接决定集群资源利用率与业务响应速度。千节点规模下单实例尚可支撑，集群进入万节点量级后，三个瓶颈同时显现。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吞吐存在上限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activeQ 串行处理 Pod，大规模弹性伸缩与批任务启动被拖慢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0351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0351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4943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尾延迟持续抬升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Filter/Score 遍历节点开销随规模线性上升，5000 节点下 P99 明显恶化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13775" y="2880360"/>
            <a:ext cx="3517391" cy="21031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13775" y="2880360"/>
            <a:ext cx="50292" cy="21031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8367" y="3008376"/>
            <a:ext cx="3243072" cy="1920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单点故障风险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Leader 崩溃后需等待 Standby 接管，这段窗口内集群完全无法调度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 / 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国内外研究现状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国外从集中式走到共享状态，国内以 Gödel 分片式多实例为代表；落盘侧仍缺结构化方案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4871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1051560"/>
                <a:gridCol w="4343400"/>
                <a:gridCol w="3383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系统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区域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架构特征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局限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Borg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集中式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单点决策路径上限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Omega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共享状态 + 乐观并发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冲突处理复杂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Mesos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两级资源调度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多框架共享开销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kube-scheduler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中心式插件框架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超大规模扩展受限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分片式分布式（字节跳动）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独立 Binder 存在瓶颈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插件增强（Gang/队列）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中心路径仍有瓶颈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国内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插件增强（QoS/超卖）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单实例扩展受限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国外：Borg→Omega→Mesos→kube-scheduler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国内：Gödel（字节跳动）做分片，Volcano/Koordinator 做插件增强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缺口：绑定阶段串行化、漂移下的严格一致性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3 / 24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研究内容与创新点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 架构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单 Dispatcher、多独立 Scheduler；Binder 与决策同域；CacheAdapter 零拷贝共享 SchedulerCache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7064" y="1755648"/>
            <a:ext cx="5404104" cy="23317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227064" y="1755648"/>
            <a:ext cx="50292" cy="233172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91656" y="1883664"/>
            <a:ext cx="5129784" cy="2148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L0 归属校验 · L1 同步退避 · L2 异步回收 · L3 全局回退，全部建立在 etcd 原子语义上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553712"/>
            <a:ext cx="11064240" cy="86868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4553712"/>
            <a:ext cx="73152" cy="868680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" y="4645152"/>
            <a:ext cx="10607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两条创新指向同一目标：不改 API 的前提下，让分布式调度既跑得快，稳定性更高。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4 / 24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整体架构图</a:t>
            </a:r>
          </a:p>
        </p:txBody>
      </p:sp>
      <p:pic>
        <p:nvPicPr>
          <p:cNvPr id="4" name="Picture 3" descr="fig3-1-system-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5464" y="868680"/>
            <a:ext cx="7930591" cy="352044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Dispatcher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单实例（Leader Election）。维护节点分区表，按分区把待调度 Pod 分发到对应 Scheduler；绑定失败时清理调度注解，触发全局重分发。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Scheduler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多实例水平扩展。只调度本分区内的节点，依次执行 Filter / Score / Reserve，产出目标节点后交给 Binder 落盘。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590288"/>
            <a:ext cx="3535680" cy="14813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590288"/>
            <a:ext cx="50292" cy="1481328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700016"/>
            <a:ext cx="3224784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Binder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与 Scheduler 同进程。执行 Bind 子资源原子写；失败时按四层机制重试、回收孤儿状态，必要时上升到跨实例回退。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5 / 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Dispatcher 内部流程</a:t>
            </a:r>
          </a:p>
        </p:txBody>
      </p:sp>
      <p:pic>
        <p:nvPicPr>
          <p:cNvPr id="4" name="Picture 3" descr="fig3-3-dispatch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0114" y="868680"/>
            <a:ext cx="5861290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排序入队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Informer 观察到 nodeName 为空、且无 scheduler-name 注解的新 Pod，按 FIFO 排序后进入有序队列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分发决策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PodGroup 成员复用该组已分配的实例；否则按负载均衡（MaxIdle 加权轮询）挑选最空闲的 Scheduler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写入并跟踪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PatchPod 写入 scheduler-name 完成分发；持续观察绑定结果，失败进入不可调度队列等待重分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6 / 24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Scheduler 内部流程</a:t>
            </a:r>
          </a:p>
        </p:txBody>
      </p:sp>
      <p:pic>
        <p:nvPicPr>
          <p:cNvPr id="4" name="Picture 3" descr="fig3-4-scheduler-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7347" y="868680"/>
            <a:ext cx="5666825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入队与预处理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只接 scheduler-name 匹配自身的 Pod；pre-queue 插件校验 PodGroup 成员与亲和依赖，不通过则退回 Dispatcher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调度循环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从 activeQ 弹出后依次 Filter（剔除硬约束不满足）、Score（打分）、Reserve（标记候选并写 Assumed 状态）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绑定与回流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Reserve 后调用 Binder 执行 Bind；失败进入 backoffQ 指数退避，多次失败则退回 Dispatcher 触发跨实例回退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7 / 24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进程内 Binder 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去掉一次跨进程绑定链路，是吞吐提升的第一性来源</a:t>
            </a:r>
          </a:p>
        </p:txBody>
      </p:sp>
      <p:pic>
        <p:nvPicPr>
          <p:cNvPr id="6" name="Picture 5" descr="fig5-1a-shared-bi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8676" y="1828800"/>
            <a:ext cx="3751462" cy="3200400"/>
          </a:xfrm>
          <a:prstGeom prst="rect">
            <a:avLst/>
          </a:prstGeom>
        </p:spPr>
      </p:pic>
      <p:pic>
        <p:nvPicPr>
          <p:cNvPr id="7" name="Picture 6" descr="fig5-1b-eno-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9354" y="1828800"/>
            <a:ext cx="1580651" cy="32004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绑定与决策同域，事件传递归零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序列化与网络往返被消除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8 / 24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CacheAdapter</a:t>
            </a:r>
          </a:p>
        </p:txBody>
      </p:sp>
      <p:pic>
        <p:nvPicPr>
          <p:cNvPr id="4" name="Picture 3" descr="fig5-2-cache-zero-cop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8698" y="868680"/>
            <a:ext cx="4504123" cy="370332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6692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① 共享同一实例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CacheAdapter 把 Scheduler 的 SchedulerCache 交给进程内 Binder，两边持有同一份缓存对象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3120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3120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14088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② 零拷贝、零同步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状态以引用传递，不做序列化复制，也没有跨进程的同步延迟与网络往返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95488" y="4754880"/>
            <a:ext cx="3535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95488" y="4754880"/>
            <a:ext cx="50292" cy="14173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8367" y="4864608"/>
            <a:ext cx="322478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B2A4A"/>
                </a:solidFill>
                <a:latin typeface="Arial"/>
                <a:ea typeface="微软雅黑"/>
              </a:rPr>
              <a:t>③ 同一份真相</a:t>
            </a:r>
          </a:p>
          <a:p>
            <a:pPr algn="l">
              <a:lnSpc>
                <a:spcPct val="118000"/>
              </a:lnSpc>
              <a:spcBef>
                <a:spcPts val="400"/>
              </a:spcBef>
            </a:pPr>
            <a:r>
              <a:rPr sz="1250" b="0">
                <a:solidFill>
                  <a:srgbClr val="333333"/>
                </a:solidFill>
                <a:latin typeface="Arial"/>
                <a:ea typeface="微软雅黑"/>
              </a:rPr>
              <a:t>Layer 0 的节点归属校验读的就是这份缓存，Scheduler 与 Binder 看到的状态一致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9 / 24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四层绑定容错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每一层对应一类威胁，并分别依赖一种 etcd 原子语义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783080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911095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① Layer 0 · 预防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38728" y="1874519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威胁：T0 节点分区归属漂移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动作：Bind 前校验 Node 的 eno.io/scheduler-name 注解，非本分区直接拒绝并清理注解回退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70648" y="1874519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依赖：resourceVersion 乐观并发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770632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2770632"/>
            <a:ext cx="73152" cy="896112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898648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② Layer 1 · 即时恢复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38728" y="2862072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威胁：T1 Bind 返回 409 Conflict / 429 TooManyRequests / ServerTimeout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动作：线性退避 n×100ms（100/200/300ms），最多 3 次；仅这三类重试，其余错误立即上抛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70648" y="2862072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依赖：Bind 原子性：重复 Bind 返回 409，可视为成功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58184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3758184"/>
            <a:ext cx="73152" cy="896112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3886200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③ Layer 2 · 后台回收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8728" y="3849624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威胁：T2 Bind 失败后 scheduler-name、assumed-node 注解残留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动作：异步 Reconciler 消费失败队列，PatchPod 清理调度注解，按失败计数决定本地重试或升 L3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70648" y="3849624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依赖：Watch 一致性视图；NotFound 直接丢弃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745736"/>
            <a:ext cx="11064240" cy="896112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4745736"/>
            <a:ext cx="73152" cy="89611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4873752"/>
            <a:ext cx="2651760" cy="6949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0B2A4A"/>
                </a:solidFill>
                <a:latin typeface="Arial"/>
                <a:ea typeface="微软雅黑"/>
              </a:rPr>
              <a:t>④ Layer 3 · 全局回退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8728" y="4837176"/>
            <a:ext cx="38404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333333"/>
                </a:solidFill>
                <a:latin typeface="Arial"/>
                <a:ea typeface="微软雅黑"/>
              </a:rPr>
              <a:t>威胁：T3 本地重试耗尽、Scheduler 实例失活</a:t>
            </a:r>
          </a:p>
          <a:p>
            <a:pPr algn="l">
              <a:lnSpc>
                <a:spcPct val="100000"/>
              </a:lnSpc>
              <a:spcBef>
                <a:spcPts val="100"/>
              </a:spcBef>
            </a:pPr>
            <a:r>
              <a:rPr sz="1000" b="0">
                <a:solidFill>
                  <a:srgbClr val="333333"/>
                </a:solidFill>
                <a:latin typeface="Arial"/>
                <a:ea typeface="微软雅黑"/>
              </a:rPr>
              <a:t>动作：一次 PatchPod 原子提交：置 pod-state=Pending、删 scheduler-name、追加 failed-schedulers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4837176"/>
            <a:ext cx="3977639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依赖：etcd 事务原子提交（Txn）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10 / 24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核心不变量 I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所有机制最终归约到“任一 Pod 至多绑定到一个节点”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74519"/>
            <a:ext cx="1088136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P1 Bind 唯一性：nodeName 为空才允许写，重复写返回 409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P2 Assumed 清理：Reject 阶段 ForgetPod，Layer 2 清 etcd 注解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P3 清理与重分发时序：一次 PatchPod 原子提交，无中间态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P4 前置拦截：归属注解 + Layer 0 校验，缓存滞后由 P1 兜底</a:t>
            </a:r>
          </a:p>
        </p:txBody>
      </p:sp>
      <p:pic>
        <p:nvPicPr>
          <p:cNvPr id="7" name="Picture 6" descr="fig4-3-consistency-invari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582352"/>
            <a:ext cx="11064240" cy="211645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11 / 24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实验设计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16 个对比场景，每场景 3 次重复，共 144 次 run，n=3 取中位数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维度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取值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规模 s1–s4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1000 / 5000 / 10000 节点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速率型 w1–w4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100 / 500 / 1000 / 2000 pods/s（1 万 / 5 万 / 10 万 / 20 万 Pod，w4 为极限）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突发 w5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 → 2000 → 0 pods/s，5 万 Pod，考察涌入与退潮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Gang w6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200 组/s × 5 Pod，共 5 万 Pod，组内必须同时调度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异构 w7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500 pods/s，5 万 Pod，节点资源规格异构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实例 inst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inst1 = 1 个实例；inst3 = 3 个实例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对比组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a=ENO  b=Gödel  c=kube-scheduler  d=Volcano  e=Koordinator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公平性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Pod 2C/4G；各调度器 client-go QPS=Burst=10000（不设限流瓶颈）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431536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KWOK 仿真，kind 内 K8s v1.34.8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Prometheus 15 s 抓取 + recording rules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warmup/cooldown 各剔除 30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12 / 24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评估指标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有效吞吐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名义总工作量 ÷ 总完成时间；本文吞吐主口径，与采样窗口长度无关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0351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0351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04943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峰值吞吐 pods/s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处理过程中的最高瞬时调度速率，反映瞬时处理能力上限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3775" y="141732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3775" y="141732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8367" y="154533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P90 / P99 调度延迟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Pod 进入 activeQ 到完成 Bind 的分位延迟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66928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Pod E2E 延迟 P99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从 Dispatcher 观察到 Pod 起，直至绑定完成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0351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0351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04943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绑定成功率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 成功次数 ÷ Bind 尝试次数，直接对应正确性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13775" y="3154680"/>
            <a:ext cx="3517391" cy="1481328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13775" y="3154680"/>
            <a:ext cx="50292" cy="1481328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78367" y="3282696"/>
            <a:ext cx="3243072" cy="1298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队列堆积峰值 pods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pending_pods 在处理过程中的最大值，反映消化能力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495604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有效吞吐：每次 run 单独算「总工作量 ÷ 完成时间」，再取 3 次中位数（不走时序聚合）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其余时序指标：3 条 run 逐点取中位（离散度半 IQR）→ 剔首尾各 2 点（约 30 s）→ 取中位数；分位数线性插值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队列堆积是例外：逐点中位聚合后取峰值、不做剔尾；c/d/e 过载存在幸存者偏差，只与 a/b 比吞吐、队列、成功率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13 / 24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绑定正确性与不变量验证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144 次 run 的 apiserver 断言全部通过：unbound = 0 且 dup = 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绑定成功率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1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21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144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21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次 run 全部通过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25968" y="1783080"/>
            <a:ext cx="3413760" cy="141732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25968" y="1892807"/>
            <a:ext cx="34137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600" b="1">
                <a:solidFill>
                  <a:srgbClr val="E8833A"/>
                </a:solidFill>
                <a:latin typeface="Arial"/>
                <a:ea typeface="微软雅黑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25968" y="2816352"/>
            <a:ext cx="3413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unbound / dup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520440"/>
            <a:ext cx="1078992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ENO 48 次 run：绑定成功率 100%</a:t>
            </a:r>
          </a:p>
          <a:p>
            <a:pPr algn="l">
              <a:lnSpc>
                <a:spcPct val="115000"/>
              </a:lnSpc>
              <a:spcBef>
                <a:spcPts val="12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Layer 0 / Layer 3 故障注入均通过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14 / 24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五组基线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ENO/Gödel 第一档，kube-scheduler 第二档，Volcano/Koordinator 低一个数量级</a:t>
            </a:r>
          </a:p>
        </p:txBody>
      </p:sp>
      <p:pic>
        <p:nvPicPr>
          <p:cNvPr id="6" name="Picture 5" descr="fig6-3-throughput-5gro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kube-scheduler +1.8%~+22.5%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较 Volcano 约 6×，较 Koordinator 12× 以上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s1/w1 低负载例外 -7.2%（未饱和）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4160520"/>
          <a:ext cx="502920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8200"/>
                <a:gridCol w="838200"/>
                <a:gridCol w="838200"/>
                <a:gridCol w="838200"/>
                <a:gridCol w="838200"/>
                <a:gridCol w="8382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k-sched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Volcano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Koord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≈24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15 / 24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各场景吞吐对比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平均 +11.9%，高负载与多实例场景优势最大</a:t>
            </a:r>
          </a:p>
        </p:txBody>
      </p:sp>
      <p:pic>
        <p:nvPicPr>
          <p:cNvPr id="6" name="Picture 5" descr="fig6-2-effective-throughp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35701"/>
            <a:ext cx="5852160" cy="27009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14 领先、2 持平（s1/w1、s4/w7）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提升 +2.0%~+22.9%，平均 +11.9%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亮点：s2/w3 +22.9%、s3/w3 inst3 +21.7%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16 / 24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各场景尾延迟对比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s2/w3 从 23.48 s 降到 4.00 s，降幅 82.9%</a:t>
            </a:r>
          </a:p>
        </p:txBody>
      </p:sp>
      <p:pic>
        <p:nvPicPr>
          <p:cNvPr id="6" name="Picture 5" descr="fig6-4-latency-p99-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527662"/>
            <a:ext cx="5852160" cy="27170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15 个场景：11 好、1 持平（s2/w2）、3 个 Gang 反向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Gang（w6）3 个场景全部偏差：P99 高 1.6~4.1 倍，但吞吐仍 +4.3%~+19.1%</a:t>
            </a:r>
          </a:p>
          <a:p>
            <a:pPr algn="l">
              <a:lnSpc>
                <a:spcPct val="115000"/>
              </a:lnSpc>
              <a:spcBef>
                <a:spcPts val="1000"/>
              </a:spcBef>
            </a:pPr>
            <a:r>
              <a:rPr sz="1350" b="0">
                <a:solidFill>
                  <a:srgbClr val="333333"/>
                </a:solidFill>
                <a:latin typeface="Arial"/>
                <a:ea typeface="微软雅黑"/>
              </a:rPr>
              <a:t>▪  Pod E2E P99：12 个非 Gang 改善 0.6%~75.3%，3 个 Gang 高 11.9%~122.2%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17 / 24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ENO vs Gödel 实例扩展对比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实例 ×3：ENO 吞吐 ×1.18，Gödel 仅 ×1.01；P99 都降约 99%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10512"/>
          <a:ext cx="56235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8760"/>
                <a:gridCol w="2103120"/>
                <a:gridCol w="2011680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指标（s3/w3）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Gödel：inst1 → inst3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 pods/s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 → 349.7（×1.18）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 → 287.4（×1.01）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P99 延迟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 → 0.13（−99.2%）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 → 0.15（−99.5%）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14698 → 20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22652 → 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6-16-throughput-s3-w3-ins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812181"/>
            <a:ext cx="5276088" cy="21637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4014215"/>
            <a:ext cx="527608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s3/w3 inst3 吞吐时序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262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Arial"/>
                <a:ea typeface="微软雅黑"/>
              </a:rPr>
              <a:t>▪  同样的实例增量：ENO 多 52.1 pods/s，Gödel 只多 4.1 pods/s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18 / 24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规模翻倍与复杂负载下仍保持领先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207008"/>
          <a:ext cx="11064240" cy="36210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011680"/>
                <a:gridCol w="2011680"/>
                <a:gridCol w="2377440"/>
                <a:gridCol w="2377440"/>
              </a:tblGrid>
              <a:tr h="603504">
                <a:tc rowSpan="2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场景（inst3）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吞吐提升（vs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gridSpan="2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P99 降幅（vs Gödel）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 hMerge="1"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 vMerge="1">
                  <a:txBody>
                    <a:bodyPr wrap="square"/>
                    <a:lstStyle/>
                    <a:p>
                      <a:pPr algn="l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s3（5k）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s4（10k）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w3 稳态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+21.7%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−15.2%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−33.4%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w4 极限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+16.0%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−49.7%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w5 突发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+2.8%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−18.0%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−0.3%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w7 异构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持平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5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−3.9%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19 / 24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0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10% 节点注解漂移，300 次拦截全部转为合规重排</a:t>
            </a:r>
          </a:p>
        </p:txBody>
      </p:sp>
      <p:pic>
        <p:nvPicPr>
          <p:cNvPr id="6" name="Picture 5" descr="fig6-29a-layer0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300 次拦截全部转为回退：不发 Bind，Pod 进 Dispatcher 回退队列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回退后由新归属实例重新调度，15 s 内落到合法节点；累计 50000/50000 绑定成功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代价：总耗时 683 s，对基线 680 s 多 3 s（+0.4%）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20 / 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故障注入 Layer 3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杀掉 1/3 实例并停机 180 s，系统仍在 784 s 内完成全部绑定</a:t>
            </a:r>
          </a:p>
        </p:txBody>
      </p:sp>
      <p:pic>
        <p:nvPicPr>
          <p:cNvPr id="6" name="Picture 5" descr="fig6-29b-layer3-time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2657246"/>
            <a:ext cx="5852160" cy="245790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8" y="2011680"/>
            <a:ext cx="50292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kill 后 90 s 窗口内，被杀实例只剩 68 次绑定，占该窗口 8407 次的 0.81%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同一窗口共完成 8407 次绑定；pending 峰值 353，60 s 内回落到 2</a:t>
            </a:r>
          </a:p>
          <a:p>
            <a:pPr algn="l">
              <a:lnSpc>
                <a:spcPct val="115000"/>
              </a:lnSpc>
              <a:spcBef>
                <a:spcPts val="1400"/>
              </a:spcBef>
            </a:pPr>
            <a:r>
              <a:rPr sz="1550" b="0">
                <a:solidFill>
                  <a:srgbClr val="333333"/>
                </a:solidFill>
                <a:latin typeface="Arial"/>
                <a:ea typeface="微软雅黑"/>
              </a:rPr>
              <a:t>▪  整场耗时 784 s，比无故障基线 680 s 多 104 s（+15.3%）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309360"/>
            <a:ext cx="1010412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>
                <a:solidFill>
                  <a:srgbClr val="566474"/>
                </a:solidFill>
                <a:latin typeface="Arial"/>
                <a:ea typeface="微软雅黑"/>
              </a:rPr>
              <a:t>编码：s1–s4 = 100 / 1000 / 5000 / 10000 节点；w1–w7 = 负载强度（w2 500、w3 1000、w4 2000 pods/s 极限、w5 突发、w6 Gang、w7 异构）；inst3 = 3 实例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21 / 24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局限与展望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三条局限有明确边界，三方向是本工作的自然延伸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Gang 尾延迟未分离归因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w6 场景 ENO 单 Pod P99 高于 Gödel，归因是同组预留等待与后续决策共用进程与队列，尚未用独立计时实验把两段耗时分离开量化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KWOK 仿真的外推边界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实验全部在 KWOK 下完成，去掉 kubelet、容器运行时、真实网络与磁盘 IO；绝对数值不能外推到生产，只能做跨调度器相对对比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47088"/>
            <a:ext cx="3517391" cy="2084831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47088"/>
            <a:ext cx="50292" cy="2084831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1975104"/>
            <a:ext cx="3243072" cy="1901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资源开销未量化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公平策略是各组 Deployment 同规格（2C/4G），因此没有量化 ENO 移除 Binder Deployment 后集群总资源开销的收益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422452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66474"/>
                </a:solidFill>
                <a:latin typeface="Arial"/>
                <a:ea typeface="微软雅黑"/>
              </a:rPr>
              <a:t>▪  展望：生产环境灰度验证 · 多 Dispatcher 分区协同 · 在 ENO 上叠加资源感知与拓扑亲和策略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22 / 24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结论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架构创新与一致性创新都有可复现实验支撑，且实现了向后兼容的工程落地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1 · ENO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Binder 进进程内 + CacheAdapter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0351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340351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4943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创新 2 · 四层容错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不变量 I 的完整证明要点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3775" y="1874519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3775" y="1874519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8367" y="2002536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1 · 规模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16 场景 / 144 run / 100% 成功率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2 · 性能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平均 +11.9%；P99 最高 -82.9%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0351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0351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04943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证据 3 · 扩展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实例 1→3：+17.5% 对 +1.4%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3775" y="3182111"/>
            <a:ext cx="3517391" cy="1051560"/>
          </a:xfrm>
          <a:prstGeom prst="roundRect">
            <a:avLst/>
          </a:prstGeom>
          <a:solidFill>
            <a:srgbClr val="F5F7FA"/>
          </a:solidFill>
          <a:ln w="9525">
            <a:solidFill>
              <a:srgbClr val="D8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3775" y="3182111"/>
            <a:ext cx="50292" cy="10515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8367" y="3310127"/>
            <a:ext cx="324307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B2A4A"/>
                </a:solidFill>
                <a:latin typeface="Arial"/>
                <a:ea typeface="微软雅黑"/>
              </a:rPr>
              <a:t>价值 · 落地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50" b="0">
                <a:solidFill>
                  <a:srgbClr val="333333"/>
                </a:solidFill>
                <a:latin typeface="Arial"/>
                <a:ea typeface="微软雅黑"/>
              </a:rPr>
              <a:t>不改 API、可平滑替换、基准开源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23 / 24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197864" y="2212848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95728"/>
            <a:ext cx="1033272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>
                <a:solidFill>
                  <a:srgbClr val="0B2A4A"/>
                </a:solidFill>
                <a:latin typeface="Arial"/>
                <a:ea typeface="微软雅黑"/>
              </a:rPr>
              <a:t>谢谢各位老师，请批评指正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429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566474"/>
                </a:solidFill>
                <a:latin typeface="Arial"/>
                <a:ea typeface="微软雅黑"/>
              </a:rPr>
              <a:t>基于 etcd 的分布式 Kubernetes 调度器研究与实现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4340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答辩人：[姓名]</a:t>
            </a:r>
          </a:p>
          <a:p>
            <a:pPr algn="ctr">
              <a:spcBef>
                <a:spcPts val="400"/>
              </a:spcBef>
            </a:pPr>
            <a:r>
              <a:rPr sz="1300" b="0">
                <a:solidFill>
                  <a:srgbClr val="566474"/>
                </a:solidFill>
                <a:latin typeface="Arial"/>
                <a:ea typeface="微软雅黑"/>
              </a:rPr>
              <a:t>联系方式：[邮箱]</a:t>
            </a:r>
          </a:p>
        </p:txBody>
      </p:sp>
      <p:sp>
        <p:nvSpPr>
          <p:cNvPr id="6" name="Rectangle 5"/>
          <p:cNvSpPr/>
          <p:nvPr/>
        </p:nvSpPr>
        <p:spPr>
          <a:xfrm>
            <a:off x="1197864" y="5074920"/>
            <a:ext cx="9866376" cy="20116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" y="6748272"/>
            <a:ext cx="12088368" cy="4572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24 /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16 场景完整数据（摘要）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有效吞吐 / P99 / Pod E2E P99 / 队列堆积峰值（n=3 中位数）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331.1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324.7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s2/w3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352.1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286.5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4.00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23.48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297.6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283.3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16.22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32.57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s3/w3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349.7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287.4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s4/w3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296.7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280.9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s4/w7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271.7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完整 16 行见论文表 6-6/6-7/6-8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数据目录：results/compare/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统计口径：n=3 中位数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B1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6 个指标的精确口径与来源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定义、聚合方式与对应的可复核字段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2944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8080"/>
                <a:gridCol w="3688080"/>
                <a:gridCol w="3688080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指标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字段 / 定义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聚合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有效吞吐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名义工作量 ÷ metadata.duration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每 run 算再取中位数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峰值吞吐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scheduling_peak_throughput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3 run 逐点中位数后取标量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P90/P99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activeQ 到 Bind 完成的分位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剔首尾各 2 点后取中位数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 E2E 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pod_e2e_latency_p99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同上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绑定成功率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Bind 成功 / 尝试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比值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队列堆积峰值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pending_pods 最大值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取最大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recording rules 归一化跨组指标名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提取脚本：collect/latency-compare.py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场景清单：results/compare/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为什么 c/d/e 的 P99 不能与 a/b 直接比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单实例过载 → Pod 长期堵在 activeQ → 未进入延迟直方图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直方图只覆盖“已被 pop 处理”的子集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数值对该子集准确，但样本群体不同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故只比吞吐 / 队列 / 成功率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Gang（w6）尾延迟反向的机理与边界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吞吐仍领先，但单 Pod 尾延迟高出 1.6~4.1 倍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828800"/>
          <a:ext cx="11064240" cy="1682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场景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吞吐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ENO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微软雅黑"/>
                        </a:rPr>
                        <a:t>Gödel P99</a:t>
                      </a:r>
                    </a:p>
                  </a:txBody>
                  <a:tcPr marL="54864" marR="54864" marT="18288" marB="18288" anchor="ctr">
                    <a:solidFill>
                      <a:srgbClr val="0B2A4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251.3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211.0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0.428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0.175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s3/w6 inst3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215.5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0.892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0.218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s4/w6 inst3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245.1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206.6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0.576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333333"/>
                          </a:solidFill>
                          <a:latin typeface="Arial"/>
                          <a:ea typeface="微软雅黑"/>
                        </a:rPr>
                        <a:t>0.353</a:t>
                      </a:r>
                    </a:p>
                  </a:txBody>
                  <a:tcPr marL="54864" marR="54864" marT="18288" marB="1828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66928" y="507492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同组预留等待与决策共用进程与队列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未用独立计时实验分离两段耗时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300" b="0">
                <a:solidFill>
                  <a:srgbClr val="333333"/>
                </a:solidFill>
                <a:latin typeface="Arial"/>
                <a:ea typeface="微软雅黑"/>
              </a:rPr>
              <a:t>▪  已在论文 §6.8 列为局限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资源公平性与未量化的资源收益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每 Deployment 同规格，对 ENO 略不利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Scheduler Pod 统一 2C/4G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ENO 少一个 Binder Deployment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集群总资源收益未量化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一键复现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从零到结果的全部入口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965960"/>
            <a:ext cx="106070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run-experiment.sh：12 步实验流程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plot-results.py / collect/：聚合与出图</a:t>
            </a:r>
          </a:p>
          <a:p>
            <a:pPr algn="l">
              <a:lnSpc>
                <a:spcPct val="115000"/>
              </a:lnSpc>
              <a:spcBef>
                <a:spcPts val="1800"/>
              </a:spcBef>
            </a:pPr>
            <a:r>
              <a:rPr sz="1700" b="0">
                <a:solidFill>
                  <a:srgbClr val="333333"/>
                </a:solidFill>
                <a:latin typeface="Arial"/>
                <a:ea typeface="微软雅黑"/>
              </a:rPr>
              <a:t>▪  results/compare/：16 场景产物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4048" y="420624"/>
            <a:ext cx="77724" cy="475488"/>
          </a:xfrm>
          <a:prstGeom prst="rect">
            <a:avLst/>
          </a:prstGeom>
          <a:solidFill>
            <a:srgbClr val="E883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6424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>
                <a:solidFill>
                  <a:srgbClr val="0B2A4A"/>
                </a:solidFill>
                <a:latin typeface="Arial"/>
                <a:ea typeface="微软雅黑"/>
              </a:rPr>
              <a:t>主场景 s3/w3 的时序形态（备用）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32004" cy="365760"/>
          </a:xfrm>
          <a:prstGeom prst="rect">
            <a:avLst/>
          </a:prstGeom>
          <a:solidFill>
            <a:srgbClr val="1F5C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261872"/>
            <a:ext cx="1074420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1F5C99"/>
                </a:solidFill>
                <a:latin typeface="Arial"/>
                <a:ea typeface="微软雅黑"/>
              </a:rPr>
              <a:t>ENO 更早进入平台、平台更高、结束更早</a:t>
            </a:r>
          </a:p>
        </p:txBody>
      </p:sp>
      <p:pic>
        <p:nvPicPr>
          <p:cNvPr id="6" name="Picture 5" descr="fig6-throughput-s3-w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322730"/>
            <a:ext cx="5394960" cy="2212539"/>
          </a:xfrm>
          <a:prstGeom prst="rect">
            <a:avLst/>
          </a:prstGeom>
        </p:spPr>
      </p:pic>
      <p:pic>
        <p:nvPicPr>
          <p:cNvPr id="7" name="Picture 6" descr="fig6-6-latency-p99-s3-w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323351"/>
            <a:ext cx="5394960" cy="221129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5138928"/>
            <a:ext cx="11064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吞吐平台更高且更早稳定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P99 峰值更低、回落更快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333333"/>
                </a:solidFill>
                <a:latin typeface="Arial"/>
                <a:ea typeface="微软雅黑"/>
              </a:rPr>
              <a:t>▪  整体完成时间更短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0776" y="6345936"/>
            <a:ext cx="85039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50" b="0">
                <a:solidFill>
                  <a:srgbClr val="566474"/>
                </a:solidFill>
                <a:latin typeface="Arial"/>
                <a:ea typeface="微软雅黑"/>
              </a:rPr>
              <a:t>B7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