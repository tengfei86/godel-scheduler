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32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7"/>
    <p:sldId id="281" r:id="rId6"/>
    <p:sldId id="282" r:id="rId5"/>
    <p:sldId id="283" r:id="rId4"/>
    <p:sldId id="284" r:id="rId3"/>
    <p:sldId id="285" r:id="rId37"/>
    <p:sldId id="286" r:id="rId38"/>
    <p:sldId id="287" r:id="rId39"/>
  </p:sldIdLst>
  <p:sldSz cx="12196763" cy="6858000"/>
  <p:notesSz cx="6858000" cy="9144000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42">
          <p15:clr>
            <a:srgbClr val="A4A3A4"/>
          </p15:clr>
        </p15:guide>
        <p15:guide id="2" pos="384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113E6A"/>
    <a:srgbClr val="006BBC"/>
    <a:srgbClr val="363636"/>
    <a:srgbClr val="FAFAFA"/>
    <a:srgbClr val="0F3D68"/>
    <a:srgbClr val="003366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77" autoAdjust="0"/>
    <p:restoredTop sz="94660"/>
  </p:normalViewPr>
  <p:slideViewPr>
    <p:cSldViewPr snapToObjects="1" showGuides="1">
      <p:cViewPr varScale="1">
        <p:scale>
          <a:sx n="58" d="100"/>
          <a:sy n="58" d="100"/>
        </p:scale>
        <p:origin x="738" y="66"/>
      </p:cViewPr>
      <p:guideLst>
        <p:guide orient="horz" pos="2142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29.xml"/><Relationship Id="rId4" Type="http://schemas.openxmlformats.org/officeDocument/2006/relationships/slide" Target="slides/slide28.xml"/><Relationship Id="rId5" Type="http://schemas.openxmlformats.org/officeDocument/2006/relationships/slide" Target="slides/slide27.xml"/><Relationship Id="rId6" Type="http://schemas.openxmlformats.org/officeDocument/2006/relationships/slide" Target="slides/slide26.xml"/><Relationship Id="rId7" Type="http://schemas.openxmlformats.org/officeDocument/2006/relationships/slide" Target="slides/slide25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4" name="Rectangle 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 algn="r" fontAlgn="base">
              <a:buChar char="•"/>
            </a:pPr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ea"/>
              </a:rPr>
              <a:pPr lvl="0" algn="r" fontAlgn="base">
                <a:buChar char="•"/>
              </a:pPr>
              <a:t>‹#›</a:t>
            </a:fld>
            <a:endParaRPr lang="zh-CN" altLang="en-US" sz="1200" strike="noStrike" noProof="1"/>
          </a:p>
        </p:txBody>
      </p:sp>
    </p:spTree>
    <p:extLst>
      <p:ext uri="{BB962C8B-B14F-4D97-AF65-F5344CB8AC3E}">
        <p14:creationId xmlns:p14="http://schemas.microsoft.com/office/powerpoint/2010/main" val="336092147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各位老师上午好。我的论文题目是《基于 etcd 的分布式 Kubernetes 调度器研究与实现》。这项工作针对分布式调度器把绑定拆出去之后吞吐上不去、一致性也守不住的问题。一句话概括：把 Binder 合并回 Scheduler，用四层机制守住“至多绑定一次”。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先说背景。Kubernetes 已成为云原生的事实标准，调度器在 Pod 生命周期的关键路径上，吞吐和延迟直接决定资源利用率与业务响应速度。千节点规模单实例还能撑住，到万节点量级就暴露三个瓶颈：activeQ 串行、Filter/Score 随规模线性、Leader 单点。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第二章分国外与国内两条线。国外从集中式走到共享状态：Borg、Omega、Mesos，再到 kube-scheduler 的插件框架。国内代表是 Gödel，字节跳动开源，用节点分区做分片式多实例；Volcano 与 Koordinator 走插件增强。共同缺口在落盘侧。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这一页压成两句。架构上，单 Dispatcher、多独立 Scheduler，Binder 合并进 Scheduler 进程，CacheAdapter 零拷贝共享缓存。一致性上，四层容错覆盖 Bind 前中后，都建立在 etcd 原子语义上。两条创新指向同一个目标。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这张图是总体架构。上层 Dispatcher 单实例，维护节点分区表，把 Pod 按分区分发给对应 Scheduler，绑定出问题时清理注解、触发重分发。中间多个 Scheduler 只调度本分区节点。下层 Binder 与 Scheduler 同进程，负责真正写进 apiserver。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Dispatcher 内部三步。第一步排序入队：nodeName 为空、还没有 scheduler-name 注解的新 Pod，按 FIFO 进有序队列。第二步分发决策：PodGroup 成员复用已分配实例，否则按负载均衡挑最空闲的。第三步写入并跟踪：PatchPod 写 scheduler-name，失败进不可调度队列。注意它不选节点，只决定 Pod 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Scheduler 内部也是三步。入队前 pre-queue 先校验 PodGroup 成员与亲和依赖，不通过退回 Dispatcher。进 activeQ 后跑 Filter、Score、Reserve，Reserve 阶段写 Assumed 状态。最后调 Binder 执行 Bind；失败进 backoffQ 退避，多次失败退回 Dispatcher。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左边是原形态，Binder 独立部署，决策完要把任务发过去；右边是本文形态，Binder 就在 Scheduler 进程里。这一刀去掉三段开销：事件传递、跨进程调用、序列化。我把它称为第一性来源。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难点在缓存。以前 Binder 在另一个进程，缓存要么复制要么重建。CacheAdapter 让进程内 Binder 直接拿到同一份 SchedulerCache 的对象引用，所以叫零拷贝。两边看到同一份状态，Layer 0 的校验才有同一个真相可依。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四层是一条时间轴。Bind 前 Layer 0 校验归属注解，非本分区直接拒绝并回退。Bind 中 Layer 1 只处理 409、429、ServerTimeout 三类暂态错误：线性退避 100、200、300 毫秒，最多三次，其它错误立即上抛。失败后 Layer 2 异步清理残留注解，按失败计数决定本地重试还是上升。重试耗尽 Layer 3 用一次原子 patch 交回 Dispatcher 重分发。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所有机制最后都归约到这一条不变量 I：任一 Pod 至多绑定到一个节点。证明拆四点。P1 是 Bind 唯一性，来自 Kubernetes 自身：nodeName 为空才允许原子写入，重复写返回 409。P2 是 Assumed 清理，Reject 阶段 ForgetPod 清内存态，Layer 2 清 etcd 注解。P3 是清理到重分发的时序，一次 PatchPod 原子提交。P4 是 Layer 0 前置拦截，缓存滞后由 P1 兜底。这也是后面所有实验断言的设计依据：断言查的就是未绑定与重复绑定两项。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先讲编码：s 是规模档位，w 是负载强度，inst 是实例数，后面场景名都由这三段拼成。再说公平性：KWOK 仿真、kind 集群内运行；五个调度器 Pod 规格相同，各自的 client-go QPS 与 Burst 都放到 10000，避免把客户端限流误读成调度能力差异；每场景三次取中位数，共 144 次 run。主评估取 s2/w2、s2/w3、s3/w2、s3/w3 四个场景，其余作为扩展与复杂负载场景。观测栈是 Prometheus 每 15 秒抓取，recording rules 统一各组指标名。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方法学核心。吞吐时序是爬升、平台、归零三段，直接取平均会被尾段零值稀释，稀释程度还取决于跑多久，跨调度器就不可比，所以主口径是总工作量除以总完成时间。时序处理三步：每个场景跑三次，按相对时间对齐后逐时间点取中位数；剔掉首尾各两个采样点，也就是约 30 秒的预热与冷却；剩下的序列上取分位数，P90、P99 用线性插值算。队列堆积是个例外，取过程最大值；绑定成功率按三次比值取中位数。c、d、e 是单实例，过载时 Pod 没进直方图，存在幸存者偏差，只做定性说明。所以跨调度器我只用吞吐、队列堆积与绑定成功率做整体比较，延迟只在 ENO 与 Gödel 之间比。这三条口径是后面所有数字可比的前提；口径不同，数字就不能直接并列。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在给性能数字之前，先说正确性。144 次 run，每次跑完都在 apiserver 侧断言：未绑定为零、重复绑定为零，全部通过；ENO 那 48 次 run 成功率都是 100%。两场故障注入各 6 项判据全过。所谓正确，不是日志里没报错，而是外部可观测的事实对得上。断言是在 apiserver 侧做的，不是调度器自报。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第一场注入：s2/w2、三实例，第 30 秒把 10% 的节点、约 100 个，归属注解从 scheduler-0 改为 scheduler-1。NodeValidator 拦截 300 次，Dispatcher 回退 300 次，两条曲线重叠。拦截不等于丢弃：Pod 进回退队列被重分发，成功率仍是 1.00，总耗时 683 秒、只比基线多 3 秒。这组数字说明 Layer 0 只是把错误前置，不是把工作丢掉，代价几乎为零。拦截 300 次、回退 300 次，两边对得上，说明没有 Pod 被丢掉。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第二场注入：第 10 秒杀掉 scheduler-0，停机 180 秒，实测中断 189 秒。被杀实例未完成的绑定只占 68/8407，即 0.81%；两个存活实例接管 8407 个 Pod，队列峰值 353 后回落到 2。累计绑定 49607/50000，断言仍全过。代价是 784 秒、比基线多 104 秒，是工作量重排的代价，不是数据损坏。对比基线是同一场景下的无故障运行，680 秒。队列在 353 之后回落到 2，说明积压是瞬时的。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五组横向对比，结论是三档。第一档 ENO 与 Gödel，都是几百 pods/s；第二档 kube-scheduler；第三档 Volcano 与 Koordinator，只有约 48 和约 24 pods/s，几乎不随规模变化。主评估四场景里，ENO 比 kube-scheduler 高 1.8% 到 22.5%。唯一例外是 s1/w1 低负载低 7.2%，那个场景没饱和。柱状图按场景排序，第三档几乎是一条水平线，说明它们的瓶颈不在调度吞吐这一维。从 s1 到 s3，第一档的曲线始终压在最上面，第三档几乎不随规模变化。这个排序在 16 个场景上是一致的。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和 Gödel 逐场景对比：16 个场景里 14 个领先，2 个持平，没有落后的，提升 2.0% 到 22.9%，平均 11.9%。优势最大的是高负载与多实例：s2/w3 高 22.9%，s3/w3 三实例高 21.7%。两个持平场景都没饱和，完成时间由注入速率决定。两个持平场景说明，未饱和时调度器再快也压不出更多吞吐。平均 11.9% 是 14 个领先场景提升幅度的均值。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延迟这页。除 s2/w2 外，11 个非 Gang 场景 P99 都低于 Gödel，改善 0.3% 到 82.9%。最典型是 s2/w3，23.48 秒降到 4.00 秒；单实例 s3/w3 从 32.57 秒到 16.22 秒。Pod 端到端 P99 在 12 个非 Gang 场景也都不高于 Gödel。Gang 是反的，放到局限里展开。延迟单位是秒，纵轴用对数，便于跨量级比较。改善的下界 0.3% 出现在已经接近饱和的场景。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这是全文最强的归因证据。同样把实例从 1 加到 3，两边延迟都降约 99%，这部分一样。差别在吞吐：ENO 从 297.6 到 349.7，提升 17.5%；Gödel 从 283.3 到 287.4，只提升 1.4%。同样多的并发能力，Gödel 的增量被独立 Binder 的串行绑定吸收掉了。延迟数量级下降说明瓶颈不在决策侧，而在绑定这一环的串行化。峰值吞吐两家都涨，但只有 ENO 把增量转化成了有效吞吐。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两件事。第一，规模从 5000 到 10000、实例数不变，两边都退化：ENO -15.2%，Gödel -2.3%；但 ENO 仍领先，吞吐 296.7 对 280.9 高 5.6%，P99 0.19 对 0.28 秒低 33.4%，队列峰值 9 对 61。第二，复杂负载：极限 +9.3% 与 +16.0%，突发 +21.3% 与 +2.8%，异构 s3 高 21.2%、s4 持平。s4 的退化与固定三实例有关，这写在局限里。规模翻倍而实例不扩，本身就是一个更苛刻的设定，不能当作扩展上限。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把机制和指标对齐。进程内绑定去掉事件传递，对应 E2E 降低，三实例 0.45 对 0.93 秒；零拷贝让状态复用无同步延迟；关键是第三行，没有独立 Binder 的串行段，吞吐才能随实例扩展，+17.5% 对 +1.4%；第四行四层容错守住不变量。也要说明相关与归因的区别：峰值吞吐不是每个场景都领先。如果评委追问某个数字，备用页里有完整口径与原始目录。四行对应四个机制，每一项都有可复核的字段。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局限六条，只讲关键。KWOK 是仿真，绝对数值不外推，但跨调度器相对比较成立。Gang 即 w6，ENO 尾延迟确实更高：吞吐高 4.3% 到 19.1%，单 Pod P99 高 1.6 到 4.1 倍，原因是同组预留等待与决策共用进程和队列。s3 到 s4 固定三实例，退化幅度不能读成上限。其余是资源公平、Volcano 口径、幸存者偏差。这六条不是免责声明，而是给结论划边界。在这个边界内，跨调度器的相对结论是稳的。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最后收束。两个创新：ENO 把 Binder 放进进程内并用 CacheAdapter 共享缓存；四层容错给出不变量 I 的证明要点。三组证据：16 场景 144 次 run 全成功、平均 +11.9%、P99 最高 -82.9%、实例扩展 +17.5% 对 +1.4%。价值：不改 API、保留开关、基准开源。三组证据合起来，正好对应问题、方法与效果。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汇报到这里。一句话总结：把 Binder 合并进 Scheduler 进程，用 etcd 原子语义上的四层容错守住“至多绑定一次”，在 16 个场景、144 次 run 上做到更高吞吐、更低尾延迟与 100% 绑定成功率。请各位老师批评指正。如果只问一个问题，我的回答就是刚才那一句。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备用页：抽查任意场景的原始数值。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备用页：如果评委追问某个数字怎么算出来的，用这页回答。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备用页：幸存者偏差的解释。过载时 Pod 根本没被处理，所以延迟看起来“很好”。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备用页：w6 反向结果的完整数据与解释。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备用页：公平性与资源开销的口径说明。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备用页：评委问可复现性时展示。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备用页：这一页是给评委看“形态”的。左边吞吐，右边 P99，共享同一条时间轴。ENO 的平台更高、更早稳定；右边的 P99 峰值更低、回落更快。这两张图放在一起的意义是：我们的优势不是某个瞬时点上的抖动，而是整段完成时间都更短——这也正好解释了为什么有效吞吐这个口径对我们有利，因为它衡量的是固定工作量做多久做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8763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8763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0363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20363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1788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788" y="1600200"/>
            <a:ext cx="5413375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0362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937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9375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5375" y="1681163"/>
            <a:ext cx="518477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5375" y="2505075"/>
            <a:ext cx="5184775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3825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4775" y="987425"/>
            <a:ext cx="617537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38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3825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4775" y="987425"/>
            <a:ext cx="6175375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38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963" y="908050"/>
            <a:ext cx="2743200" cy="5218113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908050"/>
            <a:ext cx="8081963" cy="5218113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8763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8763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0363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20363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1788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788" y="1600200"/>
            <a:ext cx="5413375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0362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937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9375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5375" y="1681163"/>
            <a:ext cx="518477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5375" y="2505075"/>
            <a:ext cx="5184775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3825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4775" y="987425"/>
            <a:ext cx="6175375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38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3825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4775" y="987425"/>
            <a:ext cx="6175375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38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963" y="908050"/>
            <a:ext cx="2743200" cy="5218113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908050"/>
            <a:ext cx="8081963" cy="5218113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jpe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13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09600" y="908050"/>
            <a:ext cx="10977563" cy="635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zh-CN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7563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zh-CN" altLang="zh-CN" dirty="0"/>
              <a:t>单击此处编辑母版文本样式</a:t>
            </a:r>
          </a:p>
          <a:p>
            <a:pPr lvl="1" indent="-285750"/>
            <a:r>
              <a:rPr lang="zh-CN" altLang="zh-CN" dirty="0"/>
              <a:t>第二级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accent1"/>
          </a:solidFill>
          <a:latin typeface="+mn-lt"/>
          <a:ea typeface="仿宋_GB2312" pitchFamily="1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2"/>
          <p:cNvSpPr>
            <a:spLocks noGrp="1"/>
          </p:cNvSpPr>
          <p:nvPr>
            <p:ph type="title"/>
          </p:nvPr>
        </p:nvSpPr>
        <p:spPr>
          <a:xfrm>
            <a:off x="609600" y="908050"/>
            <a:ext cx="10977563" cy="635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zh-CN" dirty="0"/>
              <a:t>单击此处编辑母版标题样式</a:t>
            </a:r>
          </a:p>
        </p:txBody>
      </p:sp>
      <p:sp>
        <p:nvSpPr>
          <p:cNvPr id="2053" name="Rectangle 3"/>
          <p:cNvSpPr>
            <a:spLocks noGrp="1"/>
          </p:cNvSpPr>
          <p:nvPr>
            <p:ph type="body"/>
          </p:nvPr>
        </p:nvSpPr>
        <p:spPr>
          <a:xfrm>
            <a:off x="609600" y="1600200"/>
            <a:ext cx="10977563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zh-CN" altLang="zh-CN" dirty="0"/>
              <a:t>单击此处编辑母版文本样式</a:t>
            </a:r>
          </a:p>
          <a:p>
            <a:pPr lvl="1" indent="-285750"/>
            <a:r>
              <a:rPr lang="zh-CN" altLang="zh-CN" dirty="0"/>
              <a:t>第二级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/>
    </p:bldLst>
  </p:timing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accent1"/>
          </a:solidFill>
          <a:latin typeface="+mn-lt"/>
          <a:ea typeface="仿宋_GB2312" pitchFamily="1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eihang-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5" y="942540"/>
            <a:ext cx="4224528" cy="80325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97864" y="2157984"/>
            <a:ext cx="9866376" cy="20116"/>
          </a:xfrm>
          <a:prstGeom prst="rect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97864" y="3282696"/>
            <a:ext cx="9866376" cy="20116"/>
          </a:xfrm>
          <a:prstGeom prst="rect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2231136"/>
            <a:ext cx="10725912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113E6A"/>
                </a:solidFill>
                <a:latin typeface="Arial"/>
                <a:ea typeface="微软雅黑"/>
              </a:rPr>
              <a:t>基于 etcd 的分布式 Kubernetes 调度器研究与实现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3456432"/>
            <a:ext cx="107259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0070C0"/>
                </a:solidFill>
                <a:latin typeface="Arial"/>
                <a:ea typeface="微软雅黑"/>
              </a:rPr>
              <a:t>硕士学位论文答辩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7864" y="4617720"/>
            <a:ext cx="986637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636363"/>
                </a:solidFill>
                <a:latin typeface="Arial"/>
                <a:ea typeface="微软雅黑"/>
              </a:rPr>
              <a:t>答辩人：[姓名]　　指导教师：[导师]　　学院：[学院]　　日期：[日期]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" y="6748272"/>
            <a:ext cx="12088368" cy="45720"/>
          </a:xfrm>
          <a:prstGeom prst="rect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36363"/>
                </a:solidFill>
                <a:latin typeface="Arial"/>
                <a:ea typeface="微软雅黑"/>
              </a:rPr>
              <a:t>1 /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0" name="Freeform 5"/>
          <p:cNvSpPr/>
          <p:nvPr/>
        </p:nvSpPr>
        <p:spPr>
          <a:xfrm>
            <a:off x="182880" y="274320"/>
            <a:ext cx="310896" cy="402336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001" name="Picture 9000" descr="beihang-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024" y="91665"/>
            <a:ext cx="2642616" cy="502469"/>
          </a:xfrm>
          <a:prstGeom prst="rect">
            <a:avLst/>
          </a:prstGeom>
        </p:spPr>
      </p:pic>
      <p:sp>
        <p:nvSpPr>
          <p:cNvPr id="9002" name="TextBox 9001"/>
          <p:cNvSpPr txBox="1"/>
          <p:nvPr/>
        </p:nvSpPr>
        <p:spPr>
          <a:xfrm>
            <a:off x="566928" y="155448"/>
            <a:ext cx="8549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3E6A"/>
                </a:solidFill>
                <a:latin typeface="Arial"/>
                <a:ea typeface="微软雅黑"/>
              </a:rPr>
              <a:t>研究背景</a:t>
            </a:r>
          </a:p>
        </p:txBody>
      </p:sp>
      <p:sp>
        <p:nvSpPr>
          <p:cNvPr id="9003" name="TextBox 9002"/>
          <p:cNvSpPr txBox="1"/>
          <p:nvPr/>
        </p:nvSpPr>
        <p:spPr>
          <a:xfrm>
            <a:off x="566928" y="1261872"/>
            <a:ext cx="10881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070C0"/>
                </a:solidFill>
                <a:latin typeface="Arial"/>
                <a:ea typeface="微软雅黑"/>
              </a:rPr>
              <a:t>生产集群进入万节点量级，单实例架构在吞吐与高可用上同时受制</a:t>
            </a:r>
          </a:p>
        </p:txBody>
      </p:sp>
      <p:sp>
        <p:nvSpPr>
          <p:cNvPr id="9004" name="TextBox 9003"/>
          <p:cNvSpPr txBox="1"/>
          <p:nvPr/>
        </p:nvSpPr>
        <p:spPr>
          <a:xfrm>
            <a:off x="566928" y="1783080"/>
            <a:ext cx="108813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2E2C2C"/>
                </a:solidFill>
                <a:latin typeface="Arial"/>
                <a:ea typeface="微软雅黑"/>
              </a:rPr>
              <a:t>Kubernetes 已成为云原生的事实标准，调度器处在 Pod 生命周期的关键路径上：它的吞吐与延迟直接决定集群资源利用率与业务响应速度。千节点规模下单实例尚可支撑，集群进入万节点量级后，三个瓶颈同时显现。</a:t>
            </a:r>
          </a:p>
        </p:txBody>
      </p:sp>
      <p:sp>
        <p:nvSpPr>
          <p:cNvPr id="9005" name="Rounded Rectangle 9004"/>
          <p:cNvSpPr/>
          <p:nvPr/>
        </p:nvSpPr>
        <p:spPr>
          <a:xfrm>
            <a:off x="566928" y="2880360"/>
            <a:ext cx="3517391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6" name="Oval 9005"/>
          <p:cNvSpPr/>
          <p:nvPr/>
        </p:nvSpPr>
        <p:spPr>
          <a:xfrm>
            <a:off x="713232" y="3017520"/>
            <a:ext cx="274320" cy="274320"/>
          </a:xfrm>
          <a:prstGeom prst="ellipse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9007" name="TextBox 9006"/>
          <p:cNvSpPr txBox="1"/>
          <p:nvPr/>
        </p:nvSpPr>
        <p:spPr>
          <a:xfrm>
            <a:off x="1078992" y="3017520"/>
            <a:ext cx="2877312" cy="19019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13E6A"/>
                </a:solidFill>
                <a:latin typeface="Arial"/>
                <a:ea typeface="微软雅黑"/>
              </a:rPr>
              <a:t>吞吐存在上限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500" b="0">
                <a:solidFill>
                  <a:srgbClr val="2E2C2C"/>
                </a:solidFill>
                <a:latin typeface="Arial"/>
                <a:ea typeface="微软雅黑"/>
              </a:rPr>
              <a:t>activeQ 串行处理 Pod，大规模弹性伸缩与批任务启动被拖慢</a:t>
            </a:r>
          </a:p>
        </p:txBody>
      </p:sp>
      <p:sp>
        <p:nvSpPr>
          <p:cNvPr id="9008" name="Rounded Rectangle 9007"/>
          <p:cNvSpPr/>
          <p:nvPr/>
        </p:nvSpPr>
        <p:spPr>
          <a:xfrm>
            <a:off x="4340351" y="2880360"/>
            <a:ext cx="3517391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9" name="Oval 9008"/>
          <p:cNvSpPr/>
          <p:nvPr/>
        </p:nvSpPr>
        <p:spPr>
          <a:xfrm>
            <a:off x="4486656" y="3017520"/>
            <a:ext cx="274320" cy="274320"/>
          </a:xfrm>
          <a:prstGeom prst="ellipse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9010" name="TextBox 9009"/>
          <p:cNvSpPr txBox="1"/>
          <p:nvPr/>
        </p:nvSpPr>
        <p:spPr>
          <a:xfrm>
            <a:off x="4852416" y="3017520"/>
            <a:ext cx="2877312" cy="19019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13E6A"/>
                </a:solidFill>
                <a:latin typeface="Arial"/>
                <a:ea typeface="微软雅黑"/>
              </a:rPr>
              <a:t>尾延迟持续抬升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500" b="0">
                <a:solidFill>
                  <a:srgbClr val="2E2C2C"/>
                </a:solidFill>
                <a:latin typeface="Arial"/>
                <a:ea typeface="微软雅黑"/>
              </a:rPr>
              <a:t>Filter/Score 遍历节点开销随规模线性上升，5000 节点下 P99 明显恶化</a:t>
            </a:r>
          </a:p>
        </p:txBody>
      </p:sp>
      <p:sp>
        <p:nvSpPr>
          <p:cNvPr id="9011" name="Rounded Rectangle 9010"/>
          <p:cNvSpPr/>
          <p:nvPr/>
        </p:nvSpPr>
        <p:spPr>
          <a:xfrm>
            <a:off x="8113775" y="2880360"/>
            <a:ext cx="3517391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2" name="Oval 9011"/>
          <p:cNvSpPr/>
          <p:nvPr/>
        </p:nvSpPr>
        <p:spPr>
          <a:xfrm>
            <a:off x="8260079" y="3017520"/>
            <a:ext cx="274320" cy="274320"/>
          </a:xfrm>
          <a:prstGeom prst="ellipse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9013" name="TextBox 9012"/>
          <p:cNvSpPr txBox="1"/>
          <p:nvPr/>
        </p:nvSpPr>
        <p:spPr>
          <a:xfrm>
            <a:off x="8625839" y="3017520"/>
            <a:ext cx="2877312" cy="19019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13E6A"/>
                </a:solidFill>
                <a:latin typeface="Arial"/>
                <a:ea typeface="微软雅黑"/>
              </a:rPr>
              <a:t>单点故障风险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500" b="0">
                <a:solidFill>
                  <a:srgbClr val="2E2C2C"/>
                </a:solidFill>
                <a:latin typeface="Arial"/>
                <a:ea typeface="微软雅黑"/>
              </a:rPr>
              <a:t>Leader 崩溃后需等待 Standby 接管，这段窗口内集群完全无法调度</a:t>
            </a:r>
          </a:p>
        </p:txBody>
      </p:sp>
      <p:sp>
        <p:nvSpPr>
          <p:cNvPr id="9014" name="TextBox 9013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36363"/>
                </a:solidFill>
                <a:latin typeface="Arial"/>
                <a:ea typeface="微软雅黑"/>
              </a:rPr>
              <a:t>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0" name="Freeform 5"/>
          <p:cNvSpPr/>
          <p:nvPr/>
        </p:nvSpPr>
        <p:spPr>
          <a:xfrm>
            <a:off x="182880" y="274320"/>
            <a:ext cx="310896" cy="402336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001" name="Picture 9000" descr="beihang-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024" y="91665"/>
            <a:ext cx="2642616" cy="502469"/>
          </a:xfrm>
          <a:prstGeom prst="rect">
            <a:avLst/>
          </a:prstGeom>
        </p:spPr>
      </p:pic>
      <p:sp>
        <p:nvSpPr>
          <p:cNvPr id="9002" name="TextBox 9001"/>
          <p:cNvSpPr txBox="1"/>
          <p:nvPr/>
        </p:nvSpPr>
        <p:spPr>
          <a:xfrm>
            <a:off x="566928" y="155448"/>
            <a:ext cx="8549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3E6A"/>
                </a:solidFill>
                <a:latin typeface="Arial"/>
                <a:ea typeface="微软雅黑"/>
              </a:rPr>
              <a:t>国内外研究现状</a:t>
            </a:r>
          </a:p>
        </p:txBody>
      </p:sp>
      <p:sp>
        <p:nvSpPr>
          <p:cNvPr id="9003" name="TextBox 9002"/>
          <p:cNvSpPr txBox="1"/>
          <p:nvPr/>
        </p:nvSpPr>
        <p:spPr>
          <a:xfrm>
            <a:off x="566928" y="1261872"/>
            <a:ext cx="10881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070C0"/>
                </a:solidFill>
                <a:latin typeface="Arial"/>
                <a:ea typeface="微软雅黑"/>
              </a:rPr>
              <a:t>国外从集中式走到共享状态，国内以 Gödel 分片式多实例为代表；落盘侧仍缺结构化方案</a:t>
            </a:r>
          </a:p>
        </p:txBody>
      </p:sp>
      <p:graphicFrame>
        <p:nvGraphicFramePr>
          <p:cNvPr id="9004" name="Table 9003"/>
          <p:cNvGraphicFramePr>
            <a:graphicFrameLocks noGrp="1"/>
          </p:cNvGraphicFramePr>
          <p:nvPr/>
        </p:nvGraphicFramePr>
        <p:xfrm>
          <a:off x="566928" y="1828800"/>
          <a:ext cx="1106424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51560"/>
                <a:gridCol w="4343400"/>
                <a:gridCol w="338328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系统</a:t>
                      </a:r>
                    </a:p>
                  </a:txBody>
                  <a:tcPr marL="54864" marR="54864" marT="18288" marB="18288" anchor="ctr">
                    <a:solidFill>
                      <a:srgbClr val="113E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区域</a:t>
                      </a:r>
                    </a:p>
                  </a:txBody>
                  <a:tcPr marL="54864" marR="54864" marT="18288" marB="18288" anchor="ctr">
                    <a:solidFill>
                      <a:srgbClr val="113E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架构特征</a:t>
                      </a:r>
                    </a:p>
                  </a:txBody>
                  <a:tcPr marL="54864" marR="54864" marT="18288" marB="18288" anchor="ctr">
                    <a:solidFill>
                      <a:srgbClr val="113E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局限</a:t>
                      </a:r>
                    </a:p>
                  </a:txBody>
                  <a:tcPr marL="54864" marR="54864" marT="18288" marB="18288" anchor="ctr">
                    <a:solidFill>
                      <a:srgbClr val="113E6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Borg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国外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集中式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单点决策路径上限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Omega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国外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共享状态 + 乐观并发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冲突处理复杂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Mesos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国外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两级资源调度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多框架共享开销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kube-scheduler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国外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中心式插件框架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超大规模扩展受限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Gödel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国内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分片式分布式（字节跳动）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独立 Binder 存在瓶颈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Volcano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国内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插件增强（Gang/队列）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中心路径仍有瓶颈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Koordinator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国内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插件增强（QoS/超卖）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单实例扩展受限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05" name="TextBox 9004"/>
          <p:cNvSpPr txBox="1"/>
          <p:nvPr/>
        </p:nvSpPr>
        <p:spPr>
          <a:xfrm>
            <a:off x="566928" y="50749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E2C2C"/>
                </a:solidFill>
                <a:latin typeface="Arial"/>
                <a:ea typeface="微软雅黑"/>
              </a:rPr>
              <a:t>▪  国外：Borg→Omega→Mesos→kube-scheduler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2E2C2C"/>
                </a:solidFill>
                <a:latin typeface="Arial"/>
                <a:ea typeface="微软雅黑"/>
              </a:rPr>
              <a:t>▪  国内：Gödel（字节跳动）做分片，Volcano/Koordinator 做插件增强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2E2C2C"/>
                </a:solidFill>
                <a:latin typeface="Arial"/>
                <a:ea typeface="微软雅黑"/>
              </a:rPr>
              <a:t>▪  缺口：绑定阶段串行化、漂移下的严格一致性</a:t>
            </a:r>
          </a:p>
        </p:txBody>
      </p:sp>
      <p:sp>
        <p:nvSpPr>
          <p:cNvPr id="9006" name="TextBox 9005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36363"/>
                </a:solidFill>
                <a:latin typeface="Arial"/>
                <a:ea typeface="微软雅黑"/>
              </a:rPr>
              <a:t>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0" name="Freeform 5"/>
          <p:cNvSpPr/>
          <p:nvPr/>
        </p:nvSpPr>
        <p:spPr>
          <a:xfrm>
            <a:off x="182880" y="274320"/>
            <a:ext cx="310896" cy="402336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001" name="Picture 9000" descr="beihang-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024" y="91665"/>
            <a:ext cx="2642616" cy="502469"/>
          </a:xfrm>
          <a:prstGeom prst="rect">
            <a:avLst/>
          </a:prstGeom>
        </p:spPr>
      </p:pic>
      <p:sp>
        <p:nvSpPr>
          <p:cNvPr id="9002" name="TextBox 9001"/>
          <p:cNvSpPr txBox="1"/>
          <p:nvPr/>
        </p:nvSpPr>
        <p:spPr>
          <a:xfrm>
            <a:off x="566928" y="155448"/>
            <a:ext cx="8549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3E6A"/>
                </a:solidFill>
                <a:latin typeface="Arial"/>
                <a:ea typeface="微软雅黑"/>
              </a:rPr>
              <a:t>研究内容与创新点</a:t>
            </a:r>
          </a:p>
        </p:txBody>
      </p:sp>
      <p:sp>
        <p:nvSpPr>
          <p:cNvPr id="9003" name="Rounded Rectangle 9002"/>
          <p:cNvSpPr/>
          <p:nvPr/>
        </p:nvSpPr>
        <p:spPr>
          <a:xfrm>
            <a:off x="566928" y="1755648"/>
            <a:ext cx="5404104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4" name="Oval 9003"/>
          <p:cNvSpPr/>
          <p:nvPr/>
        </p:nvSpPr>
        <p:spPr>
          <a:xfrm>
            <a:off x="713232" y="1892807"/>
            <a:ext cx="274320" cy="274320"/>
          </a:xfrm>
          <a:prstGeom prst="ellipse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9005" name="TextBox 9004"/>
          <p:cNvSpPr txBox="1"/>
          <p:nvPr/>
        </p:nvSpPr>
        <p:spPr>
          <a:xfrm>
            <a:off x="1078992" y="1892807"/>
            <a:ext cx="4764024" cy="21305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13E6A"/>
                </a:solidFill>
                <a:latin typeface="Arial"/>
                <a:ea typeface="微软雅黑"/>
              </a:rPr>
              <a:t>创新 1 · ENO 架构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500" b="0">
                <a:solidFill>
                  <a:srgbClr val="2E2C2C"/>
                </a:solidFill>
                <a:latin typeface="Arial"/>
                <a:ea typeface="微软雅黑"/>
              </a:rPr>
              <a:t>单 Dispatcher、多独立 Scheduler；Binder 与决策同域；CacheAdapter 零拷贝共享 SchedulerCache</a:t>
            </a:r>
          </a:p>
        </p:txBody>
      </p:sp>
      <p:sp>
        <p:nvSpPr>
          <p:cNvPr id="9006" name="Rounded Rectangle 9005"/>
          <p:cNvSpPr/>
          <p:nvPr/>
        </p:nvSpPr>
        <p:spPr>
          <a:xfrm>
            <a:off x="6227064" y="1755648"/>
            <a:ext cx="5404104" cy="2331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7" name="Oval 9006"/>
          <p:cNvSpPr/>
          <p:nvPr/>
        </p:nvSpPr>
        <p:spPr>
          <a:xfrm>
            <a:off x="6373368" y="1892807"/>
            <a:ext cx="274320" cy="274320"/>
          </a:xfrm>
          <a:prstGeom prst="ellipse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9008" name="TextBox 9007"/>
          <p:cNvSpPr txBox="1"/>
          <p:nvPr/>
        </p:nvSpPr>
        <p:spPr>
          <a:xfrm>
            <a:off x="6739128" y="1892807"/>
            <a:ext cx="4764024" cy="21305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113E6A"/>
                </a:solidFill>
                <a:latin typeface="Arial"/>
                <a:ea typeface="微软雅黑"/>
              </a:rPr>
              <a:t>创新 2 · 四层容错</a:t>
            </a:r>
          </a:p>
          <a:p>
            <a:pPr algn="l">
              <a:lnSpc>
                <a:spcPct val="115000"/>
              </a:lnSpc>
              <a:spcBef>
                <a:spcPts val="500"/>
              </a:spcBef>
            </a:pPr>
            <a:r>
              <a:rPr sz="1500" b="0">
                <a:solidFill>
                  <a:srgbClr val="2E2C2C"/>
                </a:solidFill>
                <a:latin typeface="Arial"/>
                <a:ea typeface="微软雅黑"/>
              </a:rPr>
              <a:t>L0 归属校验 · L1 同步退避 · L2 异步回收 · L3 全局回退，全部建立在 etcd 原子语义上</a:t>
            </a:r>
          </a:p>
        </p:txBody>
      </p:sp>
      <p:sp>
        <p:nvSpPr>
          <p:cNvPr id="9009" name="Rounded Rectangle 9008"/>
          <p:cNvSpPr/>
          <p:nvPr/>
        </p:nvSpPr>
        <p:spPr>
          <a:xfrm>
            <a:off x="566928" y="4553712"/>
            <a:ext cx="11064240" cy="868680"/>
          </a:xfrm>
          <a:prstGeom prst="roundRect">
            <a:avLst/>
          </a:prstGeom>
          <a:solidFill>
            <a:srgbClr val="F2F4F7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0" name="Rectangle 9009"/>
          <p:cNvSpPr/>
          <p:nvPr/>
        </p:nvSpPr>
        <p:spPr>
          <a:xfrm>
            <a:off x="566928" y="4553712"/>
            <a:ext cx="73152" cy="86868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1" name="TextBox 9010"/>
          <p:cNvSpPr txBox="1"/>
          <p:nvPr/>
        </p:nvSpPr>
        <p:spPr>
          <a:xfrm>
            <a:off x="786384" y="4645152"/>
            <a:ext cx="10607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3E6A"/>
                </a:solidFill>
                <a:latin typeface="Arial"/>
                <a:ea typeface="微软雅黑"/>
              </a:rPr>
              <a:t>两条创新指向同一目标：不改 API 的前提下，让分布式调度既跑得快，稳定性更高。</a:t>
            </a:r>
          </a:p>
        </p:txBody>
      </p:sp>
      <p:sp>
        <p:nvSpPr>
          <p:cNvPr id="9012" name="TextBox 9011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36363"/>
                </a:solidFill>
                <a:latin typeface="Arial"/>
                <a:ea typeface="微软雅黑"/>
              </a:rPr>
              <a:t>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0" name="Freeform 5"/>
          <p:cNvSpPr/>
          <p:nvPr/>
        </p:nvSpPr>
        <p:spPr>
          <a:xfrm>
            <a:off x="182880" y="274320"/>
            <a:ext cx="310896" cy="402336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001" name="Picture 9000" descr="beihang-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024" y="91665"/>
            <a:ext cx="2642616" cy="502469"/>
          </a:xfrm>
          <a:prstGeom prst="rect">
            <a:avLst/>
          </a:prstGeom>
        </p:spPr>
      </p:pic>
      <p:sp>
        <p:nvSpPr>
          <p:cNvPr id="9002" name="TextBox 9001"/>
          <p:cNvSpPr txBox="1"/>
          <p:nvPr/>
        </p:nvSpPr>
        <p:spPr>
          <a:xfrm>
            <a:off x="566928" y="155448"/>
            <a:ext cx="8549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3E6A"/>
                </a:solidFill>
                <a:latin typeface="Arial"/>
                <a:ea typeface="微软雅黑"/>
              </a:rPr>
              <a:t>整体架构图</a:t>
            </a:r>
          </a:p>
        </p:txBody>
      </p:sp>
      <p:pic>
        <p:nvPicPr>
          <p:cNvPr id="9003" name="Picture 9002" descr="fig3-1-system-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464" y="868680"/>
            <a:ext cx="7930591" cy="3520440"/>
          </a:xfrm>
          <a:prstGeom prst="rect">
            <a:avLst/>
          </a:prstGeom>
        </p:spPr>
      </p:pic>
      <p:sp>
        <p:nvSpPr>
          <p:cNvPr id="9004" name="Rounded Rectangle 9003"/>
          <p:cNvSpPr/>
          <p:nvPr/>
        </p:nvSpPr>
        <p:spPr>
          <a:xfrm>
            <a:off x="566928" y="4590288"/>
            <a:ext cx="3535680" cy="14813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5" name="Rectangle 9004"/>
          <p:cNvSpPr/>
          <p:nvPr/>
        </p:nvSpPr>
        <p:spPr>
          <a:xfrm>
            <a:off x="566928" y="4590288"/>
            <a:ext cx="50292" cy="1481328"/>
          </a:xfrm>
          <a:prstGeom prst="rect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6" name="TextBox 9005"/>
          <p:cNvSpPr txBox="1"/>
          <p:nvPr/>
        </p:nvSpPr>
        <p:spPr>
          <a:xfrm>
            <a:off x="749808" y="4700016"/>
            <a:ext cx="3224784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13E6A"/>
                </a:solidFill>
                <a:latin typeface="Arial"/>
                <a:ea typeface="微软雅黑"/>
              </a:rPr>
              <a:t>Dispatcher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250" b="0">
                <a:solidFill>
                  <a:srgbClr val="2E2C2C"/>
                </a:solidFill>
                <a:latin typeface="Arial"/>
                <a:ea typeface="微软雅黑"/>
              </a:rPr>
              <a:t>单实例（Leader Election）。维护节点分区表，按分区把待调度 Pod 分发到对应 Scheduler；绑定失败时清理调度注解，触发全局重分发。</a:t>
            </a:r>
          </a:p>
        </p:txBody>
      </p:sp>
      <p:sp>
        <p:nvSpPr>
          <p:cNvPr id="9007" name="Rounded Rectangle 9006"/>
          <p:cNvSpPr/>
          <p:nvPr/>
        </p:nvSpPr>
        <p:spPr>
          <a:xfrm>
            <a:off x="4331208" y="4590288"/>
            <a:ext cx="3535680" cy="14813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8" name="Rectangle 9007"/>
          <p:cNvSpPr/>
          <p:nvPr/>
        </p:nvSpPr>
        <p:spPr>
          <a:xfrm>
            <a:off x="4331208" y="4590288"/>
            <a:ext cx="50292" cy="1481328"/>
          </a:xfrm>
          <a:prstGeom prst="rect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9" name="TextBox 9008"/>
          <p:cNvSpPr txBox="1"/>
          <p:nvPr/>
        </p:nvSpPr>
        <p:spPr>
          <a:xfrm>
            <a:off x="4514088" y="4700016"/>
            <a:ext cx="3224784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13E6A"/>
                </a:solidFill>
                <a:latin typeface="Arial"/>
                <a:ea typeface="微软雅黑"/>
              </a:rPr>
              <a:t>Scheduler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250" b="0">
                <a:solidFill>
                  <a:srgbClr val="2E2C2C"/>
                </a:solidFill>
                <a:latin typeface="Arial"/>
                <a:ea typeface="微软雅黑"/>
              </a:rPr>
              <a:t>多实例水平扩展。只调度本分区内的节点，依次执行 Filter / Score / Reserve，产出目标节点后交给 Binder 落盘。</a:t>
            </a:r>
          </a:p>
        </p:txBody>
      </p:sp>
      <p:sp>
        <p:nvSpPr>
          <p:cNvPr id="9010" name="Rounded Rectangle 9009"/>
          <p:cNvSpPr/>
          <p:nvPr/>
        </p:nvSpPr>
        <p:spPr>
          <a:xfrm>
            <a:off x="8095488" y="4590288"/>
            <a:ext cx="3535680" cy="14813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1" name="Rectangle 9010"/>
          <p:cNvSpPr/>
          <p:nvPr/>
        </p:nvSpPr>
        <p:spPr>
          <a:xfrm>
            <a:off x="8095488" y="4590288"/>
            <a:ext cx="50292" cy="1481328"/>
          </a:xfrm>
          <a:prstGeom prst="rect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2" name="TextBox 9011"/>
          <p:cNvSpPr txBox="1"/>
          <p:nvPr/>
        </p:nvSpPr>
        <p:spPr>
          <a:xfrm>
            <a:off x="8278367" y="4700016"/>
            <a:ext cx="3224784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13E6A"/>
                </a:solidFill>
                <a:latin typeface="Arial"/>
                <a:ea typeface="微软雅黑"/>
              </a:rPr>
              <a:t>Binder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250" b="0">
                <a:solidFill>
                  <a:srgbClr val="2E2C2C"/>
                </a:solidFill>
                <a:latin typeface="Arial"/>
                <a:ea typeface="微软雅黑"/>
              </a:rPr>
              <a:t>与 Scheduler 同进程。执行 Bind 子资源原子写；失败时按四层机制重试、回收孤儿状态，必要时上升到跨实例回退。</a:t>
            </a:r>
          </a:p>
        </p:txBody>
      </p:sp>
      <p:sp>
        <p:nvSpPr>
          <p:cNvPr id="9013" name="TextBox 9012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36363"/>
                </a:solidFill>
                <a:latin typeface="Arial"/>
                <a:ea typeface="微软雅黑"/>
              </a:rPr>
              <a:t>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0" name="Freeform 5"/>
          <p:cNvSpPr/>
          <p:nvPr/>
        </p:nvSpPr>
        <p:spPr>
          <a:xfrm>
            <a:off x="182880" y="274320"/>
            <a:ext cx="310896" cy="402336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001" name="Picture 9000" descr="beihang-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024" y="91665"/>
            <a:ext cx="2642616" cy="502469"/>
          </a:xfrm>
          <a:prstGeom prst="rect">
            <a:avLst/>
          </a:prstGeom>
        </p:spPr>
      </p:pic>
      <p:sp>
        <p:nvSpPr>
          <p:cNvPr id="9002" name="TextBox 9001"/>
          <p:cNvSpPr txBox="1"/>
          <p:nvPr/>
        </p:nvSpPr>
        <p:spPr>
          <a:xfrm>
            <a:off x="566928" y="155448"/>
            <a:ext cx="8549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3E6A"/>
                </a:solidFill>
                <a:latin typeface="Arial"/>
                <a:ea typeface="微软雅黑"/>
              </a:rPr>
              <a:t>Dispatcher 内部流程</a:t>
            </a:r>
          </a:p>
        </p:txBody>
      </p:sp>
      <p:pic>
        <p:nvPicPr>
          <p:cNvPr id="9003" name="Picture 9002" descr="fig3-3-dispatcher-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0114" y="868680"/>
            <a:ext cx="5861290" cy="3703320"/>
          </a:xfrm>
          <a:prstGeom prst="rect">
            <a:avLst/>
          </a:prstGeom>
        </p:spPr>
      </p:pic>
      <p:sp>
        <p:nvSpPr>
          <p:cNvPr id="9004" name="Rounded Rectangle 9003"/>
          <p:cNvSpPr/>
          <p:nvPr/>
        </p:nvSpPr>
        <p:spPr>
          <a:xfrm>
            <a:off x="566928" y="4754880"/>
            <a:ext cx="35356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5" name="Rectangle 9004"/>
          <p:cNvSpPr/>
          <p:nvPr/>
        </p:nvSpPr>
        <p:spPr>
          <a:xfrm>
            <a:off x="566928" y="4754880"/>
            <a:ext cx="50292" cy="1417320"/>
          </a:xfrm>
          <a:prstGeom prst="rect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6" name="TextBox 9005"/>
          <p:cNvSpPr txBox="1"/>
          <p:nvPr/>
        </p:nvSpPr>
        <p:spPr>
          <a:xfrm>
            <a:off x="749808" y="4864608"/>
            <a:ext cx="3224784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13E6A"/>
                </a:solidFill>
                <a:latin typeface="Arial"/>
                <a:ea typeface="微软雅黑"/>
              </a:rPr>
              <a:t>① 排序入队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250" b="0">
                <a:solidFill>
                  <a:srgbClr val="2E2C2C"/>
                </a:solidFill>
                <a:latin typeface="Arial"/>
                <a:ea typeface="微软雅黑"/>
              </a:rPr>
              <a:t>Informer 观察到 nodeName 为空、且无 scheduler-name 注解的新 Pod，按 FIFO 排序后进入有序队列</a:t>
            </a:r>
          </a:p>
        </p:txBody>
      </p:sp>
      <p:sp>
        <p:nvSpPr>
          <p:cNvPr id="9007" name="Rounded Rectangle 9006"/>
          <p:cNvSpPr/>
          <p:nvPr/>
        </p:nvSpPr>
        <p:spPr>
          <a:xfrm>
            <a:off x="4331208" y="4754880"/>
            <a:ext cx="35356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8" name="Rectangle 9007"/>
          <p:cNvSpPr/>
          <p:nvPr/>
        </p:nvSpPr>
        <p:spPr>
          <a:xfrm>
            <a:off x="4331208" y="4754880"/>
            <a:ext cx="50292" cy="1417320"/>
          </a:xfrm>
          <a:prstGeom prst="rect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9" name="TextBox 9008"/>
          <p:cNvSpPr txBox="1"/>
          <p:nvPr/>
        </p:nvSpPr>
        <p:spPr>
          <a:xfrm>
            <a:off x="4514088" y="4864608"/>
            <a:ext cx="3224784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13E6A"/>
                </a:solidFill>
                <a:latin typeface="Arial"/>
                <a:ea typeface="微软雅黑"/>
              </a:rPr>
              <a:t>② 分发决策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250" b="0">
                <a:solidFill>
                  <a:srgbClr val="2E2C2C"/>
                </a:solidFill>
                <a:latin typeface="Arial"/>
                <a:ea typeface="微软雅黑"/>
              </a:rPr>
              <a:t>PodGroup 成员复用该组已分配的实例；否则按负载均衡（MaxIdle 加权轮询）挑选最空闲的 Scheduler</a:t>
            </a:r>
          </a:p>
        </p:txBody>
      </p:sp>
      <p:sp>
        <p:nvSpPr>
          <p:cNvPr id="9010" name="Rounded Rectangle 9009"/>
          <p:cNvSpPr/>
          <p:nvPr/>
        </p:nvSpPr>
        <p:spPr>
          <a:xfrm>
            <a:off x="8095488" y="4754880"/>
            <a:ext cx="35356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1" name="Rectangle 9010"/>
          <p:cNvSpPr/>
          <p:nvPr/>
        </p:nvSpPr>
        <p:spPr>
          <a:xfrm>
            <a:off x="8095488" y="4754880"/>
            <a:ext cx="50292" cy="1417320"/>
          </a:xfrm>
          <a:prstGeom prst="rect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2" name="TextBox 9011"/>
          <p:cNvSpPr txBox="1"/>
          <p:nvPr/>
        </p:nvSpPr>
        <p:spPr>
          <a:xfrm>
            <a:off x="8278367" y="4864608"/>
            <a:ext cx="3224784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13E6A"/>
                </a:solidFill>
                <a:latin typeface="Arial"/>
                <a:ea typeface="微软雅黑"/>
              </a:rPr>
              <a:t>③ 写入并跟踪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250" b="0">
                <a:solidFill>
                  <a:srgbClr val="2E2C2C"/>
                </a:solidFill>
                <a:latin typeface="Arial"/>
                <a:ea typeface="微软雅黑"/>
              </a:rPr>
              <a:t>PatchPod 写入 scheduler-name 完成分发；持续观察绑定结果，失败进入不可调度队列等待重分</a:t>
            </a:r>
          </a:p>
        </p:txBody>
      </p:sp>
      <p:sp>
        <p:nvSpPr>
          <p:cNvPr id="9013" name="TextBox 9012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36363"/>
                </a:solidFill>
                <a:latin typeface="Arial"/>
                <a:ea typeface="微软雅黑"/>
              </a:rPr>
              <a:t>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0" name="Freeform 5"/>
          <p:cNvSpPr/>
          <p:nvPr/>
        </p:nvSpPr>
        <p:spPr>
          <a:xfrm>
            <a:off x="182880" y="274320"/>
            <a:ext cx="310896" cy="402336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001" name="Picture 9000" descr="beihang-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024" y="91665"/>
            <a:ext cx="2642616" cy="502469"/>
          </a:xfrm>
          <a:prstGeom prst="rect">
            <a:avLst/>
          </a:prstGeom>
        </p:spPr>
      </p:pic>
      <p:sp>
        <p:nvSpPr>
          <p:cNvPr id="9002" name="TextBox 9001"/>
          <p:cNvSpPr txBox="1"/>
          <p:nvPr/>
        </p:nvSpPr>
        <p:spPr>
          <a:xfrm>
            <a:off x="566928" y="155448"/>
            <a:ext cx="8549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3E6A"/>
                </a:solidFill>
                <a:latin typeface="Arial"/>
                <a:ea typeface="微软雅黑"/>
              </a:rPr>
              <a:t>Scheduler 内部流程</a:t>
            </a:r>
          </a:p>
        </p:txBody>
      </p:sp>
      <p:pic>
        <p:nvPicPr>
          <p:cNvPr id="9003" name="Picture 9002" descr="fig3-4-scheduler-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7347" y="868680"/>
            <a:ext cx="5666825" cy="3703320"/>
          </a:xfrm>
          <a:prstGeom prst="rect">
            <a:avLst/>
          </a:prstGeom>
        </p:spPr>
      </p:pic>
      <p:sp>
        <p:nvSpPr>
          <p:cNvPr id="9004" name="Rounded Rectangle 9003"/>
          <p:cNvSpPr/>
          <p:nvPr/>
        </p:nvSpPr>
        <p:spPr>
          <a:xfrm>
            <a:off x="566928" y="4754880"/>
            <a:ext cx="35356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5" name="Rectangle 9004"/>
          <p:cNvSpPr/>
          <p:nvPr/>
        </p:nvSpPr>
        <p:spPr>
          <a:xfrm>
            <a:off x="566928" y="4754880"/>
            <a:ext cx="50292" cy="1417320"/>
          </a:xfrm>
          <a:prstGeom prst="rect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6" name="TextBox 9005"/>
          <p:cNvSpPr txBox="1"/>
          <p:nvPr/>
        </p:nvSpPr>
        <p:spPr>
          <a:xfrm>
            <a:off x="749808" y="4864608"/>
            <a:ext cx="3224784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13E6A"/>
                </a:solidFill>
                <a:latin typeface="Arial"/>
                <a:ea typeface="微软雅黑"/>
              </a:rPr>
              <a:t>① 入队与预处理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250" b="0">
                <a:solidFill>
                  <a:srgbClr val="2E2C2C"/>
                </a:solidFill>
                <a:latin typeface="Arial"/>
                <a:ea typeface="微软雅黑"/>
              </a:rPr>
              <a:t>只接 scheduler-name 匹配自身的 Pod；pre-queue 插件校验 PodGroup 成员与亲和依赖，不通过则退回 Dispatcher</a:t>
            </a:r>
          </a:p>
        </p:txBody>
      </p:sp>
      <p:sp>
        <p:nvSpPr>
          <p:cNvPr id="9007" name="Rounded Rectangle 9006"/>
          <p:cNvSpPr/>
          <p:nvPr/>
        </p:nvSpPr>
        <p:spPr>
          <a:xfrm>
            <a:off x="4331208" y="4754880"/>
            <a:ext cx="35356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8" name="Rectangle 9007"/>
          <p:cNvSpPr/>
          <p:nvPr/>
        </p:nvSpPr>
        <p:spPr>
          <a:xfrm>
            <a:off x="4331208" y="4754880"/>
            <a:ext cx="50292" cy="1417320"/>
          </a:xfrm>
          <a:prstGeom prst="rect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9" name="TextBox 9008"/>
          <p:cNvSpPr txBox="1"/>
          <p:nvPr/>
        </p:nvSpPr>
        <p:spPr>
          <a:xfrm>
            <a:off x="4514088" y="4864608"/>
            <a:ext cx="3224784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13E6A"/>
                </a:solidFill>
                <a:latin typeface="Arial"/>
                <a:ea typeface="微软雅黑"/>
              </a:rPr>
              <a:t>② 调度循环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250" b="0">
                <a:solidFill>
                  <a:srgbClr val="2E2C2C"/>
                </a:solidFill>
                <a:latin typeface="Arial"/>
                <a:ea typeface="微软雅黑"/>
              </a:rPr>
              <a:t>从 activeQ 弹出后依次 Filter（剔除硬约束不满足）、Score（打分）、Reserve（标记候选并写 Assumed 状态）</a:t>
            </a:r>
          </a:p>
        </p:txBody>
      </p:sp>
      <p:sp>
        <p:nvSpPr>
          <p:cNvPr id="9010" name="Rounded Rectangle 9009"/>
          <p:cNvSpPr/>
          <p:nvPr/>
        </p:nvSpPr>
        <p:spPr>
          <a:xfrm>
            <a:off x="8095488" y="4754880"/>
            <a:ext cx="35356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1" name="Rectangle 9010"/>
          <p:cNvSpPr/>
          <p:nvPr/>
        </p:nvSpPr>
        <p:spPr>
          <a:xfrm>
            <a:off x="8095488" y="4754880"/>
            <a:ext cx="50292" cy="1417320"/>
          </a:xfrm>
          <a:prstGeom prst="rect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2" name="TextBox 9011"/>
          <p:cNvSpPr txBox="1"/>
          <p:nvPr/>
        </p:nvSpPr>
        <p:spPr>
          <a:xfrm>
            <a:off x="8278367" y="4864608"/>
            <a:ext cx="3224784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13E6A"/>
                </a:solidFill>
                <a:latin typeface="Arial"/>
                <a:ea typeface="微软雅黑"/>
              </a:rPr>
              <a:t>③ 绑定与回流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250" b="0">
                <a:solidFill>
                  <a:srgbClr val="2E2C2C"/>
                </a:solidFill>
                <a:latin typeface="Arial"/>
                <a:ea typeface="微软雅黑"/>
              </a:rPr>
              <a:t>Reserve 后调用 Binder 执行 Bind；失败进入 backoffQ 指数退避，多次失败则退回 Dispatcher 触发跨实例回退</a:t>
            </a:r>
          </a:p>
        </p:txBody>
      </p:sp>
      <p:sp>
        <p:nvSpPr>
          <p:cNvPr id="9013" name="TextBox 9012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36363"/>
                </a:solidFill>
                <a:latin typeface="Arial"/>
                <a:ea typeface="微软雅黑"/>
              </a:rPr>
              <a:t>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0" name="Freeform 5"/>
          <p:cNvSpPr/>
          <p:nvPr/>
        </p:nvSpPr>
        <p:spPr>
          <a:xfrm>
            <a:off x="182880" y="274320"/>
            <a:ext cx="310896" cy="402336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001" name="Picture 9000" descr="beihang-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024" y="91665"/>
            <a:ext cx="2642616" cy="502469"/>
          </a:xfrm>
          <a:prstGeom prst="rect">
            <a:avLst/>
          </a:prstGeom>
        </p:spPr>
      </p:pic>
      <p:sp>
        <p:nvSpPr>
          <p:cNvPr id="9002" name="TextBox 9001"/>
          <p:cNvSpPr txBox="1"/>
          <p:nvPr/>
        </p:nvSpPr>
        <p:spPr>
          <a:xfrm>
            <a:off x="566928" y="155448"/>
            <a:ext cx="8549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3E6A"/>
                </a:solidFill>
                <a:latin typeface="Arial"/>
                <a:ea typeface="微软雅黑"/>
              </a:rPr>
              <a:t>进程内 Binder 架构</a:t>
            </a:r>
          </a:p>
        </p:txBody>
      </p:sp>
      <p:sp>
        <p:nvSpPr>
          <p:cNvPr id="9003" name="TextBox 9002"/>
          <p:cNvSpPr txBox="1"/>
          <p:nvPr/>
        </p:nvSpPr>
        <p:spPr>
          <a:xfrm>
            <a:off x="566928" y="1261872"/>
            <a:ext cx="10881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070C0"/>
                </a:solidFill>
                <a:latin typeface="Arial"/>
                <a:ea typeface="微软雅黑"/>
              </a:rPr>
              <a:t>去掉一次跨进程绑定链路，是吞吐提升的第一性来源</a:t>
            </a:r>
          </a:p>
        </p:txBody>
      </p:sp>
      <p:pic>
        <p:nvPicPr>
          <p:cNvPr id="9004" name="Picture 9003" descr="fig5-1a-shared-bin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676" y="1828800"/>
            <a:ext cx="3751462" cy="3200400"/>
          </a:xfrm>
          <a:prstGeom prst="rect">
            <a:avLst/>
          </a:prstGeom>
        </p:spPr>
      </p:pic>
      <p:pic>
        <p:nvPicPr>
          <p:cNvPr id="9005" name="Picture 9004" descr="fig5-1b-eno-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9354" y="1828800"/>
            <a:ext cx="1580651" cy="3200400"/>
          </a:xfrm>
          <a:prstGeom prst="rect">
            <a:avLst/>
          </a:prstGeom>
        </p:spPr>
      </p:pic>
      <p:sp>
        <p:nvSpPr>
          <p:cNvPr id="9006" name="TextBox 9005"/>
          <p:cNvSpPr txBox="1"/>
          <p:nvPr/>
        </p:nvSpPr>
        <p:spPr>
          <a:xfrm>
            <a:off x="566928" y="5138928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2E2C2C"/>
                </a:solidFill>
                <a:latin typeface="Arial"/>
                <a:ea typeface="微软雅黑"/>
              </a:rPr>
              <a:t>▪  绑定与决策同域，事件传递归零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2E2C2C"/>
                </a:solidFill>
                <a:latin typeface="Arial"/>
                <a:ea typeface="微软雅黑"/>
              </a:rPr>
              <a:t>▪  序列化与网络往返被消除</a:t>
            </a:r>
          </a:p>
        </p:txBody>
      </p:sp>
      <p:sp>
        <p:nvSpPr>
          <p:cNvPr id="9007" name="TextBox 9006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36363"/>
                </a:solidFill>
                <a:latin typeface="Arial"/>
                <a:ea typeface="微软雅黑"/>
              </a:rPr>
              <a:t>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0" name="Freeform 5"/>
          <p:cNvSpPr/>
          <p:nvPr/>
        </p:nvSpPr>
        <p:spPr>
          <a:xfrm>
            <a:off x="182880" y="274320"/>
            <a:ext cx="310896" cy="402336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001" name="Picture 9000" descr="beihang-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024" y="91665"/>
            <a:ext cx="2642616" cy="502469"/>
          </a:xfrm>
          <a:prstGeom prst="rect">
            <a:avLst/>
          </a:prstGeom>
        </p:spPr>
      </p:pic>
      <p:sp>
        <p:nvSpPr>
          <p:cNvPr id="9002" name="TextBox 9001"/>
          <p:cNvSpPr txBox="1"/>
          <p:nvPr/>
        </p:nvSpPr>
        <p:spPr>
          <a:xfrm>
            <a:off x="566928" y="155448"/>
            <a:ext cx="8549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3E6A"/>
                </a:solidFill>
                <a:latin typeface="Arial"/>
                <a:ea typeface="微软雅黑"/>
              </a:rPr>
              <a:t>CacheAdapter</a:t>
            </a:r>
          </a:p>
        </p:txBody>
      </p:sp>
      <p:pic>
        <p:nvPicPr>
          <p:cNvPr id="9003" name="Picture 9002" descr="fig5-2-cache-zero-co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8698" y="868680"/>
            <a:ext cx="4504123" cy="3703320"/>
          </a:xfrm>
          <a:prstGeom prst="rect">
            <a:avLst/>
          </a:prstGeom>
        </p:spPr>
      </p:pic>
      <p:sp>
        <p:nvSpPr>
          <p:cNvPr id="9004" name="Rounded Rectangle 9003"/>
          <p:cNvSpPr/>
          <p:nvPr/>
        </p:nvSpPr>
        <p:spPr>
          <a:xfrm>
            <a:off x="566928" y="4754880"/>
            <a:ext cx="35356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5" name="Rectangle 9004"/>
          <p:cNvSpPr/>
          <p:nvPr/>
        </p:nvSpPr>
        <p:spPr>
          <a:xfrm>
            <a:off x="566928" y="4754880"/>
            <a:ext cx="50292" cy="1417320"/>
          </a:xfrm>
          <a:prstGeom prst="rect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6" name="TextBox 9005"/>
          <p:cNvSpPr txBox="1"/>
          <p:nvPr/>
        </p:nvSpPr>
        <p:spPr>
          <a:xfrm>
            <a:off x="749808" y="4864608"/>
            <a:ext cx="3224784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13E6A"/>
                </a:solidFill>
                <a:latin typeface="Arial"/>
                <a:ea typeface="微软雅黑"/>
              </a:rPr>
              <a:t>① 共享同一实例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250" b="0">
                <a:solidFill>
                  <a:srgbClr val="2E2C2C"/>
                </a:solidFill>
                <a:latin typeface="Arial"/>
                <a:ea typeface="微软雅黑"/>
              </a:rPr>
              <a:t>CacheAdapter 把 Scheduler 的 SchedulerCache 交给进程内 Binder，两边持有同一份缓存对象</a:t>
            </a:r>
          </a:p>
        </p:txBody>
      </p:sp>
      <p:sp>
        <p:nvSpPr>
          <p:cNvPr id="9007" name="Rounded Rectangle 9006"/>
          <p:cNvSpPr/>
          <p:nvPr/>
        </p:nvSpPr>
        <p:spPr>
          <a:xfrm>
            <a:off x="4331208" y="4754880"/>
            <a:ext cx="35356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8" name="Rectangle 9007"/>
          <p:cNvSpPr/>
          <p:nvPr/>
        </p:nvSpPr>
        <p:spPr>
          <a:xfrm>
            <a:off x="4331208" y="4754880"/>
            <a:ext cx="50292" cy="1417320"/>
          </a:xfrm>
          <a:prstGeom prst="rect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9" name="TextBox 9008"/>
          <p:cNvSpPr txBox="1"/>
          <p:nvPr/>
        </p:nvSpPr>
        <p:spPr>
          <a:xfrm>
            <a:off x="4514088" y="4864608"/>
            <a:ext cx="3224784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13E6A"/>
                </a:solidFill>
                <a:latin typeface="Arial"/>
                <a:ea typeface="微软雅黑"/>
              </a:rPr>
              <a:t>② 零拷贝、零同步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250" b="0">
                <a:solidFill>
                  <a:srgbClr val="2E2C2C"/>
                </a:solidFill>
                <a:latin typeface="Arial"/>
                <a:ea typeface="微软雅黑"/>
              </a:rPr>
              <a:t>状态以引用传递，不做序列化复制，也没有跨进程的同步延迟与网络往返</a:t>
            </a:r>
          </a:p>
        </p:txBody>
      </p:sp>
      <p:sp>
        <p:nvSpPr>
          <p:cNvPr id="9010" name="Rounded Rectangle 9009"/>
          <p:cNvSpPr/>
          <p:nvPr/>
        </p:nvSpPr>
        <p:spPr>
          <a:xfrm>
            <a:off x="8095488" y="4754880"/>
            <a:ext cx="35356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1" name="Rectangle 9010"/>
          <p:cNvSpPr/>
          <p:nvPr/>
        </p:nvSpPr>
        <p:spPr>
          <a:xfrm>
            <a:off x="8095488" y="4754880"/>
            <a:ext cx="50292" cy="1417320"/>
          </a:xfrm>
          <a:prstGeom prst="rect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2" name="TextBox 9011"/>
          <p:cNvSpPr txBox="1"/>
          <p:nvPr/>
        </p:nvSpPr>
        <p:spPr>
          <a:xfrm>
            <a:off x="8278367" y="4864608"/>
            <a:ext cx="3224784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13E6A"/>
                </a:solidFill>
                <a:latin typeface="Arial"/>
                <a:ea typeface="微软雅黑"/>
              </a:rPr>
              <a:t>③ 同一份真相</a:t>
            </a:r>
          </a:p>
          <a:p>
            <a:pPr algn="l">
              <a:lnSpc>
                <a:spcPct val="118000"/>
              </a:lnSpc>
              <a:spcBef>
                <a:spcPts val="400"/>
              </a:spcBef>
            </a:pPr>
            <a:r>
              <a:rPr sz="1250" b="0">
                <a:solidFill>
                  <a:srgbClr val="2E2C2C"/>
                </a:solidFill>
                <a:latin typeface="Arial"/>
                <a:ea typeface="微软雅黑"/>
              </a:rPr>
              <a:t>Layer 0 的节点归属校验读的就是这份缓存，Scheduler 与 Binder 看到的状态一致</a:t>
            </a:r>
          </a:p>
        </p:txBody>
      </p:sp>
      <p:sp>
        <p:nvSpPr>
          <p:cNvPr id="9013" name="TextBox 9012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36363"/>
                </a:solidFill>
                <a:latin typeface="Arial"/>
                <a:ea typeface="微软雅黑"/>
              </a:rPr>
              <a:t>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0" name="Freeform 5"/>
          <p:cNvSpPr/>
          <p:nvPr/>
        </p:nvSpPr>
        <p:spPr>
          <a:xfrm>
            <a:off x="182880" y="274320"/>
            <a:ext cx="310896" cy="402336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001" name="Picture 9000" descr="beihang-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024" y="91665"/>
            <a:ext cx="2642616" cy="502469"/>
          </a:xfrm>
          <a:prstGeom prst="rect">
            <a:avLst/>
          </a:prstGeom>
        </p:spPr>
      </p:pic>
      <p:sp>
        <p:nvSpPr>
          <p:cNvPr id="9002" name="TextBox 9001"/>
          <p:cNvSpPr txBox="1"/>
          <p:nvPr/>
        </p:nvSpPr>
        <p:spPr>
          <a:xfrm>
            <a:off x="566928" y="155448"/>
            <a:ext cx="8549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3E6A"/>
                </a:solidFill>
                <a:latin typeface="Arial"/>
                <a:ea typeface="微软雅黑"/>
              </a:rPr>
              <a:t>四层绑定容错</a:t>
            </a:r>
          </a:p>
        </p:txBody>
      </p:sp>
      <p:sp>
        <p:nvSpPr>
          <p:cNvPr id="9003" name="TextBox 9002"/>
          <p:cNvSpPr txBox="1"/>
          <p:nvPr/>
        </p:nvSpPr>
        <p:spPr>
          <a:xfrm>
            <a:off x="566928" y="1261872"/>
            <a:ext cx="10881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070C0"/>
                </a:solidFill>
                <a:latin typeface="Arial"/>
                <a:ea typeface="微软雅黑"/>
              </a:rPr>
              <a:t>每一层对应一类威胁，并分别依赖一种 etcd 原子语义</a:t>
            </a:r>
          </a:p>
        </p:txBody>
      </p:sp>
      <p:sp>
        <p:nvSpPr>
          <p:cNvPr id="9004" name="Rectangle 9003"/>
          <p:cNvSpPr/>
          <p:nvPr/>
        </p:nvSpPr>
        <p:spPr>
          <a:xfrm>
            <a:off x="2212848" y="1847088"/>
            <a:ext cx="25603" cy="4041648"/>
          </a:xfrm>
          <a:prstGeom prst="rect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5" name="Oval 9004"/>
          <p:cNvSpPr/>
          <p:nvPr/>
        </p:nvSpPr>
        <p:spPr>
          <a:xfrm>
            <a:off x="2139696" y="2157984"/>
            <a:ext cx="201168" cy="201168"/>
          </a:xfrm>
          <a:prstGeom prst="ellipse">
            <a:avLst/>
          </a:prstGeom>
          <a:solidFill>
            <a:srgbClr val="113E6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6" name="TextBox 9005"/>
          <p:cNvSpPr txBox="1"/>
          <p:nvPr/>
        </p:nvSpPr>
        <p:spPr>
          <a:xfrm>
            <a:off x="566928" y="1993392"/>
            <a:ext cx="144475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113E6A"/>
                </a:solidFill>
                <a:latin typeface="Arial"/>
                <a:ea typeface="微软雅黑"/>
              </a:rPr>
              <a:t>Layer 0</a:t>
            </a:r>
          </a:p>
          <a:p>
            <a:pPr algn="r">
              <a:spcBef>
                <a:spcPts val="100"/>
              </a:spcBef>
            </a:pPr>
            <a:r>
              <a:rPr sz="1000" b="0">
                <a:solidFill>
                  <a:srgbClr val="636363"/>
                </a:solidFill>
                <a:latin typeface="Arial"/>
                <a:ea typeface="微软雅黑"/>
              </a:rPr>
              <a:t>预防</a:t>
            </a:r>
          </a:p>
        </p:txBody>
      </p:sp>
      <p:sp>
        <p:nvSpPr>
          <p:cNvPr id="9007" name="Rounded Rectangle 9006"/>
          <p:cNvSpPr/>
          <p:nvPr/>
        </p:nvSpPr>
        <p:spPr>
          <a:xfrm>
            <a:off x="2450592" y="1828800"/>
            <a:ext cx="8961120" cy="9692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8" name="TextBox 9007"/>
          <p:cNvSpPr txBox="1"/>
          <p:nvPr/>
        </p:nvSpPr>
        <p:spPr>
          <a:xfrm>
            <a:off x="2615184" y="1892807"/>
            <a:ext cx="864108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E2C2C"/>
                </a:solidFill>
                <a:latin typeface="Arial"/>
                <a:ea typeface="微软雅黑"/>
              </a:rPr>
              <a:t>威胁：T0 节点分区归属漂移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1000" b="0">
                <a:solidFill>
                  <a:srgbClr val="2E2C2C"/>
                </a:solidFill>
                <a:latin typeface="Arial"/>
                <a:ea typeface="微软雅黑"/>
              </a:rPr>
              <a:t>动作：Bind 前校验 Node 的 eno.io/scheduler-name 注解，非本分区直接拒绝并清理注解回退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950" b="0">
                <a:solidFill>
                  <a:srgbClr val="636363"/>
                </a:solidFill>
                <a:latin typeface="Arial"/>
                <a:ea typeface="微软雅黑"/>
              </a:rPr>
              <a:t>依赖：resourceVersion 乐观并发</a:t>
            </a:r>
          </a:p>
        </p:txBody>
      </p:sp>
      <p:sp>
        <p:nvSpPr>
          <p:cNvPr id="9009" name="Oval 9008"/>
          <p:cNvSpPr/>
          <p:nvPr/>
        </p:nvSpPr>
        <p:spPr>
          <a:xfrm>
            <a:off x="2139696" y="3200399"/>
            <a:ext cx="201168" cy="201168"/>
          </a:xfrm>
          <a:prstGeom prst="ellipse">
            <a:avLst/>
          </a:prstGeom>
          <a:solidFill>
            <a:srgbClr val="113E6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0" name="TextBox 9009"/>
          <p:cNvSpPr txBox="1"/>
          <p:nvPr/>
        </p:nvSpPr>
        <p:spPr>
          <a:xfrm>
            <a:off x="566928" y="3035808"/>
            <a:ext cx="144475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113E6A"/>
                </a:solidFill>
                <a:latin typeface="Arial"/>
                <a:ea typeface="微软雅黑"/>
              </a:rPr>
              <a:t>Layer 1</a:t>
            </a:r>
          </a:p>
          <a:p>
            <a:pPr algn="r">
              <a:spcBef>
                <a:spcPts val="100"/>
              </a:spcBef>
            </a:pPr>
            <a:r>
              <a:rPr sz="1000" b="0">
                <a:solidFill>
                  <a:srgbClr val="636363"/>
                </a:solidFill>
                <a:latin typeface="Arial"/>
                <a:ea typeface="微软雅黑"/>
              </a:rPr>
              <a:t>即时恢复</a:t>
            </a:r>
          </a:p>
        </p:txBody>
      </p:sp>
      <p:sp>
        <p:nvSpPr>
          <p:cNvPr id="9011" name="Rounded Rectangle 9010"/>
          <p:cNvSpPr/>
          <p:nvPr/>
        </p:nvSpPr>
        <p:spPr>
          <a:xfrm>
            <a:off x="2450592" y="2871215"/>
            <a:ext cx="8961120" cy="9692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2" name="TextBox 9011"/>
          <p:cNvSpPr txBox="1"/>
          <p:nvPr/>
        </p:nvSpPr>
        <p:spPr>
          <a:xfrm>
            <a:off x="2615184" y="2935223"/>
            <a:ext cx="864108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E2C2C"/>
                </a:solidFill>
                <a:latin typeface="Arial"/>
                <a:ea typeface="微软雅黑"/>
              </a:rPr>
              <a:t>威胁：T1 Bind 返回 409 Conflict / 429 TooManyRequests / ServerTimeout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1000" b="0">
                <a:solidFill>
                  <a:srgbClr val="2E2C2C"/>
                </a:solidFill>
                <a:latin typeface="Arial"/>
                <a:ea typeface="微软雅黑"/>
              </a:rPr>
              <a:t>动作：线性退避 n×100ms（100/200/300ms），最多 3 次；仅这三类重试，其余错误立即上抛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950" b="0">
                <a:solidFill>
                  <a:srgbClr val="636363"/>
                </a:solidFill>
                <a:latin typeface="Arial"/>
                <a:ea typeface="微软雅黑"/>
              </a:rPr>
              <a:t>依赖：Bind 原子性：重复 Bind 返回 409，可视为成功</a:t>
            </a:r>
          </a:p>
        </p:txBody>
      </p:sp>
      <p:sp>
        <p:nvSpPr>
          <p:cNvPr id="9013" name="Oval 9012"/>
          <p:cNvSpPr/>
          <p:nvPr/>
        </p:nvSpPr>
        <p:spPr>
          <a:xfrm>
            <a:off x="2139696" y="4242816"/>
            <a:ext cx="201168" cy="201168"/>
          </a:xfrm>
          <a:prstGeom prst="ellipse">
            <a:avLst/>
          </a:prstGeom>
          <a:solidFill>
            <a:srgbClr val="113E6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4" name="TextBox 9013"/>
          <p:cNvSpPr txBox="1"/>
          <p:nvPr/>
        </p:nvSpPr>
        <p:spPr>
          <a:xfrm>
            <a:off x="566928" y="4078223"/>
            <a:ext cx="144475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113E6A"/>
                </a:solidFill>
                <a:latin typeface="Arial"/>
                <a:ea typeface="微软雅黑"/>
              </a:rPr>
              <a:t>Layer 2</a:t>
            </a:r>
          </a:p>
          <a:p>
            <a:pPr algn="r">
              <a:spcBef>
                <a:spcPts val="100"/>
              </a:spcBef>
            </a:pPr>
            <a:r>
              <a:rPr sz="1000" b="0">
                <a:solidFill>
                  <a:srgbClr val="636363"/>
                </a:solidFill>
                <a:latin typeface="Arial"/>
                <a:ea typeface="微软雅黑"/>
              </a:rPr>
              <a:t>后台回收</a:t>
            </a:r>
          </a:p>
        </p:txBody>
      </p:sp>
      <p:sp>
        <p:nvSpPr>
          <p:cNvPr id="9015" name="Rounded Rectangle 9014"/>
          <p:cNvSpPr/>
          <p:nvPr/>
        </p:nvSpPr>
        <p:spPr>
          <a:xfrm>
            <a:off x="2450592" y="3913631"/>
            <a:ext cx="8961120" cy="9692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6" name="TextBox 9015"/>
          <p:cNvSpPr txBox="1"/>
          <p:nvPr/>
        </p:nvSpPr>
        <p:spPr>
          <a:xfrm>
            <a:off x="2615184" y="3977639"/>
            <a:ext cx="864108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E2C2C"/>
                </a:solidFill>
                <a:latin typeface="Arial"/>
                <a:ea typeface="微软雅黑"/>
              </a:rPr>
              <a:t>威胁：T2 Bind 失败后 scheduler-name、assumed-node 注解残留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1000" b="0">
                <a:solidFill>
                  <a:srgbClr val="2E2C2C"/>
                </a:solidFill>
                <a:latin typeface="Arial"/>
                <a:ea typeface="微软雅黑"/>
              </a:rPr>
              <a:t>动作：异步 Reconciler 消费失败队列，PatchPod 清理调度注解，按失败计数决定本地重试或升 L3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950" b="0">
                <a:solidFill>
                  <a:srgbClr val="636363"/>
                </a:solidFill>
                <a:latin typeface="Arial"/>
                <a:ea typeface="微软雅黑"/>
              </a:rPr>
              <a:t>依赖：Watch 一致性视图；NotFound 直接丢弃</a:t>
            </a:r>
          </a:p>
        </p:txBody>
      </p:sp>
      <p:sp>
        <p:nvSpPr>
          <p:cNvPr id="9017" name="Oval 9016"/>
          <p:cNvSpPr/>
          <p:nvPr/>
        </p:nvSpPr>
        <p:spPr>
          <a:xfrm>
            <a:off x="2139696" y="5285232"/>
            <a:ext cx="201168" cy="201168"/>
          </a:xfrm>
          <a:prstGeom prst="ellipse">
            <a:avLst/>
          </a:prstGeom>
          <a:solidFill>
            <a:srgbClr val="113E6A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8" name="TextBox 9017"/>
          <p:cNvSpPr txBox="1"/>
          <p:nvPr/>
        </p:nvSpPr>
        <p:spPr>
          <a:xfrm>
            <a:off x="566928" y="5120640"/>
            <a:ext cx="144475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113E6A"/>
                </a:solidFill>
                <a:latin typeface="Arial"/>
                <a:ea typeface="微软雅黑"/>
              </a:rPr>
              <a:t>Layer 3</a:t>
            </a:r>
          </a:p>
          <a:p>
            <a:pPr algn="r">
              <a:spcBef>
                <a:spcPts val="100"/>
              </a:spcBef>
            </a:pPr>
            <a:r>
              <a:rPr sz="1000" b="0">
                <a:solidFill>
                  <a:srgbClr val="636363"/>
                </a:solidFill>
                <a:latin typeface="Arial"/>
                <a:ea typeface="微软雅黑"/>
              </a:rPr>
              <a:t>全局回退</a:t>
            </a:r>
          </a:p>
        </p:txBody>
      </p:sp>
      <p:sp>
        <p:nvSpPr>
          <p:cNvPr id="9019" name="Rounded Rectangle 9018"/>
          <p:cNvSpPr/>
          <p:nvPr/>
        </p:nvSpPr>
        <p:spPr>
          <a:xfrm>
            <a:off x="2450592" y="4956048"/>
            <a:ext cx="8961120" cy="96926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0" name="TextBox 9019"/>
          <p:cNvSpPr txBox="1"/>
          <p:nvPr/>
        </p:nvSpPr>
        <p:spPr>
          <a:xfrm>
            <a:off x="2615184" y="5020056"/>
            <a:ext cx="864108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E2C2C"/>
                </a:solidFill>
                <a:latin typeface="Arial"/>
                <a:ea typeface="微软雅黑"/>
              </a:rPr>
              <a:t>威胁：T3 本地重试耗尽、Scheduler 实例失活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1000" b="0">
                <a:solidFill>
                  <a:srgbClr val="2E2C2C"/>
                </a:solidFill>
                <a:latin typeface="Arial"/>
                <a:ea typeface="微软雅黑"/>
              </a:rPr>
              <a:t>动作：一次 PatchPod 原子提交：置 pod-state=Pending、删 scheduler-name、追加 failed-schedulers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950" b="0">
                <a:solidFill>
                  <a:srgbClr val="636363"/>
                </a:solidFill>
                <a:latin typeface="Arial"/>
                <a:ea typeface="微软雅黑"/>
              </a:rPr>
              <a:t>依赖：etcd 事务原子提交（Txn）</a:t>
            </a:r>
          </a:p>
        </p:txBody>
      </p:sp>
      <p:sp>
        <p:nvSpPr>
          <p:cNvPr id="9021" name="TextBox 9020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36363"/>
                </a:solidFill>
                <a:latin typeface="Arial"/>
                <a:ea typeface="微软雅黑"/>
              </a:rP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0" name="Freeform 5"/>
          <p:cNvSpPr/>
          <p:nvPr/>
        </p:nvSpPr>
        <p:spPr>
          <a:xfrm>
            <a:off x="182880" y="274320"/>
            <a:ext cx="310896" cy="402336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001" name="Picture 9000" descr="beihang-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024" y="91665"/>
            <a:ext cx="2642616" cy="502469"/>
          </a:xfrm>
          <a:prstGeom prst="rect">
            <a:avLst/>
          </a:prstGeom>
        </p:spPr>
      </p:pic>
      <p:sp>
        <p:nvSpPr>
          <p:cNvPr id="9002" name="TextBox 9001"/>
          <p:cNvSpPr txBox="1"/>
          <p:nvPr/>
        </p:nvSpPr>
        <p:spPr>
          <a:xfrm>
            <a:off x="566928" y="155448"/>
            <a:ext cx="8549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3E6A"/>
                </a:solidFill>
                <a:latin typeface="Arial"/>
                <a:ea typeface="微软雅黑"/>
              </a:rPr>
              <a:t>核心不变量 I</a:t>
            </a:r>
          </a:p>
        </p:txBody>
      </p:sp>
      <p:sp>
        <p:nvSpPr>
          <p:cNvPr id="9003" name="TextBox 9002"/>
          <p:cNvSpPr txBox="1"/>
          <p:nvPr/>
        </p:nvSpPr>
        <p:spPr>
          <a:xfrm>
            <a:off x="566928" y="1261872"/>
            <a:ext cx="10881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070C0"/>
                </a:solidFill>
                <a:latin typeface="Arial"/>
                <a:ea typeface="微软雅黑"/>
              </a:rPr>
              <a:t>所有机制最终归约到“任一 Pod 至多绑定到一个节点”</a:t>
            </a:r>
          </a:p>
        </p:txBody>
      </p:sp>
      <p:sp>
        <p:nvSpPr>
          <p:cNvPr id="9004" name="TextBox 9003"/>
          <p:cNvSpPr txBox="1"/>
          <p:nvPr/>
        </p:nvSpPr>
        <p:spPr>
          <a:xfrm>
            <a:off x="566928" y="1874519"/>
            <a:ext cx="108813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E2C2C"/>
                </a:solidFill>
                <a:latin typeface="Arial"/>
                <a:ea typeface="微软雅黑"/>
              </a:rPr>
              <a:t>▪  P1 Bind 唯一性：nodeName 为空才允许写，重复写返回 409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50" b="0">
                <a:solidFill>
                  <a:srgbClr val="2E2C2C"/>
                </a:solidFill>
                <a:latin typeface="Arial"/>
                <a:ea typeface="微软雅黑"/>
              </a:rPr>
              <a:t>▪  P2 Assumed 清理：Reject 阶段 ForgetPod，Layer 2 清 etcd 注解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50" b="0">
                <a:solidFill>
                  <a:srgbClr val="2E2C2C"/>
                </a:solidFill>
                <a:latin typeface="Arial"/>
                <a:ea typeface="微软雅黑"/>
              </a:rPr>
              <a:t>▪  P3 清理与重分发时序：一次 PatchPod 原子提交，无中间态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50" b="0">
                <a:solidFill>
                  <a:srgbClr val="2E2C2C"/>
                </a:solidFill>
                <a:latin typeface="Arial"/>
                <a:ea typeface="微软雅黑"/>
              </a:rPr>
              <a:t>▪  P4 前置拦截：归属注解 + Layer 0 校验，缓存滞后由 P1 兜底</a:t>
            </a:r>
          </a:p>
        </p:txBody>
      </p:sp>
      <p:pic>
        <p:nvPicPr>
          <p:cNvPr id="9005" name="Picture 9004" descr="fig4-3-consistency-invaria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582352"/>
            <a:ext cx="11064240" cy="2116455"/>
          </a:xfrm>
          <a:prstGeom prst="rect">
            <a:avLst/>
          </a:prstGeom>
        </p:spPr>
      </p:pic>
      <p:sp>
        <p:nvSpPr>
          <p:cNvPr id="9006" name="TextBox 9005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36363"/>
                </a:solidFill>
                <a:latin typeface="Arial"/>
                <a:ea typeface="微软雅黑"/>
              </a:rP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0" name="Freeform 5"/>
          <p:cNvSpPr/>
          <p:nvPr/>
        </p:nvSpPr>
        <p:spPr>
          <a:xfrm>
            <a:off x="182880" y="274320"/>
            <a:ext cx="310896" cy="402336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001" name="Picture 9000" descr="beihang-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024" y="91665"/>
            <a:ext cx="2642616" cy="502469"/>
          </a:xfrm>
          <a:prstGeom prst="rect">
            <a:avLst/>
          </a:prstGeom>
        </p:spPr>
      </p:pic>
      <p:sp>
        <p:nvSpPr>
          <p:cNvPr id="9002" name="TextBox 9001"/>
          <p:cNvSpPr txBox="1"/>
          <p:nvPr/>
        </p:nvSpPr>
        <p:spPr>
          <a:xfrm>
            <a:off x="566928" y="155448"/>
            <a:ext cx="8549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3E6A"/>
                </a:solidFill>
                <a:latin typeface="Arial"/>
                <a:ea typeface="微软雅黑"/>
              </a:rPr>
              <a:t>实验设计</a:t>
            </a:r>
          </a:p>
        </p:txBody>
      </p:sp>
      <p:sp>
        <p:nvSpPr>
          <p:cNvPr id="9003" name="TextBox 9002"/>
          <p:cNvSpPr txBox="1"/>
          <p:nvPr/>
        </p:nvSpPr>
        <p:spPr>
          <a:xfrm>
            <a:off x="566928" y="1261872"/>
            <a:ext cx="10881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070C0"/>
                </a:solidFill>
                <a:latin typeface="Arial"/>
                <a:ea typeface="微软雅黑"/>
              </a:rPr>
              <a:t>16 个对比场景，每场景 3 次重复，共 144 次 run，n=3 取中位数</a:t>
            </a:r>
          </a:p>
        </p:txBody>
      </p:sp>
      <p:graphicFrame>
        <p:nvGraphicFramePr>
          <p:cNvPr id="9004" name="Table 9003"/>
          <p:cNvGraphicFramePr>
            <a:graphicFrameLocks noGrp="1"/>
          </p:cNvGraphicFramePr>
          <p:nvPr/>
        </p:nvGraphicFramePr>
        <p:xfrm>
          <a:off x="566928" y="1828800"/>
          <a:ext cx="1106424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维度</a:t>
                      </a:r>
                    </a:p>
                  </a:txBody>
                  <a:tcPr marL="54864" marR="54864" marT="18288" marB="18288" anchor="ctr">
                    <a:solidFill>
                      <a:srgbClr val="113E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取值</a:t>
                      </a:r>
                    </a:p>
                  </a:txBody>
                  <a:tcPr marL="54864" marR="54864" marT="18288" marB="18288" anchor="ctr">
                    <a:solidFill>
                      <a:srgbClr val="113E6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规模 s1–s4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100 / 1000 / 5000 / 10000 节点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速率型 w1–w4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100 / 500 / 1000 / 2000 pods/s（1 万 / 5 万 / 10 万 / 20 万 Pod，w4 为极限）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突发 w5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0 → 2000 → 0 pods/s，5 万 Pod，考察涌入与退潮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Gang w6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200 组/s × 5 Pod，共 5 万 Pod，组内必须同时调度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异构 w7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500 pods/s，5 万 Pod，节点资源规格异构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实例 inst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inst1 = 1 个实例；inst3 = 3 个实例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对比组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a=ENO  b=Gödel  c=kube-scheduler  d=Volcano  e=Koordinator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公平性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每 Pod 2C/4G；各调度器 client-go QPS=Burst=10000（不设限流瓶颈）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9005" name="TextBox 9004"/>
          <p:cNvSpPr txBox="1"/>
          <p:nvPr/>
        </p:nvSpPr>
        <p:spPr>
          <a:xfrm>
            <a:off x="566928" y="5431536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E2C2C"/>
                </a:solidFill>
                <a:latin typeface="Arial"/>
                <a:ea typeface="微软雅黑"/>
              </a:rPr>
              <a:t>▪  KWOK 仿真，kind 内 K8s v1.34.8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2E2C2C"/>
                </a:solidFill>
                <a:latin typeface="Arial"/>
                <a:ea typeface="微软雅黑"/>
              </a:rPr>
              <a:t>▪  Prometheus 15 s 抓取 + recording rules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2E2C2C"/>
                </a:solidFill>
                <a:latin typeface="Arial"/>
                <a:ea typeface="微软雅黑"/>
              </a:rPr>
              <a:t>▪  warmup/cooldown 各剔除 30 s</a:t>
            </a:r>
          </a:p>
        </p:txBody>
      </p:sp>
      <p:sp>
        <p:nvSpPr>
          <p:cNvPr id="9006" name="TextBox 9005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36363"/>
                </a:solidFill>
                <a:latin typeface="Arial"/>
                <a:ea typeface="微软雅黑"/>
              </a:rPr>
              <a:t>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0" name="Freeform 5"/>
          <p:cNvSpPr/>
          <p:nvPr/>
        </p:nvSpPr>
        <p:spPr>
          <a:xfrm>
            <a:off x="182880" y="274320"/>
            <a:ext cx="310896" cy="402336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001" name="Picture 9000" descr="beihang-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024" y="91665"/>
            <a:ext cx="2642616" cy="502469"/>
          </a:xfrm>
          <a:prstGeom prst="rect">
            <a:avLst/>
          </a:prstGeom>
        </p:spPr>
      </p:pic>
      <p:sp>
        <p:nvSpPr>
          <p:cNvPr id="9002" name="TextBox 9001"/>
          <p:cNvSpPr txBox="1"/>
          <p:nvPr/>
        </p:nvSpPr>
        <p:spPr>
          <a:xfrm>
            <a:off x="566928" y="155448"/>
            <a:ext cx="8549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3E6A"/>
                </a:solidFill>
                <a:latin typeface="Arial"/>
                <a:ea typeface="微软雅黑"/>
              </a:rPr>
              <a:t>评估指标</a:t>
            </a:r>
          </a:p>
        </p:txBody>
      </p:sp>
      <p:sp>
        <p:nvSpPr>
          <p:cNvPr id="9003" name="Rounded Rectangle 9002"/>
          <p:cNvSpPr/>
          <p:nvPr/>
        </p:nvSpPr>
        <p:spPr>
          <a:xfrm>
            <a:off x="566928" y="1417320"/>
            <a:ext cx="3517391" cy="14813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4" name="Oval 9003"/>
          <p:cNvSpPr/>
          <p:nvPr/>
        </p:nvSpPr>
        <p:spPr>
          <a:xfrm>
            <a:off x="713232" y="1554480"/>
            <a:ext cx="274320" cy="274320"/>
          </a:xfrm>
          <a:prstGeom prst="ellipse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9005" name="TextBox 9004"/>
          <p:cNvSpPr txBox="1"/>
          <p:nvPr/>
        </p:nvSpPr>
        <p:spPr>
          <a:xfrm>
            <a:off x="1078992" y="1554480"/>
            <a:ext cx="287731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3E6A"/>
                </a:solidFill>
                <a:latin typeface="Arial"/>
                <a:ea typeface="微软雅黑"/>
              </a:rPr>
              <a:t>有效吞吐 pods/s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2E2C2C"/>
                </a:solidFill>
                <a:latin typeface="Arial"/>
                <a:ea typeface="微软雅黑"/>
              </a:rPr>
              <a:t>名义总工作量 ÷ 总完成时间；本文吞吐主口径，与采样窗口长度无关</a:t>
            </a:r>
          </a:p>
        </p:txBody>
      </p:sp>
      <p:sp>
        <p:nvSpPr>
          <p:cNvPr id="9006" name="Rounded Rectangle 9005"/>
          <p:cNvSpPr/>
          <p:nvPr/>
        </p:nvSpPr>
        <p:spPr>
          <a:xfrm>
            <a:off x="4340351" y="1417320"/>
            <a:ext cx="3517391" cy="14813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7" name="Oval 9006"/>
          <p:cNvSpPr/>
          <p:nvPr/>
        </p:nvSpPr>
        <p:spPr>
          <a:xfrm>
            <a:off x="4486656" y="1554480"/>
            <a:ext cx="274320" cy="274320"/>
          </a:xfrm>
          <a:prstGeom prst="ellipse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9008" name="TextBox 9007"/>
          <p:cNvSpPr txBox="1"/>
          <p:nvPr/>
        </p:nvSpPr>
        <p:spPr>
          <a:xfrm>
            <a:off x="4852416" y="1554480"/>
            <a:ext cx="287731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3E6A"/>
                </a:solidFill>
                <a:latin typeface="Arial"/>
                <a:ea typeface="微软雅黑"/>
              </a:rPr>
              <a:t>峰值吞吐 pods/s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2E2C2C"/>
                </a:solidFill>
                <a:latin typeface="Arial"/>
                <a:ea typeface="微软雅黑"/>
              </a:rPr>
              <a:t>处理过程中的最高瞬时调度速率，反映瞬时处理能力上限</a:t>
            </a:r>
          </a:p>
        </p:txBody>
      </p:sp>
      <p:sp>
        <p:nvSpPr>
          <p:cNvPr id="9009" name="Rounded Rectangle 9008"/>
          <p:cNvSpPr/>
          <p:nvPr/>
        </p:nvSpPr>
        <p:spPr>
          <a:xfrm>
            <a:off x="8113775" y="1417320"/>
            <a:ext cx="3517391" cy="14813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0" name="Oval 9009"/>
          <p:cNvSpPr/>
          <p:nvPr/>
        </p:nvSpPr>
        <p:spPr>
          <a:xfrm>
            <a:off x="8260079" y="1554480"/>
            <a:ext cx="274320" cy="274320"/>
          </a:xfrm>
          <a:prstGeom prst="ellipse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9011" name="TextBox 9010"/>
          <p:cNvSpPr txBox="1"/>
          <p:nvPr/>
        </p:nvSpPr>
        <p:spPr>
          <a:xfrm>
            <a:off x="8625839" y="1554480"/>
            <a:ext cx="287731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3E6A"/>
                </a:solidFill>
                <a:latin typeface="Arial"/>
                <a:ea typeface="微软雅黑"/>
              </a:rPr>
              <a:t>P90 / P99 调度延迟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2E2C2C"/>
                </a:solidFill>
                <a:latin typeface="Arial"/>
                <a:ea typeface="微软雅黑"/>
              </a:rPr>
              <a:t>从 Pod 进入 activeQ 到完成 Bind 的分位延迟</a:t>
            </a:r>
          </a:p>
        </p:txBody>
      </p:sp>
      <p:sp>
        <p:nvSpPr>
          <p:cNvPr id="9012" name="Rounded Rectangle 9011"/>
          <p:cNvSpPr/>
          <p:nvPr/>
        </p:nvSpPr>
        <p:spPr>
          <a:xfrm>
            <a:off x="566928" y="3154680"/>
            <a:ext cx="3517391" cy="14813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3" name="Oval 9012"/>
          <p:cNvSpPr/>
          <p:nvPr/>
        </p:nvSpPr>
        <p:spPr>
          <a:xfrm>
            <a:off x="713232" y="3291840"/>
            <a:ext cx="274320" cy="274320"/>
          </a:xfrm>
          <a:prstGeom prst="ellipse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9014" name="TextBox 9013"/>
          <p:cNvSpPr txBox="1"/>
          <p:nvPr/>
        </p:nvSpPr>
        <p:spPr>
          <a:xfrm>
            <a:off x="1078992" y="3291840"/>
            <a:ext cx="287731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3E6A"/>
                </a:solidFill>
                <a:latin typeface="Arial"/>
                <a:ea typeface="微软雅黑"/>
              </a:rPr>
              <a:t>Pod E2E 延迟 P99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2E2C2C"/>
                </a:solidFill>
                <a:latin typeface="Arial"/>
                <a:ea typeface="微软雅黑"/>
              </a:rPr>
              <a:t>从 Dispatcher 观察到 Pod 起，直至绑定完成</a:t>
            </a:r>
          </a:p>
        </p:txBody>
      </p:sp>
      <p:sp>
        <p:nvSpPr>
          <p:cNvPr id="9015" name="Rounded Rectangle 9014"/>
          <p:cNvSpPr/>
          <p:nvPr/>
        </p:nvSpPr>
        <p:spPr>
          <a:xfrm>
            <a:off x="4340351" y="3154680"/>
            <a:ext cx="3517391" cy="14813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6" name="Oval 9015"/>
          <p:cNvSpPr/>
          <p:nvPr/>
        </p:nvSpPr>
        <p:spPr>
          <a:xfrm>
            <a:off x="4486656" y="3291840"/>
            <a:ext cx="274320" cy="274320"/>
          </a:xfrm>
          <a:prstGeom prst="ellipse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微软雅黑"/>
              </a:rPr>
              <a:t>05</a:t>
            </a:r>
          </a:p>
        </p:txBody>
      </p:sp>
      <p:sp>
        <p:nvSpPr>
          <p:cNvPr id="9017" name="TextBox 9016"/>
          <p:cNvSpPr txBox="1"/>
          <p:nvPr/>
        </p:nvSpPr>
        <p:spPr>
          <a:xfrm>
            <a:off x="4852416" y="3291840"/>
            <a:ext cx="287731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3E6A"/>
                </a:solidFill>
                <a:latin typeface="Arial"/>
                <a:ea typeface="微软雅黑"/>
              </a:rPr>
              <a:t>绑定成功率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2E2C2C"/>
                </a:solidFill>
                <a:latin typeface="Arial"/>
                <a:ea typeface="微软雅黑"/>
              </a:rPr>
              <a:t>Bind 成功次数 ÷ Bind 尝试次数，直接对应正确性</a:t>
            </a:r>
          </a:p>
        </p:txBody>
      </p:sp>
      <p:sp>
        <p:nvSpPr>
          <p:cNvPr id="9018" name="Rounded Rectangle 9017"/>
          <p:cNvSpPr/>
          <p:nvPr/>
        </p:nvSpPr>
        <p:spPr>
          <a:xfrm>
            <a:off x="8113775" y="3154680"/>
            <a:ext cx="3517391" cy="14813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9" name="Oval 9018"/>
          <p:cNvSpPr/>
          <p:nvPr/>
        </p:nvSpPr>
        <p:spPr>
          <a:xfrm>
            <a:off x="8260079" y="3291840"/>
            <a:ext cx="274320" cy="274320"/>
          </a:xfrm>
          <a:prstGeom prst="ellipse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微软雅黑"/>
              </a:rPr>
              <a:t>06</a:t>
            </a:r>
          </a:p>
        </p:txBody>
      </p:sp>
      <p:sp>
        <p:nvSpPr>
          <p:cNvPr id="9020" name="TextBox 9019"/>
          <p:cNvSpPr txBox="1"/>
          <p:nvPr/>
        </p:nvSpPr>
        <p:spPr>
          <a:xfrm>
            <a:off x="8625839" y="3291840"/>
            <a:ext cx="287731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3E6A"/>
                </a:solidFill>
                <a:latin typeface="Arial"/>
                <a:ea typeface="微软雅黑"/>
              </a:rPr>
              <a:t>队列堆积峰值 pods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2E2C2C"/>
                </a:solidFill>
                <a:latin typeface="Arial"/>
                <a:ea typeface="微软雅黑"/>
              </a:rPr>
              <a:t>pending_pods 在处理过程中的最大值，反映消化能力</a:t>
            </a:r>
          </a:p>
        </p:txBody>
      </p:sp>
      <p:sp>
        <p:nvSpPr>
          <p:cNvPr id="9021" name="TextBox 9020"/>
          <p:cNvSpPr txBox="1"/>
          <p:nvPr/>
        </p:nvSpPr>
        <p:spPr>
          <a:xfrm>
            <a:off x="566928" y="495604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36363"/>
                </a:solidFill>
                <a:latin typeface="Arial"/>
                <a:ea typeface="微软雅黑"/>
              </a:rPr>
              <a:t>▪  有效吞吐：每次 run 单独算「总工作量 ÷ 完成时间」，再取 3 次中位数（不走时序聚合）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636363"/>
                </a:solidFill>
                <a:latin typeface="Arial"/>
                <a:ea typeface="微软雅黑"/>
              </a:rPr>
              <a:t>▪  其余时序指标：3 条 run 逐时间点取中位数（离散度半 IQR）→ 剔首尾各 2 点（约 30 s）→ 取标量，分位数线性插值</a:t>
            </a:r>
          </a:p>
          <a:p>
            <a:pPr algn="l">
              <a:spcBef>
                <a:spcPts val="300"/>
              </a:spcBef>
            </a:pPr>
            <a:r>
              <a:rPr sz="1200" b="0">
                <a:solidFill>
                  <a:srgbClr val="636363"/>
                </a:solidFill>
                <a:latin typeface="Arial"/>
                <a:ea typeface="微软雅黑"/>
              </a:rPr>
              <a:t>▪  队列堆积是例外：逐点中位聚合后取峰值、不做剔尾；c/d/e 过载存在幸存者偏差，只与 a/b 比吞吐、队列、成功率</a:t>
            </a:r>
          </a:p>
        </p:txBody>
      </p:sp>
      <p:sp>
        <p:nvSpPr>
          <p:cNvPr id="9022" name="TextBox 9021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36363"/>
                </a:solidFill>
                <a:latin typeface="Arial"/>
                <a:ea typeface="微软雅黑"/>
              </a:rP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0" name="Freeform 5"/>
          <p:cNvSpPr/>
          <p:nvPr/>
        </p:nvSpPr>
        <p:spPr>
          <a:xfrm>
            <a:off x="182880" y="274320"/>
            <a:ext cx="310896" cy="402336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001" name="Picture 9000" descr="beihang-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024" y="91665"/>
            <a:ext cx="2642616" cy="502469"/>
          </a:xfrm>
          <a:prstGeom prst="rect">
            <a:avLst/>
          </a:prstGeom>
        </p:spPr>
      </p:pic>
      <p:sp>
        <p:nvSpPr>
          <p:cNvPr id="9002" name="TextBox 9001"/>
          <p:cNvSpPr txBox="1"/>
          <p:nvPr/>
        </p:nvSpPr>
        <p:spPr>
          <a:xfrm>
            <a:off x="566928" y="155448"/>
            <a:ext cx="8549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3E6A"/>
                </a:solidFill>
                <a:latin typeface="Arial"/>
                <a:ea typeface="微软雅黑"/>
              </a:rPr>
              <a:t>绑定正确性与不变量验证</a:t>
            </a:r>
          </a:p>
        </p:txBody>
      </p:sp>
      <p:sp>
        <p:nvSpPr>
          <p:cNvPr id="9003" name="TextBox 9002"/>
          <p:cNvSpPr txBox="1"/>
          <p:nvPr/>
        </p:nvSpPr>
        <p:spPr>
          <a:xfrm>
            <a:off x="566928" y="1261872"/>
            <a:ext cx="10881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070C0"/>
                </a:solidFill>
                <a:latin typeface="Arial"/>
                <a:ea typeface="微软雅黑"/>
              </a:rPr>
              <a:t>144 次 run 的 apiserver 断言全部通过：unbound = 0 且 dup = 0</a:t>
            </a:r>
          </a:p>
        </p:txBody>
      </p:sp>
      <p:sp>
        <p:nvSpPr>
          <p:cNvPr id="9004" name="Rounded Rectangle 9003"/>
          <p:cNvSpPr/>
          <p:nvPr/>
        </p:nvSpPr>
        <p:spPr>
          <a:xfrm>
            <a:off x="658368" y="1783080"/>
            <a:ext cx="341376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5" name="Rectangle 9004"/>
          <p:cNvSpPr/>
          <p:nvPr/>
        </p:nvSpPr>
        <p:spPr>
          <a:xfrm>
            <a:off x="658368" y="1783080"/>
            <a:ext cx="3413760" cy="45720"/>
          </a:xfrm>
          <a:prstGeom prst="rect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6" name="TextBox 9005"/>
          <p:cNvSpPr txBox="1"/>
          <p:nvPr/>
        </p:nvSpPr>
        <p:spPr>
          <a:xfrm>
            <a:off x="658368" y="1911095"/>
            <a:ext cx="34137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113E6A"/>
                </a:solidFill>
                <a:latin typeface="Arial"/>
                <a:ea typeface="微软雅黑"/>
              </a:rPr>
              <a:t>100%</a:t>
            </a:r>
          </a:p>
        </p:txBody>
      </p:sp>
      <p:sp>
        <p:nvSpPr>
          <p:cNvPr id="9007" name="TextBox 9006"/>
          <p:cNvSpPr txBox="1"/>
          <p:nvPr/>
        </p:nvSpPr>
        <p:spPr>
          <a:xfrm>
            <a:off x="658368" y="2816352"/>
            <a:ext cx="3413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36363"/>
                </a:solidFill>
                <a:latin typeface="Arial"/>
                <a:ea typeface="微软雅黑"/>
              </a:rPr>
              <a:t>绑定成功率</a:t>
            </a:r>
          </a:p>
        </p:txBody>
      </p:sp>
      <p:sp>
        <p:nvSpPr>
          <p:cNvPr id="9008" name="Rounded Rectangle 9007"/>
          <p:cNvSpPr/>
          <p:nvPr/>
        </p:nvSpPr>
        <p:spPr>
          <a:xfrm>
            <a:off x="4392168" y="1783080"/>
            <a:ext cx="341376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9" name="Rectangle 9008"/>
          <p:cNvSpPr/>
          <p:nvPr/>
        </p:nvSpPr>
        <p:spPr>
          <a:xfrm>
            <a:off x="4392168" y="1783080"/>
            <a:ext cx="3413760" cy="45720"/>
          </a:xfrm>
          <a:prstGeom prst="rect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0" name="TextBox 9009"/>
          <p:cNvSpPr txBox="1"/>
          <p:nvPr/>
        </p:nvSpPr>
        <p:spPr>
          <a:xfrm>
            <a:off x="4392168" y="1911095"/>
            <a:ext cx="34137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113E6A"/>
                </a:solidFill>
                <a:latin typeface="Arial"/>
                <a:ea typeface="微软雅黑"/>
              </a:rPr>
              <a:t>144</a:t>
            </a:r>
          </a:p>
        </p:txBody>
      </p:sp>
      <p:sp>
        <p:nvSpPr>
          <p:cNvPr id="9011" name="TextBox 9010"/>
          <p:cNvSpPr txBox="1"/>
          <p:nvPr/>
        </p:nvSpPr>
        <p:spPr>
          <a:xfrm>
            <a:off x="4392168" y="2816352"/>
            <a:ext cx="3413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36363"/>
                </a:solidFill>
                <a:latin typeface="Arial"/>
                <a:ea typeface="微软雅黑"/>
              </a:rPr>
              <a:t>次 run 全部通过</a:t>
            </a:r>
          </a:p>
        </p:txBody>
      </p:sp>
      <p:sp>
        <p:nvSpPr>
          <p:cNvPr id="9012" name="Rounded Rectangle 9011"/>
          <p:cNvSpPr/>
          <p:nvPr/>
        </p:nvSpPr>
        <p:spPr>
          <a:xfrm>
            <a:off x="8125968" y="1783080"/>
            <a:ext cx="341376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3" name="Rectangle 9012"/>
          <p:cNvSpPr/>
          <p:nvPr/>
        </p:nvSpPr>
        <p:spPr>
          <a:xfrm>
            <a:off x="8125968" y="1783080"/>
            <a:ext cx="3413760" cy="45720"/>
          </a:xfrm>
          <a:prstGeom prst="rect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4" name="TextBox 9013"/>
          <p:cNvSpPr txBox="1"/>
          <p:nvPr/>
        </p:nvSpPr>
        <p:spPr>
          <a:xfrm>
            <a:off x="8125968" y="1911095"/>
            <a:ext cx="34137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113E6A"/>
                </a:solidFill>
                <a:latin typeface="Arial"/>
                <a:ea typeface="微软雅黑"/>
              </a:rPr>
              <a:t>0</a:t>
            </a:r>
          </a:p>
        </p:txBody>
      </p:sp>
      <p:sp>
        <p:nvSpPr>
          <p:cNvPr id="9015" name="TextBox 9014"/>
          <p:cNvSpPr txBox="1"/>
          <p:nvPr/>
        </p:nvSpPr>
        <p:spPr>
          <a:xfrm>
            <a:off x="8125968" y="2816352"/>
            <a:ext cx="3413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36363"/>
                </a:solidFill>
                <a:latin typeface="Arial"/>
                <a:ea typeface="微软雅黑"/>
              </a:rPr>
              <a:t>unbound / dup</a:t>
            </a:r>
          </a:p>
        </p:txBody>
      </p:sp>
      <p:sp>
        <p:nvSpPr>
          <p:cNvPr id="9016" name="TextBox 9015"/>
          <p:cNvSpPr txBox="1"/>
          <p:nvPr/>
        </p:nvSpPr>
        <p:spPr>
          <a:xfrm>
            <a:off x="566928" y="3520440"/>
            <a:ext cx="107899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2E2C2C"/>
                </a:solidFill>
                <a:latin typeface="Arial"/>
                <a:ea typeface="微软雅黑"/>
              </a:rPr>
              <a:t>▪  ENO 48 次 run：绑定成功率 100%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550" b="0">
                <a:solidFill>
                  <a:srgbClr val="2E2C2C"/>
                </a:solidFill>
                <a:latin typeface="Arial"/>
                <a:ea typeface="微软雅黑"/>
              </a:rPr>
              <a:t>▪  Layer 0 / Layer 3 故障注入各 6 项判据全过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550" b="0">
                <a:solidFill>
                  <a:srgbClr val="2E2C2C"/>
                </a:solidFill>
                <a:latin typeface="Arial"/>
                <a:ea typeface="微软雅黑"/>
              </a:rPr>
              <a:t>▪  断言在 apiserver 侧可复核</a:t>
            </a:r>
          </a:p>
        </p:txBody>
      </p:sp>
      <p:sp>
        <p:nvSpPr>
          <p:cNvPr id="9017" name="TextBox 9016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36363"/>
                </a:solidFill>
                <a:latin typeface="Arial"/>
                <a:ea typeface="微软雅黑"/>
              </a:rP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0" name="Freeform 5"/>
          <p:cNvSpPr/>
          <p:nvPr/>
        </p:nvSpPr>
        <p:spPr>
          <a:xfrm>
            <a:off x="182880" y="274320"/>
            <a:ext cx="310896" cy="402336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001" name="Picture 9000" descr="beihang-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024" y="91665"/>
            <a:ext cx="2642616" cy="502469"/>
          </a:xfrm>
          <a:prstGeom prst="rect">
            <a:avLst/>
          </a:prstGeom>
        </p:spPr>
      </p:pic>
      <p:sp>
        <p:nvSpPr>
          <p:cNvPr id="9002" name="TextBox 9001"/>
          <p:cNvSpPr txBox="1"/>
          <p:nvPr/>
        </p:nvSpPr>
        <p:spPr>
          <a:xfrm>
            <a:off x="566928" y="155448"/>
            <a:ext cx="8549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3E6A"/>
                </a:solidFill>
                <a:latin typeface="Arial"/>
                <a:ea typeface="微软雅黑"/>
              </a:rPr>
              <a:t>故障注入 Layer 0</a:t>
            </a:r>
          </a:p>
        </p:txBody>
      </p:sp>
      <p:sp>
        <p:nvSpPr>
          <p:cNvPr id="9003" name="TextBox 9002"/>
          <p:cNvSpPr txBox="1"/>
          <p:nvPr/>
        </p:nvSpPr>
        <p:spPr>
          <a:xfrm>
            <a:off x="566928" y="1261872"/>
            <a:ext cx="10881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070C0"/>
                </a:solidFill>
                <a:latin typeface="Arial"/>
                <a:ea typeface="微软雅黑"/>
              </a:rPr>
              <a:t>10% 节点注解漂移，300 次拦截全部转为合规重排</a:t>
            </a:r>
          </a:p>
        </p:txBody>
      </p:sp>
      <p:pic>
        <p:nvPicPr>
          <p:cNvPr id="9004" name="Picture 9003" descr="fig6-29a-layer0-timese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657246"/>
            <a:ext cx="5852160" cy="2457907"/>
          </a:xfrm>
          <a:prstGeom prst="rect">
            <a:avLst/>
          </a:prstGeom>
        </p:spPr>
      </p:pic>
      <p:sp>
        <p:nvSpPr>
          <p:cNvPr id="9005" name="TextBox 9004"/>
          <p:cNvSpPr txBox="1"/>
          <p:nvPr/>
        </p:nvSpPr>
        <p:spPr>
          <a:xfrm>
            <a:off x="566928" y="2011680"/>
            <a:ext cx="502920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2E2C2C"/>
                </a:solidFill>
                <a:latin typeface="Arial"/>
                <a:ea typeface="微软雅黑"/>
              </a:rPr>
              <a:t>▪  拦截 300 次 / 回退 300 次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550" b="0">
                <a:solidFill>
                  <a:srgbClr val="2E2C2C"/>
                </a:solidFill>
                <a:latin typeface="Arial"/>
                <a:ea typeface="微软雅黑"/>
              </a:rPr>
              <a:t>▪  绑定成功率 1.00；断言 50000/50000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550" b="0">
                <a:solidFill>
                  <a:srgbClr val="2E2C2C"/>
                </a:solidFill>
                <a:latin typeface="Arial"/>
                <a:ea typeface="微软雅黑"/>
              </a:rPr>
              <a:t>▪  总耗时 683 s 对基线 680 s（+0.4%）</a:t>
            </a:r>
          </a:p>
        </p:txBody>
      </p:sp>
      <p:sp>
        <p:nvSpPr>
          <p:cNvPr id="9006" name="TextBox 9005"/>
          <p:cNvSpPr txBox="1"/>
          <p:nvPr/>
        </p:nvSpPr>
        <p:spPr>
          <a:xfrm>
            <a:off x="566928" y="6309360"/>
            <a:ext cx="10104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36363"/>
                </a:solidFill>
                <a:latin typeface="Arial"/>
                <a:ea typeface="微软雅黑"/>
              </a:rPr>
              <a:t>编码：s1–s4 = 100 / 1000 / 5000 / 10000 节点；w1–w7 = 负载强度（w2 500、w3 1000、w4 2000 pods/s 极限、w5 突发、w6 Gang、w7 异构）；inst3 = 3 实例</a:t>
            </a:r>
          </a:p>
        </p:txBody>
      </p:sp>
      <p:sp>
        <p:nvSpPr>
          <p:cNvPr id="9007" name="TextBox 9006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36363"/>
                </a:solidFill>
                <a:latin typeface="Arial"/>
                <a:ea typeface="微软雅黑"/>
              </a:rPr>
              <a:t>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0" name="Freeform 5"/>
          <p:cNvSpPr/>
          <p:nvPr/>
        </p:nvSpPr>
        <p:spPr>
          <a:xfrm>
            <a:off x="182880" y="274320"/>
            <a:ext cx="310896" cy="402336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001" name="Picture 9000" descr="beihang-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024" y="91665"/>
            <a:ext cx="2642616" cy="502469"/>
          </a:xfrm>
          <a:prstGeom prst="rect">
            <a:avLst/>
          </a:prstGeom>
        </p:spPr>
      </p:pic>
      <p:sp>
        <p:nvSpPr>
          <p:cNvPr id="9002" name="TextBox 9001"/>
          <p:cNvSpPr txBox="1"/>
          <p:nvPr/>
        </p:nvSpPr>
        <p:spPr>
          <a:xfrm>
            <a:off x="566928" y="155448"/>
            <a:ext cx="8549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3E6A"/>
                </a:solidFill>
                <a:latin typeface="Arial"/>
                <a:ea typeface="微软雅黑"/>
              </a:rPr>
              <a:t>故障注入 Layer 3</a:t>
            </a:r>
          </a:p>
        </p:txBody>
      </p:sp>
      <p:sp>
        <p:nvSpPr>
          <p:cNvPr id="9003" name="TextBox 9002"/>
          <p:cNvSpPr txBox="1"/>
          <p:nvPr/>
        </p:nvSpPr>
        <p:spPr>
          <a:xfrm>
            <a:off x="566928" y="1261872"/>
            <a:ext cx="10881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070C0"/>
                </a:solidFill>
                <a:latin typeface="Arial"/>
                <a:ea typeface="微软雅黑"/>
              </a:rPr>
              <a:t>杀掉 1/3 实例并停机 180 s，系统仍在 784 s 内完成全部绑定</a:t>
            </a:r>
          </a:p>
        </p:txBody>
      </p:sp>
      <p:pic>
        <p:nvPicPr>
          <p:cNvPr id="9004" name="Picture 9003" descr="fig6-29b-layer3-timese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657246"/>
            <a:ext cx="5852160" cy="2457907"/>
          </a:xfrm>
          <a:prstGeom prst="rect">
            <a:avLst/>
          </a:prstGeom>
        </p:spPr>
      </p:pic>
      <p:sp>
        <p:nvSpPr>
          <p:cNvPr id="9005" name="TextBox 9004"/>
          <p:cNvSpPr txBox="1"/>
          <p:nvPr/>
        </p:nvSpPr>
        <p:spPr>
          <a:xfrm>
            <a:off x="566928" y="2011680"/>
            <a:ext cx="502920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2E2C2C"/>
                </a:solidFill>
                <a:latin typeface="Arial"/>
                <a:ea typeface="微软雅黑"/>
              </a:rPr>
              <a:t>▪  被杀实例绑定占比 68/8407 = 0.81%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550" b="0">
                <a:solidFill>
                  <a:srgbClr val="2E2C2C"/>
                </a:solidFill>
                <a:latin typeface="Arial"/>
                <a:ea typeface="微软雅黑"/>
              </a:rPr>
              <a:t>▪  存活实例接管 8407 pods；pending 353→2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550" b="0">
                <a:solidFill>
                  <a:srgbClr val="2E2C2C"/>
                </a:solidFill>
                <a:latin typeface="Arial"/>
                <a:ea typeface="微软雅黑"/>
              </a:rPr>
              <a:t>▪  总耗时 784 s，较基线 +15.3%</a:t>
            </a:r>
          </a:p>
        </p:txBody>
      </p:sp>
      <p:sp>
        <p:nvSpPr>
          <p:cNvPr id="9006" name="TextBox 9005"/>
          <p:cNvSpPr txBox="1"/>
          <p:nvPr/>
        </p:nvSpPr>
        <p:spPr>
          <a:xfrm>
            <a:off x="566928" y="6309360"/>
            <a:ext cx="10104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36363"/>
                </a:solidFill>
                <a:latin typeface="Arial"/>
                <a:ea typeface="微软雅黑"/>
              </a:rPr>
              <a:t>编码：s1–s4 = 100 / 1000 / 5000 / 10000 节点；w1–w7 = 负载强度（w2 500、w3 1000、w4 2000 pods/s 极限、w5 突发、w6 Gang、w7 异构）；inst3 = 3 实例</a:t>
            </a:r>
          </a:p>
        </p:txBody>
      </p:sp>
      <p:sp>
        <p:nvSpPr>
          <p:cNvPr id="9007" name="TextBox 9006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36363"/>
                </a:solidFill>
                <a:latin typeface="Arial"/>
                <a:ea typeface="微软雅黑"/>
              </a:rP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0" name="Freeform 5"/>
          <p:cNvSpPr/>
          <p:nvPr/>
        </p:nvSpPr>
        <p:spPr>
          <a:xfrm>
            <a:off x="182880" y="274320"/>
            <a:ext cx="310896" cy="402336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001" name="Picture 9000" descr="beihang-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024" y="91665"/>
            <a:ext cx="2642616" cy="502469"/>
          </a:xfrm>
          <a:prstGeom prst="rect">
            <a:avLst/>
          </a:prstGeom>
        </p:spPr>
      </p:pic>
      <p:sp>
        <p:nvSpPr>
          <p:cNvPr id="9002" name="TextBox 9001"/>
          <p:cNvSpPr txBox="1"/>
          <p:nvPr/>
        </p:nvSpPr>
        <p:spPr>
          <a:xfrm>
            <a:off x="566928" y="155448"/>
            <a:ext cx="8549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3E6A"/>
                </a:solidFill>
                <a:latin typeface="Arial"/>
                <a:ea typeface="微软雅黑"/>
              </a:rPr>
              <a:t>五组基线</a:t>
            </a:r>
          </a:p>
        </p:txBody>
      </p:sp>
      <p:sp>
        <p:nvSpPr>
          <p:cNvPr id="9003" name="TextBox 9002"/>
          <p:cNvSpPr txBox="1"/>
          <p:nvPr/>
        </p:nvSpPr>
        <p:spPr>
          <a:xfrm>
            <a:off x="566928" y="1261872"/>
            <a:ext cx="10881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070C0"/>
                </a:solidFill>
                <a:latin typeface="Arial"/>
                <a:ea typeface="微软雅黑"/>
              </a:rPr>
              <a:t>ENO/Gödel 第一档，kube-scheduler 第二档，Volcano/Koordinator 低一个数量级</a:t>
            </a:r>
          </a:p>
        </p:txBody>
      </p:sp>
      <p:pic>
        <p:nvPicPr>
          <p:cNvPr id="9004" name="Picture 9003" descr="fig6-3-throughput-5gro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535701"/>
            <a:ext cx="5852160" cy="2700996"/>
          </a:xfrm>
          <a:prstGeom prst="rect">
            <a:avLst/>
          </a:prstGeom>
        </p:spPr>
      </p:pic>
      <p:sp>
        <p:nvSpPr>
          <p:cNvPr id="9005" name="TextBox 9004"/>
          <p:cNvSpPr txBox="1"/>
          <p:nvPr/>
        </p:nvSpPr>
        <p:spPr>
          <a:xfrm>
            <a:off x="566928" y="2011680"/>
            <a:ext cx="502920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2E2C2C"/>
                </a:solidFill>
                <a:latin typeface="Arial"/>
                <a:ea typeface="微软雅黑"/>
              </a:rPr>
              <a:t>▪  较 kube-scheduler +1.8%~+22.5%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550" b="0">
                <a:solidFill>
                  <a:srgbClr val="2E2C2C"/>
                </a:solidFill>
                <a:latin typeface="Arial"/>
                <a:ea typeface="微软雅黑"/>
              </a:rPr>
              <a:t>▪  较 Volcano 约 6×，较 Koordinator 12× 以上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550" b="0">
                <a:solidFill>
                  <a:srgbClr val="2E2C2C"/>
                </a:solidFill>
                <a:latin typeface="Arial"/>
                <a:ea typeface="微软雅黑"/>
              </a:rPr>
              <a:t>▪  s1/w1 低负载例外 -7.2%（未饱和）</a:t>
            </a:r>
          </a:p>
        </p:txBody>
      </p:sp>
      <p:graphicFrame>
        <p:nvGraphicFramePr>
          <p:cNvPr id="9006" name="Table 9005"/>
          <p:cNvGraphicFramePr>
            <a:graphicFrameLocks noGrp="1"/>
          </p:cNvGraphicFramePr>
          <p:nvPr/>
        </p:nvGraphicFramePr>
        <p:xfrm>
          <a:off x="566928" y="4160520"/>
          <a:ext cx="5029200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/>
                <a:gridCol w="838200"/>
                <a:gridCol w="838200"/>
                <a:gridCol w="838200"/>
                <a:gridCol w="838200"/>
                <a:gridCol w="83820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场景</a:t>
                      </a:r>
                    </a:p>
                  </a:txBody>
                  <a:tcPr marL="54864" marR="54864" marT="18288" marB="18288" anchor="ctr">
                    <a:solidFill>
                      <a:srgbClr val="113E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ENO</a:t>
                      </a:r>
                    </a:p>
                  </a:txBody>
                  <a:tcPr marL="54864" marR="54864" marT="18288" marB="18288" anchor="ctr">
                    <a:solidFill>
                      <a:srgbClr val="113E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Gödel</a:t>
                      </a:r>
                    </a:p>
                  </a:txBody>
                  <a:tcPr marL="54864" marR="54864" marT="18288" marB="18288" anchor="ctr">
                    <a:solidFill>
                      <a:srgbClr val="113E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k-sched</a:t>
                      </a:r>
                    </a:p>
                  </a:txBody>
                  <a:tcPr marL="54864" marR="54864" marT="18288" marB="18288" anchor="ctr">
                    <a:solidFill>
                      <a:srgbClr val="113E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Volcano</a:t>
                      </a:r>
                    </a:p>
                  </a:txBody>
                  <a:tcPr marL="54864" marR="54864" marT="18288" marB="18288" anchor="ctr">
                    <a:solidFill>
                      <a:srgbClr val="113E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Koord</a:t>
                      </a:r>
                    </a:p>
                  </a:txBody>
                  <a:tcPr marL="54864" marR="54864" marT="18288" marB="18288" anchor="ctr">
                    <a:solidFill>
                      <a:srgbClr val="113E6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s2/w3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352.1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286.5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≈297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≈48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≈16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s3/w3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297.6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283.3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≈292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≈48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≈24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9007" name="TextBox 9006"/>
          <p:cNvSpPr txBox="1"/>
          <p:nvPr/>
        </p:nvSpPr>
        <p:spPr>
          <a:xfrm>
            <a:off x="566928" y="6309360"/>
            <a:ext cx="10104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36363"/>
                </a:solidFill>
                <a:latin typeface="Arial"/>
                <a:ea typeface="微软雅黑"/>
              </a:rPr>
              <a:t>编码：s1–s4 = 100 / 1000 / 5000 / 10000 节点；w1–w7 = 负载强度（w2 500、w3 1000、w4 2000 pods/s 极限、w5 突发、w6 Gang、w7 异构）；inst3 = 3 实例</a:t>
            </a:r>
          </a:p>
        </p:txBody>
      </p:sp>
      <p:sp>
        <p:nvSpPr>
          <p:cNvPr id="9008" name="TextBox 9007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36363"/>
                </a:solidFill>
                <a:latin typeface="Arial"/>
                <a:ea typeface="微软雅黑"/>
              </a:rPr>
              <a:t>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0" name="Freeform 5"/>
          <p:cNvSpPr/>
          <p:nvPr/>
        </p:nvSpPr>
        <p:spPr>
          <a:xfrm>
            <a:off x="182880" y="274320"/>
            <a:ext cx="310896" cy="402336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001" name="Picture 9000" descr="beihang-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024" y="91665"/>
            <a:ext cx="2642616" cy="502469"/>
          </a:xfrm>
          <a:prstGeom prst="rect">
            <a:avLst/>
          </a:prstGeom>
        </p:spPr>
      </p:pic>
      <p:sp>
        <p:nvSpPr>
          <p:cNvPr id="9002" name="TextBox 9001"/>
          <p:cNvSpPr txBox="1"/>
          <p:nvPr/>
        </p:nvSpPr>
        <p:spPr>
          <a:xfrm>
            <a:off x="566928" y="155448"/>
            <a:ext cx="8549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3E6A"/>
                </a:solidFill>
                <a:latin typeface="Arial"/>
                <a:ea typeface="微软雅黑"/>
              </a:rPr>
              <a:t>ENO vs Gödel</a:t>
            </a:r>
          </a:p>
        </p:txBody>
      </p:sp>
      <p:sp>
        <p:nvSpPr>
          <p:cNvPr id="9003" name="TextBox 9002"/>
          <p:cNvSpPr txBox="1"/>
          <p:nvPr/>
        </p:nvSpPr>
        <p:spPr>
          <a:xfrm>
            <a:off x="566928" y="1261872"/>
            <a:ext cx="10881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070C0"/>
                </a:solidFill>
                <a:latin typeface="Arial"/>
                <a:ea typeface="微软雅黑"/>
              </a:rPr>
              <a:t>平均 +11.9%，高负载与多实例场景优势最大</a:t>
            </a:r>
          </a:p>
        </p:txBody>
      </p:sp>
      <p:pic>
        <p:nvPicPr>
          <p:cNvPr id="9004" name="Picture 9003" descr="fig6-2-effective-through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535701"/>
            <a:ext cx="5852160" cy="2700996"/>
          </a:xfrm>
          <a:prstGeom prst="rect">
            <a:avLst/>
          </a:prstGeom>
        </p:spPr>
      </p:pic>
      <p:sp>
        <p:nvSpPr>
          <p:cNvPr id="9005" name="TextBox 9004"/>
          <p:cNvSpPr txBox="1"/>
          <p:nvPr/>
        </p:nvSpPr>
        <p:spPr>
          <a:xfrm>
            <a:off x="566928" y="2011680"/>
            <a:ext cx="502920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2E2C2C"/>
                </a:solidFill>
                <a:latin typeface="Arial"/>
                <a:ea typeface="微软雅黑"/>
              </a:rPr>
              <a:t>▪  14 领先、2 持平（s1/w1、s4/w7）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550" b="0">
                <a:solidFill>
                  <a:srgbClr val="2E2C2C"/>
                </a:solidFill>
                <a:latin typeface="Arial"/>
                <a:ea typeface="微软雅黑"/>
              </a:rPr>
              <a:t>▪  提升 +2.0%~+22.9%，平均 +11.9%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550" b="0">
                <a:solidFill>
                  <a:srgbClr val="2E2C2C"/>
                </a:solidFill>
                <a:latin typeface="Arial"/>
                <a:ea typeface="微软雅黑"/>
              </a:rPr>
              <a:t>▪  亮点：s2/w3 +22.9%、s3/w3 inst3 +21.7%</a:t>
            </a:r>
          </a:p>
        </p:txBody>
      </p:sp>
      <p:sp>
        <p:nvSpPr>
          <p:cNvPr id="9006" name="TextBox 9005"/>
          <p:cNvSpPr txBox="1"/>
          <p:nvPr/>
        </p:nvSpPr>
        <p:spPr>
          <a:xfrm>
            <a:off x="566928" y="6309360"/>
            <a:ext cx="10104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36363"/>
                </a:solidFill>
                <a:latin typeface="Arial"/>
                <a:ea typeface="微软雅黑"/>
              </a:rPr>
              <a:t>编码：s1–s4 = 100 / 1000 / 5000 / 10000 节点；w1–w7 = 负载强度（w2 500、w3 1000、w4 2000 pods/s 极限、w5 突发、w6 Gang、w7 异构）；inst3 = 3 实例</a:t>
            </a:r>
          </a:p>
        </p:txBody>
      </p:sp>
      <p:sp>
        <p:nvSpPr>
          <p:cNvPr id="9007" name="TextBox 9006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36363"/>
                </a:solidFill>
                <a:latin typeface="Arial"/>
                <a:ea typeface="微软雅黑"/>
              </a:rPr>
              <a:t>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0" name="Freeform 5"/>
          <p:cNvSpPr/>
          <p:nvPr/>
        </p:nvSpPr>
        <p:spPr>
          <a:xfrm>
            <a:off x="182880" y="274320"/>
            <a:ext cx="310896" cy="402336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001" name="Picture 9000" descr="beihang-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024" y="91665"/>
            <a:ext cx="2642616" cy="502469"/>
          </a:xfrm>
          <a:prstGeom prst="rect">
            <a:avLst/>
          </a:prstGeom>
        </p:spPr>
      </p:pic>
      <p:sp>
        <p:nvSpPr>
          <p:cNvPr id="9002" name="TextBox 9001"/>
          <p:cNvSpPr txBox="1"/>
          <p:nvPr/>
        </p:nvSpPr>
        <p:spPr>
          <a:xfrm>
            <a:off x="566928" y="155448"/>
            <a:ext cx="8549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3E6A"/>
                </a:solidFill>
                <a:latin typeface="Arial"/>
                <a:ea typeface="微软雅黑"/>
              </a:rPr>
              <a:t>尾延迟</a:t>
            </a:r>
          </a:p>
        </p:txBody>
      </p:sp>
      <p:sp>
        <p:nvSpPr>
          <p:cNvPr id="9003" name="TextBox 9002"/>
          <p:cNvSpPr txBox="1"/>
          <p:nvPr/>
        </p:nvSpPr>
        <p:spPr>
          <a:xfrm>
            <a:off x="566928" y="1261872"/>
            <a:ext cx="10881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070C0"/>
                </a:solidFill>
                <a:latin typeface="Arial"/>
                <a:ea typeface="微软雅黑"/>
              </a:rPr>
              <a:t>s2/w3 从 23.48 s 降到 4.00 s，降幅 82.9%</a:t>
            </a:r>
          </a:p>
        </p:txBody>
      </p:sp>
      <p:pic>
        <p:nvPicPr>
          <p:cNvPr id="9004" name="Picture 9003" descr="fig6-4-latency-p99-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527662"/>
            <a:ext cx="5852160" cy="2717074"/>
          </a:xfrm>
          <a:prstGeom prst="rect">
            <a:avLst/>
          </a:prstGeom>
        </p:spPr>
      </p:pic>
      <p:sp>
        <p:nvSpPr>
          <p:cNvPr id="9005" name="TextBox 9004"/>
          <p:cNvSpPr txBox="1"/>
          <p:nvPr/>
        </p:nvSpPr>
        <p:spPr>
          <a:xfrm>
            <a:off x="566928" y="2011680"/>
            <a:ext cx="502920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2E2C2C"/>
                </a:solidFill>
                <a:latin typeface="Arial"/>
                <a:ea typeface="微软雅黑"/>
              </a:rPr>
              <a:t>▪  P99 改善 0.3%~82.9%（除 s2/w2）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550" b="0">
                <a:solidFill>
                  <a:srgbClr val="2E2C2C"/>
                </a:solidFill>
                <a:latin typeface="Arial"/>
                <a:ea typeface="微软雅黑"/>
              </a:rPr>
              <a:t>▪  s3/w3 inst1 32.57→16.22 s（-50.2%）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550" b="0">
                <a:solidFill>
                  <a:srgbClr val="2E2C2C"/>
                </a:solidFill>
                <a:latin typeface="Arial"/>
                <a:ea typeface="微软雅黑"/>
              </a:rPr>
              <a:t>▪  Pod E2E P99 改善 0.6%~75.3%</a:t>
            </a:r>
          </a:p>
        </p:txBody>
      </p:sp>
      <p:sp>
        <p:nvSpPr>
          <p:cNvPr id="9006" name="TextBox 9005"/>
          <p:cNvSpPr txBox="1"/>
          <p:nvPr/>
        </p:nvSpPr>
        <p:spPr>
          <a:xfrm>
            <a:off x="566928" y="6309360"/>
            <a:ext cx="10104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36363"/>
                </a:solidFill>
                <a:latin typeface="Arial"/>
                <a:ea typeface="微软雅黑"/>
              </a:rPr>
              <a:t>编码：s1–s4 = 100 / 1000 / 5000 / 10000 节点；w1–w7 = 负载强度（w2 500、w3 1000、w4 2000 pods/s 极限、w5 突发、w6 Gang、w7 异构）；inst3 = 3 实例</a:t>
            </a:r>
          </a:p>
        </p:txBody>
      </p:sp>
      <p:sp>
        <p:nvSpPr>
          <p:cNvPr id="9007" name="TextBox 9006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36363"/>
                </a:solidFill>
                <a:latin typeface="Arial"/>
                <a:ea typeface="微软雅黑"/>
              </a:rPr>
              <a:t>19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0" name="Freeform 5"/>
          <p:cNvSpPr/>
          <p:nvPr/>
        </p:nvSpPr>
        <p:spPr>
          <a:xfrm>
            <a:off x="182880" y="274320"/>
            <a:ext cx="310896" cy="402336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001" name="Picture 9000" descr="beihang-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024" y="91665"/>
            <a:ext cx="2642616" cy="502469"/>
          </a:xfrm>
          <a:prstGeom prst="rect">
            <a:avLst/>
          </a:prstGeom>
        </p:spPr>
      </p:pic>
      <p:sp>
        <p:nvSpPr>
          <p:cNvPr id="9002" name="TextBox 9001"/>
          <p:cNvSpPr txBox="1"/>
          <p:nvPr/>
        </p:nvSpPr>
        <p:spPr>
          <a:xfrm>
            <a:off x="566928" y="155448"/>
            <a:ext cx="8549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3E6A"/>
                </a:solidFill>
                <a:latin typeface="Arial"/>
                <a:ea typeface="微软雅黑"/>
              </a:rPr>
              <a:t>实例 1→3</a:t>
            </a:r>
          </a:p>
        </p:txBody>
      </p:sp>
      <p:sp>
        <p:nvSpPr>
          <p:cNvPr id="9003" name="TextBox 9002"/>
          <p:cNvSpPr txBox="1"/>
          <p:nvPr/>
        </p:nvSpPr>
        <p:spPr>
          <a:xfrm>
            <a:off x="566928" y="1261872"/>
            <a:ext cx="10881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070C0"/>
                </a:solidFill>
                <a:latin typeface="Arial"/>
                <a:ea typeface="微软雅黑"/>
              </a:rPr>
              <a:t>ENO 有效吞吐 +17.5%，Gödel 仅 +1.4%</a:t>
            </a:r>
          </a:p>
        </p:txBody>
      </p:sp>
      <p:graphicFrame>
        <p:nvGraphicFramePr>
          <p:cNvPr id="9004" name="Table 9003"/>
          <p:cNvGraphicFramePr>
            <a:graphicFrameLocks noGrp="1"/>
          </p:cNvGraphicFramePr>
          <p:nvPr/>
        </p:nvGraphicFramePr>
        <p:xfrm>
          <a:off x="566928" y="1810512"/>
          <a:ext cx="56235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103120"/>
                <a:gridCol w="201168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指标（s3/w3）</a:t>
                      </a:r>
                    </a:p>
                  </a:txBody>
                  <a:tcPr marL="54864" marR="54864" marT="18288" marB="18288" anchor="ctr">
                    <a:solidFill>
                      <a:srgbClr val="113E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ENO inst1→inst3</a:t>
                      </a:r>
                    </a:p>
                  </a:txBody>
                  <a:tcPr marL="54864" marR="54864" marT="18288" marB="18288" anchor="ctr">
                    <a:solidFill>
                      <a:srgbClr val="113E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Gödel inst1→inst3</a:t>
                      </a:r>
                    </a:p>
                  </a:txBody>
                  <a:tcPr marL="54864" marR="54864" marT="18288" marB="18288" anchor="ctr">
                    <a:solidFill>
                      <a:srgbClr val="113E6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有效吞吐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297.6 → 349.7（+17.5%）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283.3 → 287.4（+1.4%）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P99 延迟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16.22 → 0.13 s（-99.2%）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32.57 → 0.15 s（-99.5%）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队列堆积峰值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14698 → 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22652 → 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005" name="Picture 9004" descr="fig6-16-throughput-s3-w3-inst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12181"/>
            <a:ext cx="5276088" cy="2163788"/>
          </a:xfrm>
          <a:prstGeom prst="rect">
            <a:avLst/>
          </a:prstGeom>
        </p:spPr>
      </p:pic>
      <p:sp>
        <p:nvSpPr>
          <p:cNvPr id="9006" name="TextBox 9005"/>
          <p:cNvSpPr txBox="1"/>
          <p:nvPr/>
        </p:nvSpPr>
        <p:spPr>
          <a:xfrm>
            <a:off x="6355080" y="4014215"/>
            <a:ext cx="52760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36363"/>
                </a:solidFill>
                <a:latin typeface="Arial"/>
                <a:ea typeface="微软雅黑"/>
              </a:rPr>
              <a:t>s3/w3 inst3 吞吐时序</a:t>
            </a:r>
          </a:p>
        </p:txBody>
      </p:sp>
      <p:sp>
        <p:nvSpPr>
          <p:cNvPr id="9007" name="TextBox 9006"/>
          <p:cNvSpPr txBox="1"/>
          <p:nvPr/>
        </p:nvSpPr>
        <p:spPr>
          <a:xfrm>
            <a:off x="566928" y="45262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E2C2C"/>
                </a:solidFill>
                <a:latin typeface="Arial"/>
                <a:ea typeface="微软雅黑"/>
              </a:rPr>
              <a:t>▪  延迟都降约 99%，但吞吐转化率差 12 倍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200" b="0">
                <a:solidFill>
                  <a:srgbClr val="2E2C2C"/>
                </a:solidFill>
                <a:latin typeface="Arial"/>
                <a:ea typeface="微软雅黑"/>
              </a:rPr>
              <a:t>▪  Gödel 增量被独立 Binder 串行吸收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200" b="0">
                <a:solidFill>
                  <a:srgbClr val="2E2C2C"/>
                </a:solidFill>
                <a:latin typeface="Arial"/>
                <a:ea typeface="微软雅黑"/>
              </a:rPr>
              <a:t>▪  这是架构归因最强的一组证据</a:t>
            </a:r>
          </a:p>
        </p:txBody>
      </p:sp>
      <p:sp>
        <p:nvSpPr>
          <p:cNvPr id="9008" name="TextBox 9007"/>
          <p:cNvSpPr txBox="1"/>
          <p:nvPr/>
        </p:nvSpPr>
        <p:spPr>
          <a:xfrm>
            <a:off x="566928" y="6309360"/>
            <a:ext cx="10104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36363"/>
                </a:solidFill>
                <a:latin typeface="Arial"/>
                <a:ea typeface="微软雅黑"/>
              </a:rPr>
              <a:t>编码：s1–s4 = 100 / 1000 / 5000 / 10000 节点；w1–w7 = 负载强度（w2 500、w3 1000、w4 2000 pods/s 极限、w5 突发、w6 Gang、w7 异构）；inst3 = 3 实例</a:t>
            </a:r>
          </a:p>
        </p:txBody>
      </p:sp>
      <p:sp>
        <p:nvSpPr>
          <p:cNvPr id="9009" name="TextBox 9008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36363"/>
                </a:solidFill>
                <a:latin typeface="Arial"/>
                <a:ea typeface="微软雅黑"/>
              </a:rP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0" name="Freeform 5"/>
          <p:cNvSpPr/>
          <p:nvPr/>
        </p:nvSpPr>
        <p:spPr>
          <a:xfrm>
            <a:off x="182880" y="274320"/>
            <a:ext cx="310896" cy="402336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001" name="Picture 9000" descr="beihang-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024" y="91665"/>
            <a:ext cx="2642616" cy="502469"/>
          </a:xfrm>
          <a:prstGeom prst="rect">
            <a:avLst/>
          </a:prstGeom>
        </p:spPr>
      </p:pic>
      <p:sp>
        <p:nvSpPr>
          <p:cNvPr id="9002" name="TextBox 9001"/>
          <p:cNvSpPr txBox="1"/>
          <p:nvPr/>
        </p:nvSpPr>
        <p:spPr>
          <a:xfrm>
            <a:off x="566928" y="155448"/>
            <a:ext cx="8549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3E6A"/>
                </a:solidFill>
                <a:latin typeface="Arial"/>
                <a:ea typeface="微软雅黑"/>
              </a:rPr>
              <a:t>规模翻倍与复杂负载下仍保持领先</a:t>
            </a:r>
          </a:p>
        </p:txBody>
      </p:sp>
      <p:sp>
        <p:nvSpPr>
          <p:cNvPr id="9003" name="TextBox 9002"/>
          <p:cNvSpPr txBox="1"/>
          <p:nvPr/>
        </p:nvSpPr>
        <p:spPr>
          <a:xfrm>
            <a:off x="566928" y="1261872"/>
            <a:ext cx="10881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070C0"/>
                </a:solidFill>
                <a:latin typeface="Arial"/>
                <a:ea typeface="微软雅黑"/>
              </a:rPr>
              <a:t>s4 规模下吞吐仍 +5.6%、P99 低 33.4%；突发、极限、异构均不落后</a:t>
            </a:r>
          </a:p>
        </p:txBody>
      </p:sp>
      <p:graphicFrame>
        <p:nvGraphicFramePr>
          <p:cNvPr id="9004" name="Table 9003"/>
          <p:cNvGraphicFramePr>
            <a:graphicFrameLocks noGrp="1"/>
          </p:cNvGraphicFramePr>
          <p:nvPr/>
        </p:nvGraphicFramePr>
        <p:xfrm>
          <a:off x="566928" y="182880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场景（inst3）</a:t>
                      </a:r>
                    </a:p>
                  </a:txBody>
                  <a:tcPr marL="54864" marR="54864" marT="18288" marB="18288" anchor="ctr">
                    <a:solidFill>
                      <a:srgbClr val="113E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ENO vs Gödel 有效吞吐</a:t>
                      </a:r>
                    </a:p>
                  </a:txBody>
                  <a:tcPr marL="54864" marR="54864" marT="18288" marB="18288" anchor="ctr">
                    <a:solidFill>
                      <a:srgbClr val="113E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P99 / E2E 变化</a:t>
                      </a:r>
                    </a:p>
                  </a:txBody>
                  <a:tcPr marL="54864" marR="54864" marT="18288" marB="18288" anchor="ctr">
                    <a:solidFill>
                      <a:srgbClr val="113E6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s3→s4（w3，实例不变）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349.7→296.7 vs 287.4→280.9（+5.6%）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P99 0.19 vs 0.28 s（低 33.4%）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w4 极限（s3 / s4）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+9.3% / +16.0%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P99 -49.7% / -14.8%；E2E -32.6%~-35.3%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w5 突发（s3 / s4）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+21.3% / +2.8%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s3 E2E -53.8%；s4 基本持平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w7 异构（s3 / s4）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+21.2% / 基本持平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s3 E2E -67.6%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9005" name="TextBox 9004"/>
          <p:cNvSpPr txBox="1"/>
          <p:nvPr/>
        </p:nvSpPr>
        <p:spPr>
          <a:xfrm>
            <a:off x="566928" y="50749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E2C2C"/>
                </a:solidFill>
                <a:latin typeface="Arial"/>
                <a:ea typeface="微软雅黑"/>
              </a:rPr>
              <a:t>▪  s4 队列堆积峰值 9 vs 61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2E2C2C"/>
                </a:solidFill>
                <a:latin typeface="Arial"/>
                <a:ea typeface="微软雅黑"/>
              </a:rPr>
              <a:t>▪  规模翻倍时两者都退化（ENO -15.2%）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2E2C2C"/>
                </a:solidFill>
                <a:latin typeface="Arial"/>
                <a:ea typeface="微软雅黑"/>
              </a:rPr>
              <a:t>▪  s3/s4 固定 3 实例，口径需说明</a:t>
            </a:r>
          </a:p>
        </p:txBody>
      </p:sp>
      <p:sp>
        <p:nvSpPr>
          <p:cNvPr id="9006" name="TextBox 9005"/>
          <p:cNvSpPr txBox="1"/>
          <p:nvPr/>
        </p:nvSpPr>
        <p:spPr>
          <a:xfrm>
            <a:off x="566928" y="6309360"/>
            <a:ext cx="10104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36363"/>
                </a:solidFill>
                <a:latin typeface="Arial"/>
                <a:ea typeface="微软雅黑"/>
              </a:rPr>
              <a:t>编码：s1–s4 = 100 / 1000 / 5000 / 10000 节点；w1–w7 = 负载强度（w2 500、w3 1000、w4 2000 pods/s 极限、w5 突发、w6 Gang、w7 异构）；inst3 = 3 实例</a:t>
            </a:r>
          </a:p>
        </p:txBody>
      </p:sp>
      <p:sp>
        <p:nvSpPr>
          <p:cNvPr id="9007" name="TextBox 9006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36363"/>
                </a:solidFill>
                <a:latin typeface="Arial"/>
                <a:ea typeface="微软雅黑"/>
              </a:rPr>
              <a:t>21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0" name="Freeform 5"/>
          <p:cNvSpPr/>
          <p:nvPr/>
        </p:nvSpPr>
        <p:spPr>
          <a:xfrm>
            <a:off x="182880" y="274320"/>
            <a:ext cx="310896" cy="402336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001" name="Picture 9000" descr="beihang-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024" y="91665"/>
            <a:ext cx="2642616" cy="502469"/>
          </a:xfrm>
          <a:prstGeom prst="rect">
            <a:avLst/>
          </a:prstGeom>
        </p:spPr>
      </p:pic>
      <p:sp>
        <p:nvSpPr>
          <p:cNvPr id="9002" name="TextBox 9001"/>
          <p:cNvSpPr txBox="1"/>
          <p:nvPr/>
        </p:nvSpPr>
        <p:spPr>
          <a:xfrm>
            <a:off x="566928" y="155448"/>
            <a:ext cx="8549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3E6A"/>
                </a:solidFill>
                <a:latin typeface="Arial"/>
                <a:ea typeface="微软雅黑"/>
              </a:rPr>
              <a:t>归因闭环</a:t>
            </a:r>
          </a:p>
        </p:txBody>
      </p:sp>
      <p:sp>
        <p:nvSpPr>
          <p:cNvPr id="9003" name="TextBox 9002"/>
          <p:cNvSpPr txBox="1"/>
          <p:nvPr/>
        </p:nvSpPr>
        <p:spPr>
          <a:xfrm>
            <a:off x="566928" y="1261872"/>
            <a:ext cx="10881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070C0"/>
                </a:solidFill>
                <a:latin typeface="Arial"/>
                <a:ea typeface="微软雅黑"/>
              </a:rPr>
              <a:t>去掉一次跨进程绑定链路，换来吞吐、尾延迟、队列深度的同步改善</a:t>
            </a:r>
          </a:p>
        </p:txBody>
      </p:sp>
      <p:graphicFrame>
        <p:nvGraphicFramePr>
          <p:cNvPr id="9004" name="Table 9003"/>
          <p:cNvGraphicFramePr>
            <a:graphicFrameLocks noGrp="1"/>
          </p:cNvGraphicFramePr>
          <p:nvPr/>
        </p:nvGraphicFramePr>
        <p:xfrm>
          <a:off x="566928" y="182880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机制差异</a:t>
                      </a:r>
                    </a:p>
                  </a:txBody>
                  <a:tcPr marL="54864" marR="54864" marT="18288" marB="18288" anchor="ctr">
                    <a:solidFill>
                      <a:srgbClr val="113E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对应指标</a:t>
                      </a:r>
                    </a:p>
                  </a:txBody>
                  <a:tcPr marL="54864" marR="54864" marT="18288" marB="18288" anchor="ctr">
                    <a:solidFill>
                      <a:srgbClr val="113E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实测证据</a:t>
                      </a:r>
                    </a:p>
                  </a:txBody>
                  <a:tcPr marL="54864" marR="54864" marT="18288" marB="18288" anchor="ctr">
                    <a:solidFill>
                      <a:srgbClr val="113E6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进程内绑定，无事件传递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Pod E2E P99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s3/w3 inst3 0.45 vs 0.93 s（低 51.9%）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CacheAdapter 零拷贝共享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状态复用 / 无同步延迟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inst3 队列峰值 20 vs 16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无独立 Binder 串行段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有效吞吐随实例扩展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+17.5% vs +1.4%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四层容错守住不变量 I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绑定成功率 / 断言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100%；144 次 run 全过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9005" name="TextBox 9004"/>
          <p:cNvSpPr txBox="1"/>
          <p:nvPr/>
        </p:nvSpPr>
        <p:spPr>
          <a:xfrm>
            <a:off x="566928" y="50749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E2C2C"/>
                </a:solidFill>
                <a:latin typeface="Arial"/>
                <a:ea typeface="微软雅黑"/>
              </a:rPr>
              <a:t>▪  相关不等于归因：峰值吞吐并非全面领先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2E2C2C"/>
                </a:solidFill>
                <a:latin typeface="Arial"/>
                <a:ea typeface="微软雅黑"/>
              </a:rPr>
              <a:t>▪  s3/w5、s4/w3 峰值吞吐低于 Gödel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2E2C2C"/>
                </a:solidFill>
                <a:latin typeface="Arial"/>
                <a:ea typeface="微软雅黑"/>
              </a:rPr>
              <a:t>▪  收益部分来自启动更快（口径权衡）</a:t>
            </a:r>
          </a:p>
        </p:txBody>
      </p:sp>
      <p:sp>
        <p:nvSpPr>
          <p:cNvPr id="9006" name="TextBox 9005"/>
          <p:cNvSpPr txBox="1"/>
          <p:nvPr/>
        </p:nvSpPr>
        <p:spPr>
          <a:xfrm>
            <a:off x="566928" y="6309360"/>
            <a:ext cx="101041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636363"/>
                </a:solidFill>
                <a:latin typeface="Arial"/>
                <a:ea typeface="微软雅黑"/>
              </a:rPr>
              <a:t>编码：s1–s4 = 100 / 1000 / 5000 / 10000 节点；w1–w7 = 负载强度（w2 500、w3 1000、w4 2000 pods/s 极限、w5 突发、w6 Gang、w7 异构）；inst3 = 3 实例</a:t>
            </a:r>
          </a:p>
        </p:txBody>
      </p:sp>
      <p:sp>
        <p:nvSpPr>
          <p:cNvPr id="9007" name="TextBox 9006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36363"/>
                </a:solidFill>
                <a:latin typeface="Arial"/>
                <a:ea typeface="微软雅黑"/>
              </a:rP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0" name="Freeform 5"/>
          <p:cNvSpPr/>
          <p:nvPr/>
        </p:nvSpPr>
        <p:spPr>
          <a:xfrm>
            <a:off x="182880" y="274320"/>
            <a:ext cx="310896" cy="402336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001" name="Picture 9000" descr="beihang-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024" y="91665"/>
            <a:ext cx="2642616" cy="502469"/>
          </a:xfrm>
          <a:prstGeom prst="rect">
            <a:avLst/>
          </a:prstGeom>
        </p:spPr>
      </p:pic>
      <p:sp>
        <p:nvSpPr>
          <p:cNvPr id="9002" name="TextBox 9001"/>
          <p:cNvSpPr txBox="1"/>
          <p:nvPr/>
        </p:nvSpPr>
        <p:spPr>
          <a:xfrm>
            <a:off x="566928" y="155448"/>
            <a:ext cx="8549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3E6A"/>
                </a:solidFill>
                <a:latin typeface="Arial"/>
                <a:ea typeface="微软雅黑"/>
              </a:rPr>
              <a:t>局限性与威胁效力</a:t>
            </a:r>
          </a:p>
        </p:txBody>
      </p:sp>
      <p:sp>
        <p:nvSpPr>
          <p:cNvPr id="9003" name="TextBox 9002"/>
          <p:cNvSpPr txBox="1"/>
          <p:nvPr/>
        </p:nvSpPr>
        <p:spPr>
          <a:xfrm>
            <a:off x="566928" y="1261872"/>
            <a:ext cx="10881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070C0"/>
                </a:solidFill>
                <a:latin typeface="Arial"/>
                <a:ea typeface="微软雅黑"/>
              </a:rPr>
              <a:t>结论在“跨调度器相对比较”上成立，绝对数值不外推到生产</a:t>
            </a:r>
          </a:p>
        </p:txBody>
      </p:sp>
      <p:sp>
        <p:nvSpPr>
          <p:cNvPr id="9004" name="Rounded Rectangle 9003"/>
          <p:cNvSpPr/>
          <p:nvPr/>
        </p:nvSpPr>
        <p:spPr>
          <a:xfrm>
            <a:off x="566928" y="1874519"/>
            <a:ext cx="3517391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5" name="Oval 9004"/>
          <p:cNvSpPr/>
          <p:nvPr/>
        </p:nvSpPr>
        <p:spPr>
          <a:xfrm>
            <a:off x="713232" y="2011679"/>
            <a:ext cx="274320" cy="274320"/>
          </a:xfrm>
          <a:prstGeom prst="ellipse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9006" name="TextBox 9005"/>
          <p:cNvSpPr txBox="1"/>
          <p:nvPr/>
        </p:nvSpPr>
        <p:spPr>
          <a:xfrm>
            <a:off x="1078992" y="2011679"/>
            <a:ext cx="2877312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3E6A"/>
                </a:solidFill>
                <a:latin typeface="Arial"/>
                <a:ea typeface="微软雅黑"/>
              </a:rPr>
              <a:t>KWOK 仿真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2E2C2C"/>
                </a:solidFill>
                <a:latin typeface="Arial"/>
                <a:ea typeface="微软雅黑"/>
              </a:rPr>
              <a:t>无法反映真实资源竞争与 IO</a:t>
            </a:r>
          </a:p>
        </p:txBody>
      </p:sp>
      <p:sp>
        <p:nvSpPr>
          <p:cNvPr id="9007" name="Rounded Rectangle 9006"/>
          <p:cNvSpPr/>
          <p:nvPr/>
        </p:nvSpPr>
        <p:spPr>
          <a:xfrm>
            <a:off x="4340351" y="1874519"/>
            <a:ext cx="3517391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8" name="Oval 9007"/>
          <p:cNvSpPr/>
          <p:nvPr/>
        </p:nvSpPr>
        <p:spPr>
          <a:xfrm>
            <a:off x="4486656" y="2011679"/>
            <a:ext cx="274320" cy="274320"/>
          </a:xfrm>
          <a:prstGeom prst="ellipse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9009" name="TextBox 9008"/>
          <p:cNvSpPr txBox="1"/>
          <p:nvPr/>
        </p:nvSpPr>
        <p:spPr>
          <a:xfrm>
            <a:off x="4852416" y="2011679"/>
            <a:ext cx="2877312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3E6A"/>
                </a:solidFill>
                <a:latin typeface="Arial"/>
                <a:ea typeface="微软雅黑"/>
              </a:rPr>
              <a:t>Gang 延迟口径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2E2C2C"/>
                </a:solidFill>
                <a:latin typeface="Arial"/>
                <a:ea typeface="微软雅黑"/>
              </a:rPr>
              <a:t>w6 尾延迟反向，未分离计时</a:t>
            </a:r>
          </a:p>
        </p:txBody>
      </p:sp>
      <p:sp>
        <p:nvSpPr>
          <p:cNvPr id="9010" name="Rounded Rectangle 9009"/>
          <p:cNvSpPr/>
          <p:nvPr/>
        </p:nvSpPr>
        <p:spPr>
          <a:xfrm>
            <a:off x="8113775" y="1874519"/>
            <a:ext cx="3517391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1" name="Oval 9010"/>
          <p:cNvSpPr/>
          <p:nvPr/>
        </p:nvSpPr>
        <p:spPr>
          <a:xfrm>
            <a:off x="8260079" y="2011679"/>
            <a:ext cx="274320" cy="274320"/>
          </a:xfrm>
          <a:prstGeom prst="ellipse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9012" name="TextBox 9011"/>
          <p:cNvSpPr txBox="1"/>
          <p:nvPr/>
        </p:nvSpPr>
        <p:spPr>
          <a:xfrm>
            <a:off x="8625839" y="2011679"/>
            <a:ext cx="2877312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3E6A"/>
                </a:solidFill>
                <a:latin typeface="Arial"/>
                <a:ea typeface="微软雅黑"/>
              </a:rPr>
              <a:t>固定实例数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2E2C2C"/>
                </a:solidFill>
                <a:latin typeface="Arial"/>
                <a:ea typeface="微软雅黑"/>
              </a:rPr>
              <a:t>s3→s4 未同步扩容</a:t>
            </a:r>
          </a:p>
        </p:txBody>
      </p:sp>
      <p:sp>
        <p:nvSpPr>
          <p:cNvPr id="9013" name="Rounded Rectangle 9012"/>
          <p:cNvSpPr/>
          <p:nvPr/>
        </p:nvSpPr>
        <p:spPr>
          <a:xfrm>
            <a:off x="566928" y="3182111"/>
            <a:ext cx="3517391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4" name="Oval 9013"/>
          <p:cNvSpPr/>
          <p:nvPr/>
        </p:nvSpPr>
        <p:spPr>
          <a:xfrm>
            <a:off x="713232" y="3319271"/>
            <a:ext cx="274320" cy="274320"/>
          </a:xfrm>
          <a:prstGeom prst="ellipse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9015" name="TextBox 9014"/>
          <p:cNvSpPr txBox="1"/>
          <p:nvPr/>
        </p:nvSpPr>
        <p:spPr>
          <a:xfrm>
            <a:off x="1078992" y="3319271"/>
            <a:ext cx="2877312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3E6A"/>
                </a:solidFill>
                <a:latin typeface="Arial"/>
                <a:ea typeface="微软雅黑"/>
              </a:rPr>
              <a:t>资源公平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2E2C2C"/>
                </a:solidFill>
                <a:latin typeface="Arial"/>
                <a:ea typeface="微软雅黑"/>
              </a:rPr>
              <a:t>每 Deployment 同规格，对 ENO 略不利</a:t>
            </a:r>
          </a:p>
        </p:txBody>
      </p:sp>
      <p:sp>
        <p:nvSpPr>
          <p:cNvPr id="9016" name="Rounded Rectangle 9015"/>
          <p:cNvSpPr/>
          <p:nvPr/>
        </p:nvSpPr>
        <p:spPr>
          <a:xfrm>
            <a:off x="4340351" y="3182111"/>
            <a:ext cx="3517391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7" name="Oval 9016"/>
          <p:cNvSpPr/>
          <p:nvPr/>
        </p:nvSpPr>
        <p:spPr>
          <a:xfrm>
            <a:off x="4486656" y="3319271"/>
            <a:ext cx="274320" cy="274320"/>
          </a:xfrm>
          <a:prstGeom prst="ellipse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微软雅黑"/>
              </a:rPr>
              <a:t>05</a:t>
            </a:r>
          </a:p>
        </p:txBody>
      </p:sp>
      <p:sp>
        <p:nvSpPr>
          <p:cNvPr id="9018" name="TextBox 9017"/>
          <p:cNvSpPr txBox="1"/>
          <p:nvPr/>
        </p:nvSpPr>
        <p:spPr>
          <a:xfrm>
            <a:off x="4852416" y="3319271"/>
            <a:ext cx="2877312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3E6A"/>
                </a:solidFill>
                <a:latin typeface="Arial"/>
                <a:ea typeface="微软雅黑"/>
              </a:rPr>
              <a:t>Volcano 指标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2E2C2C"/>
                </a:solidFill>
                <a:latin typeface="Arial"/>
                <a:ea typeface="微软雅黑"/>
              </a:rPr>
              <a:t>测量对象与粒度不完全等价</a:t>
            </a:r>
          </a:p>
        </p:txBody>
      </p:sp>
      <p:sp>
        <p:nvSpPr>
          <p:cNvPr id="9019" name="Rounded Rectangle 9018"/>
          <p:cNvSpPr/>
          <p:nvPr/>
        </p:nvSpPr>
        <p:spPr>
          <a:xfrm>
            <a:off x="8113775" y="3182111"/>
            <a:ext cx="3517391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0" name="Oval 9019"/>
          <p:cNvSpPr/>
          <p:nvPr/>
        </p:nvSpPr>
        <p:spPr>
          <a:xfrm>
            <a:off x="8260079" y="3319271"/>
            <a:ext cx="274320" cy="274320"/>
          </a:xfrm>
          <a:prstGeom prst="ellipse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微软雅黑"/>
              </a:rPr>
              <a:t>06</a:t>
            </a:r>
          </a:p>
        </p:txBody>
      </p:sp>
      <p:sp>
        <p:nvSpPr>
          <p:cNvPr id="9021" name="TextBox 9020"/>
          <p:cNvSpPr txBox="1"/>
          <p:nvPr/>
        </p:nvSpPr>
        <p:spPr>
          <a:xfrm>
            <a:off x="8625839" y="3319271"/>
            <a:ext cx="2877312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3E6A"/>
                </a:solidFill>
                <a:latin typeface="Arial"/>
                <a:ea typeface="微软雅黑"/>
              </a:rPr>
              <a:t>幸存者偏差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2E2C2C"/>
                </a:solidFill>
                <a:latin typeface="Arial"/>
                <a:ea typeface="微软雅黑"/>
              </a:rPr>
              <a:t>c/d/e 的 P99 不做数值对齐</a:t>
            </a:r>
          </a:p>
        </p:txBody>
      </p:sp>
      <p:sp>
        <p:nvSpPr>
          <p:cNvPr id="9022" name="TextBox 9021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36363"/>
                </a:solidFill>
                <a:latin typeface="Arial"/>
                <a:ea typeface="微软雅黑"/>
              </a:rP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0" name="Freeform 5"/>
          <p:cNvSpPr/>
          <p:nvPr/>
        </p:nvSpPr>
        <p:spPr>
          <a:xfrm>
            <a:off x="182880" y="274320"/>
            <a:ext cx="310896" cy="402336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001" name="Picture 9000" descr="beihang-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024" y="91665"/>
            <a:ext cx="2642616" cy="502469"/>
          </a:xfrm>
          <a:prstGeom prst="rect">
            <a:avLst/>
          </a:prstGeom>
        </p:spPr>
      </p:pic>
      <p:sp>
        <p:nvSpPr>
          <p:cNvPr id="9002" name="TextBox 9001"/>
          <p:cNvSpPr txBox="1"/>
          <p:nvPr/>
        </p:nvSpPr>
        <p:spPr>
          <a:xfrm>
            <a:off x="566928" y="155448"/>
            <a:ext cx="8549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3E6A"/>
                </a:solidFill>
                <a:latin typeface="Arial"/>
                <a:ea typeface="微软雅黑"/>
              </a:rPr>
              <a:t>结论</a:t>
            </a:r>
          </a:p>
        </p:txBody>
      </p:sp>
      <p:sp>
        <p:nvSpPr>
          <p:cNvPr id="9003" name="TextBox 9002"/>
          <p:cNvSpPr txBox="1"/>
          <p:nvPr/>
        </p:nvSpPr>
        <p:spPr>
          <a:xfrm>
            <a:off x="566928" y="1261872"/>
            <a:ext cx="10881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070C0"/>
                </a:solidFill>
                <a:latin typeface="Arial"/>
                <a:ea typeface="微软雅黑"/>
              </a:rPr>
              <a:t>架构创新与一致性创新都有可复现实验支撑，且实现了向后兼容的工程落地</a:t>
            </a:r>
          </a:p>
        </p:txBody>
      </p:sp>
      <p:sp>
        <p:nvSpPr>
          <p:cNvPr id="9004" name="Rounded Rectangle 9003"/>
          <p:cNvSpPr/>
          <p:nvPr/>
        </p:nvSpPr>
        <p:spPr>
          <a:xfrm>
            <a:off x="566928" y="1874519"/>
            <a:ext cx="3517391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5" name="Oval 9004"/>
          <p:cNvSpPr/>
          <p:nvPr/>
        </p:nvSpPr>
        <p:spPr>
          <a:xfrm>
            <a:off x="713232" y="2011679"/>
            <a:ext cx="274320" cy="274320"/>
          </a:xfrm>
          <a:prstGeom prst="ellipse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9006" name="TextBox 9005"/>
          <p:cNvSpPr txBox="1"/>
          <p:nvPr/>
        </p:nvSpPr>
        <p:spPr>
          <a:xfrm>
            <a:off x="1078992" y="2011679"/>
            <a:ext cx="2877312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3E6A"/>
                </a:solidFill>
                <a:latin typeface="Arial"/>
                <a:ea typeface="微软雅黑"/>
              </a:rPr>
              <a:t>创新 1 · ENO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2E2C2C"/>
                </a:solidFill>
                <a:latin typeface="Arial"/>
                <a:ea typeface="微软雅黑"/>
              </a:rPr>
              <a:t>Binder 进进程内 + CacheAdapter</a:t>
            </a:r>
          </a:p>
        </p:txBody>
      </p:sp>
      <p:sp>
        <p:nvSpPr>
          <p:cNvPr id="9007" name="Rounded Rectangle 9006"/>
          <p:cNvSpPr/>
          <p:nvPr/>
        </p:nvSpPr>
        <p:spPr>
          <a:xfrm>
            <a:off x="4340351" y="1874519"/>
            <a:ext cx="3517391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8" name="Oval 9007"/>
          <p:cNvSpPr/>
          <p:nvPr/>
        </p:nvSpPr>
        <p:spPr>
          <a:xfrm>
            <a:off x="4486656" y="2011679"/>
            <a:ext cx="274320" cy="274320"/>
          </a:xfrm>
          <a:prstGeom prst="ellipse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9009" name="TextBox 9008"/>
          <p:cNvSpPr txBox="1"/>
          <p:nvPr/>
        </p:nvSpPr>
        <p:spPr>
          <a:xfrm>
            <a:off x="4852416" y="2011679"/>
            <a:ext cx="2877312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3E6A"/>
                </a:solidFill>
                <a:latin typeface="Arial"/>
                <a:ea typeface="微软雅黑"/>
              </a:rPr>
              <a:t>创新 2 · 四层容错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2E2C2C"/>
                </a:solidFill>
                <a:latin typeface="Arial"/>
                <a:ea typeface="微软雅黑"/>
              </a:rPr>
              <a:t>不变量 I 的完整证明要点</a:t>
            </a:r>
          </a:p>
        </p:txBody>
      </p:sp>
      <p:sp>
        <p:nvSpPr>
          <p:cNvPr id="9010" name="Rounded Rectangle 9009"/>
          <p:cNvSpPr/>
          <p:nvPr/>
        </p:nvSpPr>
        <p:spPr>
          <a:xfrm>
            <a:off x="8113775" y="1874519"/>
            <a:ext cx="3517391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1" name="Oval 9010"/>
          <p:cNvSpPr/>
          <p:nvPr/>
        </p:nvSpPr>
        <p:spPr>
          <a:xfrm>
            <a:off x="8260079" y="2011679"/>
            <a:ext cx="274320" cy="274320"/>
          </a:xfrm>
          <a:prstGeom prst="ellipse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微软雅黑"/>
              </a:rPr>
              <a:t>03</a:t>
            </a:r>
          </a:p>
        </p:txBody>
      </p:sp>
      <p:sp>
        <p:nvSpPr>
          <p:cNvPr id="9012" name="TextBox 9011"/>
          <p:cNvSpPr txBox="1"/>
          <p:nvPr/>
        </p:nvSpPr>
        <p:spPr>
          <a:xfrm>
            <a:off x="8625839" y="2011679"/>
            <a:ext cx="2877312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3E6A"/>
                </a:solidFill>
                <a:latin typeface="Arial"/>
                <a:ea typeface="微软雅黑"/>
              </a:rPr>
              <a:t>证据 1 · 规模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2E2C2C"/>
                </a:solidFill>
                <a:latin typeface="Arial"/>
                <a:ea typeface="微软雅黑"/>
              </a:rPr>
              <a:t>16 场景 / 144 run / 100% 成功率</a:t>
            </a:r>
          </a:p>
        </p:txBody>
      </p:sp>
      <p:sp>
        <p:nvSpPr>
          <p:cNvPr id="9013" name="Rounded Rectangle 9012"/>
          <p:cNvSpPr/>
          <p:nvPr/>
        </p:nvSpPr>
        <p:spPr>
          <a:xfrm>
            <a:off x="566928" y="3182111"/>
            <a:ext cx="3517391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4" name="Oval 9013"/>
          <p:cNvSpPr/>
          <p:nvPr/>
        </p:nvSpPr>
        <p:spPr>
          <a:xfrm>
            <a:off x="713232" y="3319271"/>
            <a:ext cx="274320" cy="274320"/>
          </a:xfrm>
          <a:prstGeom prst="ellipse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微软雅黑"/>
              </a:rPr>
              <a:t>04</a:t>
            </a:r>
          </a:p>
        </p:txBody>
      </p:sp>
      <p:sp>
        <p:nvSpPr>
          <p:cNvPr id="9015" name="TextBox 9014"/>
          <p:cNvSpPr txBox="1"/>
          <p:nvPr/>
        </p:nvSpPr>
        <p:spPr>
          <a:xfrm>
            <a:off x="1078992" y="3319271"/>
            <a:ext cx="2877312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3E6A"/>
                </a:solidFill>
                <a:latin typeface="Arial"/>
                <a:ea typeface="微软雅黑"/>
              </a:rPr>
              <a:t>证据 2 · 性能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2E2C2C"/>
                </a:solidFill>
                <a:latin typeface="Arial"/>
                <a:ea typeface="微软雅黑"/>
              </a:rPr>
              <a:t>平均 +11.9%；P99 最高 -82.9%</a:t>
            </a:r>
          </a:p>
        </p:txBody>
      </p:sp>
      <p:sp>
        <p:nvSpPr>
          <p:cNvPr id="9016" name="Rounded Rectangle 9015"/>
          <p:cNvSpPr/>
          <p:nvPr/>
        </p:nvSpPr>
        <p:spPr>
          <a:xfrm>
            <a:off x="4340351" y="3182111"/>
            <a:ext cx="3517391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7" name="Oval 9016"/>
          <p:cNvSpPr/>
          <p:nvPr/>
        </p:nvSpPr>
        <p:spPr>
          <a:xfrm>
            <a:off x="4486656" y="3319271"/>
            <a:ext cx="274320" cy="274320"/>
          </a:xfrm>
          <a:prstGeom prst="ellipse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微软雅黑"/>
              </a:rPr>
              <a:t>05</a:t>
            </a:r>
          </a:p>
        </p:txBody>
      </p:sp>
      <p:sp>
        <p:nvSpPr>
          <p:cNvPr id="9018" name="TextBox 9017"/>
          <p:cNvSpPr txBox="1"/>
          <p:nvPr/>
        </p:nvSpPr>
        <p:spPr>
          <a:xfrm>
            <a:off x="4852416" y="3319271"/>
            <a:ext cx="2877312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3E6A"/>
                </a:solidFill>
                <a:latin typeface="Arial"/>
                <a:ea typeface="微软雅黑"/>
              </a:rPr>
              <a:t>证据 3 · 扩展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2E2C2C"/>
                </a:solidFill>
                <a:latin typeface="Arial"/>
                <a:ea typeface="微软雅黑"/>
              </a:rPr>
              <a:t>实例 1→3：+17.5% 对 +1.4%</a:t>
            </a:r>
          </a:p>
        </p:txBody>
      </p:sp>
      <p:sp>
        <p:nvSpPr>
          <p:cNvPr id="9019" name="Rounded Rectangle 9018"/>
          <p:cNvSpPr/>
          <p:nvPr/>
        </p:nvSpPr>
        <p:spPr>
          <a:xfrm>
            <a:off x="8113775" y="3182111"/>
            <a:ext cx="3517391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20" name="Oval 9019"/>
          <p:cNvSpPr/>
          <p:nvPr/>
        </p:nvSpPr>
        <p:spPr>
          <a:xfrm>
            <a:off x="8260079" y="3319271"/>
            <a:ext cx="274320" cy="274320"/>
          </a:xfrm>
          <a:prstGeom prst="ellipse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微软雅黑"/>
              </a:rPr>
              <a:t>06</a:t>
            </a:r>
          </a:p>
        </p:txBody>
      </p:sp>
      <p:sp>
        <p:nvSpPr>
          <p:cNvPr id="9021" name="TextBox 9020"/>
          <p:cNvSpPr txBox="1"/>
          <p:nvPr/>
        </p:nvSpPr>
        <p:spPr>
          <a:xfrm>
            <a:off x="8625839" y="3319271"/>
            <a:ext cx="2877312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13E6A"/>
                </a:solidFill>
                <a:latin typeface="Arial"/>
                <a:ea typeface="微软雅黑"/>
              </a:rPr>
              <a:t>价值 · 落地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2E2C2C"/>
                </a:solidFill>
                <a:latin typeface="Arial"/>
                <a:ea typeface="微软雅黑"/>
              </a:rPr>
              <a:t>不改 API、可平滑替换、基准开源</a:t>
            </a:r>
          </a:p>
        </p:txBody>
      </p:sp>
      <p:sp>
        <p:nvSpPr>
          <p:cNvPr id="9022" name="TextBox 9021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36363"/>
                </a:solidFill>
                <a:latin typeface="Arial"/>
                <a:ea typeface="微软雅黑"/>
              </a:rP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eihang-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024" y="91665"/>
            <a:ext cx="2642616" cy="50246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97864" y="2212848"/>
            <a:ext cx="9866376" cy="20116"/>
          </a:xfrm>
          <a:prstGeom prst="rect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95728"/>
            <a:ext cx="103327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113E6A"/>
                </a:solidFill>
                <a:latin typeface="Arial"/>
                <a:ea typeface="微软雅黑"/>
              </a:rPr>
              <a:t>谢谢各位老师，请批评指正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636363"/>
                </a:solidFill>
                <a:latin typeface="Arial"/>
                <a:ea typeface="微软雅黑"/>
              </a:rPr>
              <a:t>基于 etcd 的分布式 Kubernetes 调度器研究与实现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36363"/>
                </a:solidFill>
                <a:latin typeface="Arial"/>
                <a:ea typeface="微软雅黑"/>
              </a:rPr>
              <a:t>答辩人：[姓名]</a:t>
            </a:r>
          </a:p>
          <a:p>
            <a:pPr algn="ctr">
              <a:spcBef>
                <a:spcPts val="400"/>
              </a:spcBef>
            </a:pPr>
            <a:r>
              <a:rPr sz="1300" b="0">
                <a:solidFill>
                  <a:srgbClr val="636363"/>
                </a:solidFill>
                <a:latin typeface="Arial"/>
                <a:ea typeface="微软雅黑"/>
              </a:rPr>
              <a:t>联系方式：[邮箱]</a:t>
            </a:r>
          </a:p>
        </p:txBody>
      </p:sp>
      <p:sp>
        <p:nvSpPr>
          <p:cNvPr id="7" name="Rectangle 6"/>
          <p:cNvSpPr/>
          <p:nvPr/>
        </p:nvSpPr>
        <p:spPr>
          <a:xfrm>
            <a:off x="1197864" y="5074920"/>
            <a:ext cx="9866376" cy="20116"/>
          </a:xfrm>
          <a:prstGeom prst="rect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" y="6748272"/>
            <a:ext cx="12088368" cy="45720"/>
          </a:xfrm>
          <a:prstGeom prst="rect">
            <a:avLst/>
          </a:prstGeom>
          <a:solidFill>
            <a:srgbClr val="113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36363"/>
                </a:solidFill>
                <a:latin typeface="Arial"/>
                <a:ea typeface="微软雅黑"/>
              </a:rPr>
              <a:t>25 /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0" name="Freeform 5"/>
          <p:cNvSpPr/>
          <p:nvPr/>
        </p:nvSpPr>
        <p:spPr>
          <a:xfrm>
            <a:off x="182880" y="274320"/>
            <a:ext cx="310896" cy="402336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001" name="Picture 9000" descr="beihang-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024" y="91665"/>
            <a:ext cx="2642616" cy="502469"/>
          </a:xfrm>
          <a:prstGeom prst="rect">
            <a:avLst/>
          </a:prstGeom>
        </p:spPr>
      </p:pic>
      <p:sp>
        <p:nvSpPr>
          <p:cNvPr id="9002" name="TextBox 9001"/>
          <p:cNvSpPr txBox="1"/>
          <p:nvPr/>
        </p:nvSpPr>
        <p:spPr>
          <a:xfrm>
            <a:off x="566928" y="155448"/>
            <a:ext cx="8549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3E6A"/>
                </a:solidFill>
                <a:latin typeface="Arial"/>
                <a:ea typeface="微软雅黑"/>
              </a:rPr>
              <a:t>16 场景完整数据（摘要）</a:t>
            </a:r>
          </a:p>
        </p:txBody>
      </p:sp>
      <p:sp>
        <p:nvSpPr>
          <p:cNvPr id="9003" name="TextBox 9002"/>
          <p:cNvSpPr txBox="1"/>
          <p:nvPr/>
        </p:nvSpPr>
        <p:spPr>
          <a:xfrm>
            <a:off x="566928" y="1261872"/>
            <a:ext cx="10881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070C0"/>
                </a:solidFill>
                <a:latin typeface="Arial"/>
                <a:ea typeface="微软雅黑"/>
              </a:rPr>
              <a:t>有效吞吐 / P99 / Pod E2E P99 / 队列堆积峰值（n=3 中位数）</a:t>
            </a:r>
          </a:p>
        </p:txBody>
      </p:sp>
      <p:graphicFrame>
        <p:nvGraphicFramePr>
          <p:cNvPr id="9004" name="Table 9003"/>
          <p:cNvGraphicFramePr>
            <a:graphicFrameLocks noGrp="1"/>
          </p:cNvGraphicFramePr>
          <p:nvPr/>
        </p:nvGraphicFramePr>
        <p:xfrm>
          <a:off x="566928" y="1828800"/>
          <a:ext cx="11064240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场景</a:t>
                      </a:r>
                    </a:p>
                  </a:txBody>
                  <a:tcPr marL="54864" marR="54864" marT="18288" marB="18288" anchor="ctr">
                    <a:solidFill>
                      <a:srgbClr val="113E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ENO 吞吐</a:t>
                      </a:r>
                    </a:p>
                  </a:txBody>
                  <a:tcPr marL="54864" marR="54864" marT="18288" marB="18288" anchor="ctr">
                    <a:solidFill>
                      <a:srgbClr val="113E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Gödel 吞吐</a:t>
                      </a:r>
                    </a:p>
                  </a:txBody>
                  <a:tcPr marL="54864" marR="54864" marT="18288" marB="18288" anchor="ctr">
                    <a:solidFill>
                      <a:srgbClr val="113E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ENO P99</a:t>
                      </a:r>
                    </a:p>
                  </a:txBody>
                  <a:tcPr marL="54864" marR="54864" marT="18288" marB="18288" anchor="ctr">
                    <a:solidFill>
                      <a:srgbClr val="113E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Gödel P99</a:t>
                      </a:r>
                    </a:p>
                  </a:txBody>
                  <a:tcPr marL="54864" marR="54864" marT="18288" marB="18288" anchor="ctr">
                    <a:solidFill>
                      <a:srgbClr val="113E6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s2/w2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331.1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324.7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0.16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0.11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s2/w3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352.1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286.5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4.00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23.48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s3/w3 inst1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297.6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283.3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16.22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32.57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s3/w3 inst3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349.7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287.4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0.13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0.15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s4/w3 inst3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296.7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280.9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0.19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0.28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s4/w7 inst3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271.7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271.7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0.06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0.06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9005" name="TextBox 9004"/>
          <p:cNvSpPr txBox="1"/>
          <p:nvPr/>
        </p:nvSpPr>
        <p:spPr>
          <a:xfrm>
            <a:off x="566928" y="50749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E2C2C"/>
                </a:solidFill>
                <a:latin typeface="Arial"/>
                <a:ea typeface="微软雅黑"/>
              </a:rPr>
              <a:t>▪  完整 16 行见论文表 6-6/6-7/6-8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2E2C2C"/>
                </a:solidFill>
                <a:latin typeface="Arial"/>
                <a:ea typeface="微软雅黑"/>
              </a:rPr>
              <a:t>▪  数据目录：results/compare/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2E2C2C"/>
                </a:solidFill>
                <a:latin typeface="Arial"/>
                <a:ea typeface="微软雅黑"/>
              </a:rPr>
              <a:t>▪  统计口径：n=3 中位数</a:t>
            </a:r>
          </a:p>
        </p:txBody>
      </p:sp>
      <p:sp>
        <p:nvSpPr>
          <p:cNvPr id="9006" name="TextBox 9005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36363"/>
                </a:solidFill>
                <a:latin typeface="Arial"/>
                <a:ea typeface="微软雅黑"/>
              </a:rPr>
              <a:t>B1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0" name="Freeform 5"/>
          <p:cNvSpPr/>
          <p:nvPr/>
        </p:nvSpPr>
        <p:spPr>
          <a:xfrm>
            <a:off x="182880" y="274320"/>
            <a:ext cx="310896" cy="402336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001" name="Picture 9000" descr="beihang-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024" y="91665"/>
            <a:ext cx="2642616" cy="502469"/>
          </a:xfrm>
          <a:prstGeom prst="rect">
            <a:avLst/>
          </a:prstGeom>
        </p:spPr>
      </p:pic>
      <p:sp>
        <p:nvSpPr>
          <p:cNvPr id="9002" name="TextBox 9001"/>
          <p:cNvSpPr txBox="1"/>
          <p:nvPr/>
        </p:nvSpPr>
        <p:spPr>
          <a:xfrm>
            <a:off x="566928" y="155448"/>
            <a:ext cx="8549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3E6A"/>
                </a:solidFill>
                <a:latin typeface="Arial"/>
                <a:ea typeface="微软雅黑"/>
              </a:rPr>
              <a:t>6 个指标的精确口径与来源</a:t>
            </a:r>
          </a:p>
        </p:txBody>
      </p:sp>
      <p:sp>
        <p:nvSpPr>
          <p:cNvPr id="9003" name="TextBox 9002"/>
          <p:cNvSpPr txBox="1"/>
          <p:nvPr/>
        </p:nvSpPr>
        <p:spPr>
          <a:xfrm>
            <a:off x="566928" y="1261872"/>
            <a:ext cx="10881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070C0"/>
                </a:solidFill>
                <a:latin typeface="Arial"/>
                <a:ea typeface="微软雅黑"/>
              </a:rPr>
              <a:t>定义、聚合方式与对应的可复核字段</a:t>
            </a:r>
          </a:p>
        </p:txBody>
      </p:sp>
      <p:graphicFrame>
        <p:nvGraphicFramePr>
          <p:cNvPr id="9004" name="Table 9003"/>
          <p:cNvGraphicFramePr>
            <a:graphicFrameLocks noGrp="1"/>
          </p:cNvGraphicFramePr>
          <p:nvPr/>
        </p:nvGraphicFramePr>
        <p:xfrm>
          <a:off x="566928" y="1828800"/>
          <a:ext cx="11064240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指标</a:t>
                      </a:r>
                    </a:p>
                  </a:txBody>
                  <a:tcPr marL="54864" marR="54864" marT="18288" marB="18288" anchor="ctr">
                    <a:solidFill>
                      <a:srgbClr val="113E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字段 / 定义</a:t>
                      </a:r>
                    </a:p>
                  </a:txBody>
                  <a:tcPr marL="54864" marR="54864" marT="18288" marB="18288" anchor="ctr">
                    <a:solidFill>
                      <a:srgbClr val="113E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聚合</a:t>
                      </a:r>
                    </a:p>
                  </a:txBody>
                  <a:tcPr marL="54864" marR="54864" marT="18288" marB="18288" anchor="ctr">
                    <a:solidFill>
                      <a:srgbClr val="113E6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有效吞吐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名义工作量 ÷ metadata.duration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每 run 算再取中位数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峰值吞吐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scheduling_peak_throughput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3 run 逐点中位数后取标量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P90/P99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activeQ 到 Bind 完成的分位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剔首尾各 2 点后取中位数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Pod E2E P99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pod_e2e_latency_p99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同上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绑定成功率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Bind 成功 / 尝试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比值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队列堆积峰值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pending_pods 最大值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取最大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9005" name="TextBox 9004"/>
          <p:cNvSpPr txBox="1"/>
          <p:nvPr/>
        </p:nvSpPr>
        <p:spPr>
          <a:xfrm>
            <a:off x="566928" y="50749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E2C2C"/>
                </a:solidFill>
                <a:latin typeface="Arial"/>
                <a:ea typeface="微软雅黑"/>
              </a:rPr>
              <a:t>▪  recording rules 归一化跨组指标名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2E2C2C"/>
                </a:solidFill>
                <a:latin typeface="Arial"/>
                <a:ea typeface="微软雅黑"/>
              </a:rPr>
              <a:t>▪  提取脚本：collect/latency-compare.py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2E2C2C"/>
                </a:solidFill>
                <a:latin typeface="Arial"/>
                <a:ea typeface="微软雅黑"/>
              </a:rPr>
              <a:t>▪  场景清单：results/compare/</a:t>
            </a:r>
          </a:p>
        </p:txBody>
      </p:sp>
      <p:sp>
        <p:nvSpPr>
          <p:cNvPr id="9006" name="TextBox 9005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36363"/>
                </a:solidFill>
                <a:latin typeface="Arial"/>
                <a:ea typeface="微软雅黑"/>
              </a:rPr>
              <a:t>B2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0" name="Freeform 5"/>
          <p:cNvSpPr/>
          <p:nvPr/>
        </p:nvSpPr>
        <p:spPr>
          <a:xfrm>
            <a:off x="182880" y="274320"/>
            <a:ext cx="310896" cy="402336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001" name="Picture 9000" descr="beihang-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024" y="91665"/>
            <a:ext cx="2642616" cy="502469"/>
          </a:xfrm>
          <a:prstGeom prst="rect">
            <a:avLst/>
          </a:prstGeom>
        </p:spPr>
      </p:pic>
      <p:sp>
        <p:nvSpPr>
          <p:cNvPr id="9002" name="TextBox 9001"/>
          <p:cNvSpPr txBox="1"/>
          <p:nvPr/>
        </p:nvSpPr>
        <p:spPr>
          <a:xfrm>
            <a:off x="566928" y="155448"/>
            <a:ext cx="8549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13E6A"/>
                </a:solidFill>
                <a:latin typeface="Arial"/>
                <a:ea typeface="微软雅黑"/>
              </a:rPr>
              <a:t>为什么 c/d/e 的 P99 不能与 a/b 直接比</a:t>
            </a:r>
          </a:p>
        </p:txBody>
      </p:sp>
      <p:sp>
        <p:nvSpPr>
          <p:cNvPr id="9003" name="TextBox 9002"/>
          <p:cNvSpPr txBox="1"/>
          <p:nvPr/>
        </p:nvSpPr>
        <p:spPr>
          <a:xfrm>
            <a:off x="566928" y="1261872"/>
            <a:ext cx="10881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070C0"/>
                </a:solidFill>
                <a:latin typeface="Arial"/>
                <a:ea typeface="微软雅黑"/>
              </a:rPr>
              <a:t>单实例过载 → Pod 长期堵在 activeQ → 未进入延迟直方图</a:t>
            </a:r>
          </a:p>
        </p:txBody>
      </p:sp>
      <p:sp>
        <p:nvSpPr>
          <p:cNvPr id="9004" name="TextBox 9003"/>
          <p:cNvSpPr txBox="1"/>
          <p:nvPr/>
        </p:nvSpPr>
        <p:spPr>
          <a:xfrm>
            <a:off x="566928" y="1965960"/>
            <a:ext cx="106070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2E2C2C"/>
                </a:solidFill>
                <a:latin typeface="Arial"/>
                <a:ea typeface="微软雅黑"/>
              </a:rPr>
              <a:t>▪  直方图只覆盖“已被 pop 处理”的子集</a:t>
            </a:r>
          </a:p>
          <a:p>
            <a:pPr algn="l">
              <a:lnSpc>
                <a:spcPct val="115000"/>
              </a:lnSpc>
              <a:spcBef>
                <a:spcPts val="1800"/>
              </a:spcBef>
            </a:pPr>
            <a:r>
              <a:rPr sz="1700" b="0">
                <a:solidFill>
                  <a:srgbClr val="2E2C2C"/>
                </a:solidFill>
                <a:latin typeface="Arial"/>
                <a:ea typeface="微软雅黑"/>
              </a:rPr>
              <a:t>▪  数值对该子集准确，但样本群体不同</a:t>
            </a:r>
          </a:p>
          <a:p>
            <a:pPr algn="l">
              <a:lnSpc>
                <a:spcPct val="115000"/>
              </a:lnSpc>
              <a:spcBef>
                <a:spcPts val="1800"/>
              </a:spcBef>
            </a:pPr>
            <a:r>
              <a:rPr sz="1700" b="0">
                <a:solidFill>
                  <a:srgbClr val="2E2C2C"/>
                </a:solidFill>
                <a:latin typeface="Arial"/>
                <a:ea typeface="微软雅黑"/>
              </a:rPr>
              <a:t>▪  故只比吞吐 / 队列 / 成功率</a:t>
            </a:r>
          </a:p>
        </p:txBody>
      </p:sp>
      <p:sp>
        <p:nvSpPr>
          <p:cNvPr id="9005" name="TextBox 9004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36363"/>
                </a:solidFill>
                <a:latin typeface="Arial"/>
                <a:ea typeface="微软雅黑"/>
              </a:rPr>
              <a:t>B3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0" name="Freeform 5"/>
          <p:cNvSpPr/>
          <p:nvPr/>
        </p:nvSpPr>
        <p:spPr>
          <a:xfrm>
            <a:off x="182880" y="274320"/>
            <a:ext cx="310896" cy="402336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001" name="Picture 9000" descr="beihang-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024" y="91665"/>
            <a:ext cx="2642616" cy="502469"/>
          </a:xfrm>
          <a:prstGeom prst="rect">
            <a:avLst/>
          </a:prstGeom>
        </p:spPr>
      </p:pic>
      <p:sp>
        <p:nvSpPr>
          <p:cNvPr id="9002" name="TextBox 9001"/>
          <p:cNvSpPr txBox="1"/>
          <p:nvPr/>
        </p:nvSpPr>
        <p:spPr>
          <a:xfrm>
            <a:off x="566928" y="155448"/>
            <a:ext cx="8549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13E6A"/>
                </a:solidFill>
                <a:latin typeface="Arial"/>
                <a:ea typeface="微软雅黑"/>
              </a:rPr>
              <a:t>Gang（w6）尾延迟反向的机理与边界</a:t>
            </a:r>
          </a:p>
        </p:txBody>
      </p:sp>
      <p:sp>
        <p:nvSpPr>
          <p:cNvPr id="9003" name="TextBox 9002"/>
          <p:cNvSpPr txBox="1"/>
          <p:nvPr/>
        </p:nvSpPr>
        <p:spPr>
          <a:xfrm>
            <a:off x="566928" y="1261872"/>
            <a:ext cx="10881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070C0"/>
                </a:solidFill>
                <a:latin typeface="Arial"/>
                <a:ea typeface="微软雅黑"/>
              </a:rPr>
              <a:t>吞吐仍领先，但单 Pod 尾延迟高出 1.6~4.1 倍</a:t>
            </a:r>
          </a:p>
        </p:txBody>
      </p:sp>
      <p:graphicFrame>
        <p:nvGraphicFramePr>
          <p:cNvPr id="9004" name="Table 9003"/>
          <p:cNvGraphicFramePr>
            <a:graphicFrameLocks noGrp="1"/>
          </p:cNvGraphicFramePr>
          <p:nvPr/>
        </p:nvGraphicFramePr>
        <p:xfrm>
          <a:off x="566928" y="1828800"/>
          <a:ext cx="11064240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场景</a:t>
                      </a:r>
                    </a:p>
                  </a:txBody>
                  <a:tcPr marL="54864" marR="54864" marT="18288" marB="18288" anchor="ctr">
                    <a:solidFill>
                      <a:srgbClr val="113E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ENO 吞吐</a:t>
                      </a:r>
                    </a:p>
                  </a:txBody>
                  <a:tcPr marL="54864" marR="54864" marT="18288" marB="18288" anchor="ctr">
                    <a:solidFill>
                      <a:srgbClr val="113E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Gödel 吞吐</a:t>
                      </a:r>
                    </a:p>
                  </a:txBody>
                  <a:tcPr marL="54864" marR="54864" marT="18288" marB="18288" anchor="ctr">
                    <a:solidFill>
                      <a:srgbClr val="113E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ENO P99</a:t>
                      </a:r>
                    </a:p>
                  </a:txBody>
                  <a:tcPr marL="54864" marR="54864" marT="18288" marB="18288" anchor="ctr">
                    <a:solidFill>
                      <a:srgbClr val="113E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Gödel P99</a:t>
                      </a:r>
                    </a:p>
                  </a:txBody>
                  <a:tcPr marL="54864" marR="54864" marT="18288" marB="18288" anchor="ctr">
                    <a:solidFill>
                      <a:srgbClr val="113E6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s3/w6 inst1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251.3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211.0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0.428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0.175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s3/w6 inst3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215.5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206.6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0.892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0.218</a:t>
                      </a:r>
                    </a:p>
                  </a:txBody>
                  <a:tcPr marL="54864" marR="54864" marT="18288" marB="18288" anchor="ctr">
                    <a:solidFill>
                      <a:srgbClr val="F2F4F7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s4/w6 inst3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245.1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206.6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0.576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2E2C2C"/>
                          </a:solidFill>
                          <a:latin typeface="Arial"/>
                          <a:ea typeface="微软雅黑"/>
                        </a:rPr>
                        <a:t>0.353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005" name="TextBox 9004"/>
          <p:cNvSpPr txBox="1"/>
          <p:nvPr/>
        </p:nvSpPr>
        <p:spPr>
          <a:xfrm>
            <a:off x="566928" y="50749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E2C2C"/>
                </a:solidFill>
                <a:latin typeface="Arial"/>
                <a:ea typeface="微软雅黑"/>
              </a:rPr>
              <a:t>▪  同组预留等待与决策共用进程与队列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2E2C2C"/>
                </a:solidFill>
                <a:latin typeface="Arial"/>
                <a:ea typeface="微软雅黑"/>
              </a:rPr>
              <a:t>▪  未用独立计时实验分离两段耗时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2E2C2C"/>
                </a:solidFill>
                <a:latin typeface="Arial"/>
                <a:ea typeface="微软雅黑"/>
              </a:rPr>
              <a:t>▪  已在论文 §6.8 列为局限</a:t>
            </a:r>
          </a:p>
        </p:txBody>
      </p:sp>
      <p:sp>
        <p:nvSpPr>
          <p:cNvPr id="9006" name="TextBox 9005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36363"/>
                </a:solidFill>
                <a:latin typeface="Arial"/>
                <a:ea typeface="微软雅黑"/>
              </a:rPr>
              <a:t>B4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0" name="Freeform 5"/>
          <p:cNvSpPr/>
          <p:nvPr/>
        </p:nvSpPr>
        <p:spPr>
          <a:xfrm>
            <a:off x="182880" y="274320"/>
            <a:ext cx="310896" cy="402336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001" name="Picture 9000" descr="beihang-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024" y="91665"/>
            <a:ext cx="2642616" cy="502469"/>
          </a:xfrm>
          <a:prstGeom prst="rect">
            <a:avLst/>
          </a:prstGeom>
        </p:spPr>
      </p:pic>
      <p:sp>
        <p:nvSpPr>
          <p:cNvPr id="9002" name="TextBox 9001"/>
          <p:cNvSpPr txBox="1"/>
          <p:nvPr/>
        </p:nvSpPr>
        <p:spPr>
          <a:xfrm>
            <a:off x="566928" y="155448"/>
            <a:ext cx="8549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3E6A"/>
                </a:solidFill>
                <a:latin typeface="Arial"/>
                <a:ea typeface="微软雅黑"/>
              </a:rPr>
              <a:t>资源公平性与未量化的资源收益</a:t>
            </a:r>
          </a:p>
        </p:txBody>
      </p:sp>
      <p:sp>
        <p:nvSpPr>
          <p:cNvPr id="9003" name="TextBox 9002"/>
          <p:cNvSpPr txBox="1"/>
          <p:nvPr/>
        </p:nvSpPr>
        <p:spPr>
          <a:xfrm>
            <a:off x="566928" y="1261872"/>
            <a:ext cx="10881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070C0"/>
                </a:solidFill>
                <a:latin typeface="Arial"/>
                <a:ea typeface="微软雅黑"/>
              </a:rPr>
              <a:t>每 Deployment 同规格，对 ENO 略不利</a:t>
            </a:r>
          </a:p>
        </p:txBody>
      </p:sp>
      <p:sp>
        <p:nvSpPr>
          <p:cNvPr id="9004" name="TextBox 9003"/>
          <p:cNvSpPr txBox="1"/>
          <p:nvPr/>
        </p:nvSpPr>
        <p:spPr>
          <a:xfrm>
            <a:off x="566928" y="1965960"/>
            <a:ext cx="106070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2E2C2C"/>
                </a:solidFill>
                <a:latin typeface="Arial"/>
                <a:ea typeface="微软雅黑"/>
              </a:rPr>
              <a:t>▪  Scheduler Pod 统一 2C/4G</a:t>
            </a:r>
          </a:p>
          <a:p>
            <a:pPr algn="l">
              <a:lnSpc>
                <a:spcPct val="115000"/>
              </a:lnSpc>
              <a:spcBef>
                <a:spcPts val="1800"/>
              </a:spcBef>
            </a:pPr>
            <a:r>
              <a:rPr sz="1700" b="0">
                <a:solidFill>
                  <a:srgbClr val="2E2C2C"/>
                </a:solidFill>
                <a:latin typeface="Arial"/>
                <a:ea typeface="微软雅黑"/>
              </a:rPr>
              <a:t>▪  ENO 少一个 Binder Deployment</a:t>
            </a:r>
          </a:p>
          <a:p>
            <a:pPr algn="l">
              <a:lnSpc>
                <a:spcPct val="115000"/>
              </a:lnSpc>
              <a:spcBef>
                <a:spcPts val="1800"/>
              </a:spcBef>
            </a:pPr>
            <a:r>
              <a:rPr sz="1700" b="0">
                <a:solidFill>
                  <a:srgbClr val="2E2C2C"/>
                </a:solidFill>
                <a:latin typeface="Arial"/>
                <a:ea typeface="微软雅黑"/>
              </a:rPr>
              <a:t>▪  集群总资源收益未量化</a:t>
            </a:r>
          </a:p>
        </p:txBody>
      </p:sp>
      <p:sp>
        <p:nvSpPr>
          <p:cNvPr id="9005" name="TextBox 9004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36363"/>
                </a:solidFill>
                <a:latin typeface="Arial"/>
                <a:ea typeface="微软雅黑"/>
              </a:rPr>
              <a:t>B5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0" name="Freeform 5"/>
          <p:cNvSpPr/>
          <p:nvPr/>
        </p:nvSpPr>
        <p:spPr>
          <a:xfrm>
            <a:off x="182880" y="274320"/>
            <a:ext cx="310896" cy="402336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001" name="Picture 9000" descr="beihang-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024" y="91665"/>
            <a:ext cx="2642616" cy="502469"/>
          </a:xfrm>
          <a:prstGeom prst="rect">
            <a:avLst/>
          </a:prstGeom>
        </p:spPr>
      </p:pic>
      <p:sp>
        <p:nvSpPr>
          <p:cNvPr id="9002" name="TextBox 9001"/>
          <p:cNvSpPr txBox="1"/>
          <p:nvPr/>
        </p:nvSpPr>
        <p:spPr>
          <a:xfrm>
            <a:off x="566928" y="155448"/>
            <a:ext cx="8549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3E6A"/>
                </a:solidFill>
                <a:latin typeface="Arial"/>
                <a:ea typeface="微软雅黑"/>
              </a:rPr>
              <a:t>一键复现</a:t>
            </a:r>
          </a:p>
        </p:txBody>
      </p:sp>
      <p:sp>
        <p:nvSpPr>
          <p:cNvPr id="9003" name="TextBox 9002"/>
          <p:cNvSpPr txBox="1"/>
          <p:nvPr/>
        </p:nvSpPr>
        <p:spPr>
          <a:xfrm>
            <a:off x="566928" y="1261872"/>
            <a:ext cx="10881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070C0"/>
                </a:solidFill>
                <a:latin typeface="Arial"/>
                <a:ea typeface="微软雅黑"/>
              </a:rPr>
              <a:t>从零到结果的全部入口</a:t>
            </a:r>
          </a:p>
        </p:txBody>
      </p:sp>
      <p:sp>
        <p:nvSpPr>
          <p:cNvPr id="9004" name="TextBox 9003"/>
          <p:cNvSpPr txBox="1"/>
          <p:nvPr/>
        </p:nvSpPr>
        <p:spPr>
          <a:xfrm>
            <a:off x="566928" y="1965960"/>
            <a:ext cx="106070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2E2C2C"/>
                </a:solidFill>
                <a:latin typeface="Arial"/>
                <a:ea typeface="微软雅黑"/>
              </a:rPr>
              <a:t>▪  run-experiment.sh：12 步实验流程</a:t>
            </a:r>
          </a:p>
          <a:p>
            <a:pPr algn="l">
              <a:lnSpc>
                <a:spcPct val="115000"/>
              </a:lnSpc>
              <a:spcBef>
                <a:spcPts val="1800"/>
              </a:spcBef>
            </a:pPr>
            <a:r>
              <a:rPr sz="1700" b="0">
                <a:solidFill>
                  <a:srgbClr val="2E2C2C"/>
                </a:solidFill>
                <a:latin typeface="Arial"/>
                <a:ea typeface="微软雅黑"/>
              </a:rPr>
              <a:t>▪  plot-results.py / collect/：聚合与出图</a:t>
            </a:r>
          </a:p>
          <a:p>
            <a:pPr algn="l">
              <a:lnSpc>
                <a:spcPct val="115000"/>
              </a:lnSpc>
              <a:spcBef>
                <a:spcPts val="1800"/>
              </a:spcBef>
            </a:pPr>
            <a:r>
              <a:rPr sz="1700" b="0">
                <a:solidFill>
                  <a:srgbClr val="2E2C2C"/>
                </a:solidFill>
                <a:latin typeface="Arial"/>
                <a:ea typeface="微软雅黑"/>
              </a:rPr>
              <a:t>▪  results/compare/：16 场景产物</a:t>
            </a:r>
          </a:p>
        </p:txBody>
      </p:sp>
      <p:sp>
        <p:nvSpPr>
          <p:cNvPr id="9005" name="TextBox 9004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36363"/>
                </a:solidFill>
                <a:latin typeface="Arial"/>
                <a:ea typeface="微软雅黑"/>
              </a:rPr>
              <a:t>B6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000" name="Freeform 5"/>
          <p:cNvSpPr/>
          <p:nvPr/>
        </p:nvSpPr>
        <p:spPr>
          <a:xfrm>
            <a:off x="182880" y="274320"/>
            <a:ext cx="310896" cy="402336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0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0" y="2147483647"/>
              </a:cxn>
              <a:cxn ang="0">
                <a:pos x="2147483647" y="2147483647"/>
              </a:cxn>
            </a:cxnLst>
            <a:rect l="0" t="0" r="0" b="0"/>
            <a:pathLst>
              <a:path w="574" h="681">
                <a:moveTo>
                  <a:pt x="120" y="441"/>
                </a:moveTo>
                <a:cubicBezTo>
                  <a:pt x="153" y="441"/>
                  <a:pt x="183" y="454"/>
                  <a:pt x="205" y="476"/>
                </a:cubicBezTo>
                <a:lnTo>
                  <a:pt x="389" y="329"/>
                </a:lnTo>
                <a:cubicBezTo>
                  <a:pt x="383" y="317"/>
                  <a:pt x="380" y="303"/>
                  <a:pt x="380" y="289"/>
                </a:cubicBezTo>
                <a:cubicBezTo>
                  <a:pt x="380" y="271"/>
                  <a:pt x="384" y="255"/>
                  <a:pt x="392" y="241"/>
                </a:cubicBezTo>
                <a:lnTo>
                  <a:pt x="270" y="138"/>
                </a:lnTo>
                <a:cubicBezTo>
                  <a:pt x="256" y="151"/>
                  <a:pt x="237" y="159"/>
                  <a:pt x="217" y="159"/>
                </a:cubicBezTo>
                <a:cubicBezTo>
                  <a:pt x="173" y="159"/>
                  <a:pt x="137" y="123"/>
                  <a:pt x="137" y="79"/>
                </a:cubicBezTo>
                <a:cubicBezTo>
                  <a:pt x="137" y="36"/>
                  <a:pt x="173" y="0"/>
                  <a:pt x="217" y="0"/>
                </a:cubicBezTo>
                <a:cubicBezTo>
                  <a:pt x="260" y="0"/>
                  <a:pt x="296" y="36"/>
                  <a:pt x="296" y="79"/>
                </a:cubicBezTo>
                <a:cubicBezTo>
                  <a:pt x="296" y="91"/>
                  <a:pt x="293" y="103"/>
                  <a:pt x="289" y="113"/>
                </a:cubicBezTo>
                <a:lnTo>
                  <a:pt x="412" y="217"/>
                </a:lnTo>
                <a:cubicBezTo>
                  <a:pt x="429" y="201"/>
                  <a:pt x="452" y="192"/>
                  <a:pt x="477" y="192"/>
                </a:cubicBezTo>
                <a:cubicBezTo>
                  <a:pt x="530" y="192"/>
                  <a:pt x="574" y="235"/>
                  <a:pt x="574" y="289"/>
                </a:cubicBezTo>
                <a:cubicBezTo>
                  <a:pt x="574" y="342"/>
                  <a:pt x="530" y="386"/>
                  <a:pt x="477" y="386"/>
                </a:cubicBezTo>
                <a:cubicBezTo>
                  <a:pt x="449" y="386"/>
                  <a:pt x="424" y="374"/>
                  <a:pt x="406" y="355"/>
                </a:cubicBezTo>
                <a:lnTo>
                  <a:pt x="224" y="501"/>
                </a:lnTo>
                <a:cubicBezTo>
                  <a:pt x="234" y="518"/>
                  <a:pt x="240" y="539"/>
                  <a:pt x="240" y="561"/>
                </a:cubicBezTo>
                <a:cubicBezTo>
                  <a:pt x="240" y="627"/>
                  <a:pt x="186" y="681"/>
                  <a:pt x="120" y="681"/>
                </a:cubicBezTo>
                <a:cubicBezTo>
                  <a:pt x="54" y="681"/>
                  <a:pt x="0" y="627"/>
                  <a:pt x="0" y="561"/>
                </a:cubicBezTo>
                <a:cubicBezTo>
                  <a:pt x="0" y="495"/>
                  <a:pt x="54" y="441"/>
                  <a:pt x="120" y="441"/>
                </a:cubicBezTo>
                <a:close/>
              </a:path>
            </a:pathLst>
          </a:custGeom>
          <a:solidFill>
            <a:srgbClr val="113E6A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001" name="Picture 9000" descr="beihang-logo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024" y="91665"/>
            <a:ext cx="2642616" cy="502469"/>
          </a:xfrm>
          <a:prstGeom prst="rect">
            <a:avLst/>
          </a:prstGeom>
        </p:spPr>
      </p:pic>
      <p:sp>
        <p:nvSpPr>
          <p:cNvPr id="9002" name="TextBox 9001"/>
          <p:cNvSpPr txBox="1"/>
          <p:nvPr/>
        </p:nvSpPr>
        <p:spPr>
          <a:xfrm>
            <a:off x="566928" y="155448"/>
            <a:ext cx="854964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13E6A"/>
                </a:solidFill>
                <a:latin typeface="Arial"/>
                <a:ea typeface="微软雅黑"/>
              </a:rPr>
              <a:t>主场景 s3/w3 的时序形态（备用）</a:t>
            </a:r>
          </a:p>
        </p:txBody>
      </p:sp>
      <p:sp>
        <p:nvSpPr>
          <p:cNvPr id="9003" name="TextBox 9002"/>
          <p:cNvSpPr txBox="1"/>
          <p:nvPr/>
        </p:nvSpPr>
        <p:spPr>
          <a:xfrm>
            <a:off x="566928" y="1261872"/>
            <a:ext cx="10881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070C0"/>
                </a:solidFill>
                <a:latin typeface="Arial"/>
                <a:ea typeface="微软雅黑"/>
              </a:rPr>
              <a:t>ENO 更早进入平台、平台更高、结束更早</a:t>
            </a:r>
          </a:p>
        </p:txBody>
      </p:sp>
      <p:pic>
        <p:nvPicPr>
          <p:cNvPr id="9004" name="Picture 9003" descr="fig6-throughput-s3-w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322730"/>
            <a:ext cx="5394960" cy="2212539"/>
          </a:xfrm>
          <a:prstGeom prst="rect">
            <a:avLst/>
          </a:prstGeom>
        </p:spPr>
      </p:pic>
      <p:pic>
        <p:nvPicPr>
          <p:cNvPr id="9005" name="Picture 9004" descr="fig6-6-latency-p99-s3-w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323351"/>
            <a:ext cx="5394960" cy="2211297"/>
          </a:xfrm>
          <a:prstGeom prst="rect">
            <a:avLst/>
          </a:prstGeom>
        </p:spPr>
      </p:pic>
      <p:sp>
        <p:nvSpPr>
          <p:cNvPr id="9006" name="TextBox 9005"/>
          <p:cNvSpPr txBox="1"/>
          <p:nvPr/>
        </p:nvSpPr>
        <p:spPr>
          <a:xfrm>
            <a:off x="566928" y="5138928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2E2C2C"/>
                </a:solidFill>
                <a:latin typeface="Arial"/>
                <a:ea typeface="微软雅黑"/>
              </a:rPr>
              <a:t>▪  吞吐平台更高且更早稳定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2E2C2C"/>
                </a:solidFill>
                <a:latin typeface="Arial"/>
                <a:ea typeface="微软雅黑"/>
              </a:rPr>
              <a:t>▪  P99 峰值更低、回落更快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2E2C2C"/>
                </a:solidFill>
                <a:latin typeface="Arial"/>
                <a:ea typeface="微软雅黑"/>
              </a:rPr>
              <a:t>▪  整体完成时间更短</a:t>
            </a:r>
          </a:p>
        </p:txBody>
      </p:sp>
      <p:sp>
        <p:nvSpPr>
          <p:cNvPr id="9007" name="TextBox 9006"/>
          <p:cNvSpPr txBox="1"/>
          <p:nvPr/>
        </p:nvSpPr>
        <p:spPr>
          <a:xfrm>
            <a:off x="10780776" y="6345936"/>
            <a:ext cx="85039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36363"/>
                </a:solidFill>
                <a:latin typeface="Arial"/>
                <a:ea typeface="微软雅黑"/>
              </a:rPr>
              <a:t>B7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">
  <a:themeElements>
    <a:clrScheme name="">
      <a:dk1>
        <a:srgbClr val="004C54"/>
      </a:dk1>
      <a:lt1>
        <a:srgbClr val="009EB0"/>
      </a:lt1>
      <a:dk2>
        <a:srgbClr val="DDDDDD"/>
      </a:dk2>
      <a:lt2>
        <a:srgbClr val="808080"/>
      </a:lt2>
      <a:accent1>
        <a:srgbClr val="292929"/>
      </a:accent1>
      <a:accent2>
        <a:srgbClr val="FFFFFF"/>
      </a:accent2>
      <a:accent3>
        <a:srgbClr val="AACCD4"/>
      </a:accent3>
      <a:accent4>
        <a:srgbClr val="004046"/>
      </a:accent4>
      <a:accent5>
        <a:srgbClr val="ACACAC"/>
      </a:accent5>
      <a:accent6>
        <a:srgbClr val="E7E7E7"/>
      </a:accent6>
      <a:hlink>
        <a:srgbClr val="B3B3B3"/>
      </a:hlink>
      <a:folHlink>
        <a:srgbClr val="404040"/>
      </a:folHlink>
    </a:clrScheme>
    <a:fontScheme name="2_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13">
        <a:dk1>
          <a:srgbClr val="000000"/>
        </a:dk1>
        <a:lt1>
          <a:srgbClr val="FFFFD9"/>
        </a:lt1>
        <a:dk2>
          <a:srgbClr val="2B2E30"/>
        </a:dk2>
        <a:lt2>
          <a:srgbClr val="777777"/>
        </a:lt2>
        <a:accent1>
          <a:srgbClr val="7FBA00"/>
        </a:accent1>
        <a:accent2>
          <a:srgbClr val="FCDB00"/>
        </a:accent2>
        <a:accent3>
          <a:srgbClr val="FFFFE9"/>
        </a:accent3>
        <a:accent4>
          <a:srgbClr val="000000"/>
        </a:accent4>
        <a:accent5>
          <a:srgbClr val="C0D9AA"/>
        </a:accent5>
        <a:accent6>
          <a:srgbClr val="E4C600"/>
        </a:accent6>
        <a:hlink>
          <a:srgbClr val="21A3D0"/>
        </a:hlink>
        <a:folHlink>
          <a:srgbClr val="DA25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">
  <a:themeElements>
    <a:clrScheme name="">
      <a:dk1>
        <a:srgbClr val="004C54"/>
      </a:dk1>
      <a:lt1>
        <a:srgbClr val="009EB0"/>
      </a:lt1>
      <a:dk2>
        <a:srgbClr val="DDDDDD"/>
      </a:dk2>
      <a:lt2>
        <a:srgbClr val="808080"/>
      </a:lt2>
      <a:accent1>
        <a:srgbClr val="292929"/>
      </a:accent1>
      <a:accent2>
        <a:srgbClr val="FFFFFF"/>
      </a:accent2>
      <a:accent3>
        <a:srgbClr val="AACCD4"/>
      </a:accent3>
      <a:accent4>
        <a:srgbClr val="004046"/>
      </a:accent4>
      <a:accent5>
        <a:srgbClr val="ACACAC"/>
      </a:accent5>
      <a:accent6>
        <a:srgbClr val="E7E7E7"/>
      </a:accent6>
      <a:hlink>
        <a:srgbClr val="B3B3B3"/>
      </a:hlink>
      <a:folHlink>
        <a:srgbClr val="404040"/>
      </a:folHlink>
    </a:clrScheme>
    <a:fontScheme name="3_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默认设计模板 13">
        <a:dk1>
          <a:srgbClr val="000000"/>
        </a:dk1>
        <a:lt1>
          <a:srgbClr val="FFFFD9"/>
        </a:lt1>
        <a:dk2>
          <a:srgbClr val="2B2E30"/>
        </a:dk2>
        <a:lt2>
          <a:srgbClr val="777777"/>
        </a:lt2>
        <a:accent1>
          <a:srgbClr val="7FBA00"/>
        </a:accent1>
        <a:accent2>
          <a:srgbClr val="FCDB00"/>
        </a:accent2>
        <a:accent3>
          <a:srgbClr val="FFFFE9"/>
        </a:accent3>
        <a:accent4>
          <a:srgbClr val="000000"/>
        </a:accent4>
        <a:accent5>
          <a:srgbClr val="C0D9AA"/>
        </a:accent5>
        <a:accent6>
          <a:srgbClr val="E4C600"/>
        </a:accent6>
        <a:hlink>
          <a:srgbClr val="21A3D0"/>
        </a:hlink>
        <a:folHlink>
          <a:srgbClr val="DA25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2227</Words>
  <Application>Microsoft Office PowerPoint</Application>
  <PresentationFormat>自定义</PresentationFormat>
  <Paragraphs>279</Paragraphs>
  <Slides>29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34" baseType="lpstr">
      <vt:lpstr>微软雅黑</vt:lpstr>
      <vt:lpstr>Arial</vt:lpstr>
      <vt:lpstr>Calibri</vt:lpstr>
      <vt:lpstr>1</vt:lpstr>
      <vt:lpstr>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</dc:title>
  <dc:subject>1</dc:subject>
  <dc:creator>zhite</dc:creator>
  <dc:description>1</dc:description>
  <cp:lastModifiedBy> </cp:lastModifiedBy>
  <cp:revision>8</cp:revision>
  <dcterms:created xsi:type="dcterms:W3CDTF">2013-01-25T01:44:00Z</dcterms:created>
  <dcterms:modified xsi:type="dcterms:W3CDTF">2019-07-19T02:21:16Z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2052-10.1.0.6490</vt:lpwstr>
  </property>
</Properties>
</file>