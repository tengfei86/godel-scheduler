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各位老师上午好。我的论文题目是《基于 etcd 的分布式 Kubernetes 调度器研究与实现》。这项工作针对分布式调度器把绑定拆出去之后吞吐上不去、一致性也守不住的问题。一句话概括：把 Binder 合并回 Scheduler，用四层机制守住“至多绑定一次”。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汇报分六段，二十分钟左右，重点在第五、六段的实验。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先说背景。Kubernetes 已成为云原生的事实标准，调度器在 Pod 生命周期的关键路径上，吞吐和延迟直接决定资源利用率与业务响应速度。千节点规模单实例还能撑住，到万节点量级就暴露三个瓶颈：activeQ 串行、Filter/Score 随规模线性、Leader 单点。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第二章分国外与国内两条线。国外从集中式走到共享状态：Borg、Omega、Mesos，再到 kube-scheduler 的插件框架。国内代表是 Gödel，字节跳动开源，用节点分区做分片式多实例；Volcano 与 Koordinator 走插件增强。共同缺口在落盘侧。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这一页压成两句。架构上，单 Dispatcher、多独立 Scheduler，Binder 合并进 Scheduler 进程，CacheAdapter 零拷贝共享缓存。一致性上，四层容错覆盖 Bind 前中后，都建立在 etcd 原子语义上。两条创新指向同一个目标。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这张图是总体架构。上层 Dispatcher 单实例，维护节点分区表，把 Pod 按分区分发给对应 Scheduler，绑定出问题时清理注解、触发重分发。中间多个 Scheduler 只调度本分区节点。下层 Binder 与 Scheduler 同进程，负责真正写进 apiserver。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Dispatcher 内部三步。第一步排序入队：nodeName 为空、还没有 scheduler-name 注解的新 Pod，按 FIFO 进有序队列。第二步分发决策：PodGroup 成员复用已分配实例，否则按负载均衡挑最空闲的。第三步写入并跟踪：PatchPod 写 scheduler-name，失败进不可调度队列。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Scheduler 内部也是三步。入队前 pre-queue 先校验 PodGroup 成员与亲和依赖，不通过退回 Dispatcher。进 activeQ 后跑 Filter、Score、Reserve，Reserve 阶段写 Assumed 状态。最后调 Binder 执行 Bind；失败进 backoffQ 退避，多次失败退回 Dispatcher。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左边是原形态，Binder 独立部署，决策完要把任务发过去；右边是本文形态，Binder 就在 Scheduler 进程里。这一刀去掉三段开销：事件传递、跨进程调用、序列化。我把它称为第一性来源。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难点在缓存。以前 Binder 在另一个进程，缓存要么复制要么重建。CacheAdapter 让进程内 Binder 直接拿到同一份 SchedulerCache 的对象引用，所以叫零拷贝。两边看到同一份状态，Layer 0 的校验才有同一个真相可依。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四层是一条时间轴。Bind 前 Layer 0 校验归属注解，非本分区直接拒绝并回退。Bind 中 Layer 1 只处理 409、429、ServerTimeout 三类暂态错误：线性退避 100、200、300 毫秒，最多三次，其它错误立即上抛。失败后 Layer 2 异步清理残留注解，按失败计数决定本地重试还是上升。重试耗尽 Layer 3 用一次原子 patch 交回 Dispatcher 重分发。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所有机制最后都归约到这一条不变量 I：任一 Pod 至多绑定到一个节点。证明拆四点。P1 是 Bind 唯一性，来自 Kubernetes 自身：nodeName 为空才允许原子写入，重复写返回 409。P2 是 Assumed 清理，Reject 阶段 ForgetPod 清内存态，Layer 2 清 etcd 注解。P3 是清理到重分发的时序，一次 PatchPod 原子提交。P4 是 Layer 0 前置拦截，缓存滞后由 P1 兜底。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先讲编码：s 是规模档位，w 是负载强度，inst 是实例数，后面场景名都由这三段拼成。再说公平性：KWOK 仿真、kind 集群内运行；五个调度器 Pod 规格相同，各自的 client-go QPS 与 Burst 都放到 10000，避免把客户端限流误读成调度能力差异；每场景三次取中位数，共 144 次 run。主评估取 s2/w2、s2/w3、s3/w2、s3/w3 四个场景，其余作为扩展与复杂负载场景。观测栈是 Prometheus 每 15 秒抓取，recording rules 统一各组指标名。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方法学核心。吞吐时序是爬升、平台、归零三段，直接取平均会被尾段零值稀释，稀释程度还取决于跑多久，跨调度器就不可比，所以主口径是总工作量除以总完成时间。时序处理三步：每个场景跑三次，按相对时间对齐后逐时间点取中位数；剔掉首尾各两个采样点，也就是约 30 秒的预热与冷却；剩下的序列上取分位数，P90、P99 用线性插值算。队列堆积是个例外，取过程最大值；绑定成功率按三次比值取中位数。c、d、e 是单实例，过载时 Pod 没进直方图，存在幸存者偏差，只做定性说明。所以跨调度器我只用吞吐、队列堆积与绑定成功率做整体比较，延迟只在 ENO 与 Gödel 之间比。这三条口径是后面所有数字可比的前提；口径不同，数字就不能直接并列。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在给性能数字之前，先说正确性。144 次 run，每次跑完都在 apiserver 侧断言：未绑定为零、重复绑定为零，全部通过；ENO 那 48 次 run 成功率都是 100%。两场故障注入各 6 项判据全过。所谓正确，不是日志里没报错，而是外部可观测的事实对得上。断言是在 apiserver 侧做的，不是调度器自报。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五组横向对比，结论是三档。第一档是 ENO 与 Gödel，单位都是几百 pods/s。第二档是 kube-scheduler。第三档是 Volcano 与 Koordinator，只有约 48 和约 24 pods/s，而且几乎不随规模变化——这是它们批处理与 QoS 感知调度的固有开销。主评估四场景里，ENO 比 kube-scheduler 高 1.8% 到 22.5%，比 Volcano 约 6 倍、比 Koordinator 12 倍以上。唯一的例外是 s1/w1 的低负载，比 kube-scheduler 低 7.2%，因为那个场景没饱和，完成时间由注入速率决定。柱状图按场景排序，第三档几乎是一条水平线，说明它们的瓶颈不在调度吞吐这一维。从 s1 到 s3，第一档的曲线始终压在最上面，第三档几乎不随规模变化。这个排序在 16 个场景上是一致的。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这一页是给评委看“形态”的。左边吞吐，右边 P99，共享同一条时间轴。ENO 的平台更高、更早稳定；右边的 P99 峰值更低、回落更快。这两张图放在一起的意义是：我们的优势不是某个瞬时点上的抖动，而是整段完成时间都更短——这也正好解释了为什么有效吞吐这个口径对我们有利，因为它衡量的是固定工作量做多久做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两件事。第一，规模从 5000 到 10000、实例数不变，两边都退化：ENO -15.2%，Gödel -2.3%；但 ENO 仍领先，吞吐 296.7 对 280.9 高 5.6%，P99 0.19 对 0.28 秒低 33.4%，队列峰值 9 对 61。第二，复杂负载：极限 +9.3% 与 +16.0%，突发 +21.3% 与 +2.8%，异构 s3 高 21.2%、s4 持平。s4 的退化与固定三实例有关，这写在局限里。规模翻倍而实例不扩，本身就是一个更苛刻的设定，不能当作扩展上限。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第一场注入：s2/w2、三实例，第 30 秒把 10% 的节点、约 100 个，归属注解从 scheduler-0 改为 scheduler-1。NodeValidator 拦截 300 次，Dispatcher 回退 300 次，两条曲线重叠。拦截不等于丢弃：Pod 进回退队列被重分发，成功率仍是 1.00，总耗时 683 秒、只比基线多 3 秒。这组数字说明 Layer 0 只是把错误前置，不是把工作丢掉，代价几乎为零。拦截 300 次、回退 300 次，两边对得上，说明没有 Pod 被丢掉。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第二场注入：第 10 秒杀掉 scheduler-0，停机 180 秒，实测中断 189 秒。看 kill 之后 90 秒的窗口：被杀实例只剩 68 次绑定，占该窗口 8407 次的 0.81%——它的份额被瞬间清零，而不是有 0.81% 的 Pod 丢了。同一窗口两个存活实例照常完成绑定，pending 峰值 353，之后 60 秒回落到 2；累计绑定 49607/50000，断言仍全过。代价是 784 秒、比基线多 104 秒。注意它比 180 秒停机短：另外三分之二的实例一直在工作，重排被并行吸收了。这是工作量重排的代价，不是数据损坏。对比基线是同一场景下的无故障运行，680 秒。队列在 353 之后回落到 2，说明积压是瞬时的。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这一页的局限按论文第 7 章讲三条。第一，Gang 场景的尾延迟反向：w6 下 ENO 单 Pod P99 高于 Gödel，我们的解释是同组预留等待、绑定调用与后续决策共用同一个进程和队列，但还没有用独立计时实验把这两段耗时分离开，所以如实列为未证实的归因。第二，KWOK 仿真：去掉了 kubelet、运行时、真实网络与磁盘 IO，绝对数值不能外推到生产，只能用于跨调度器的相对比较。第三，资源开销：公平策略是每个 Deployment 同规格，所以没有量化 ENO 移除整个 Binder Deployment 在集群总资源上的收益。对应的三个延伸方向是生产灰度、多 Dispatcher 分区协同、以及在 ENO 上叠加具体调度策略。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汇报到这里。一句话总结：把 Binder 合并进 Scheduler 进程，用 etcd 原子语义上的四层容错守住“至多绑定一次”，在 16 个场景、144 次 run 上做到更高吞吐、更低尾延迟与 100% 绑定成功率。请各位老师批评指正。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ig3-1-system-arch.png"/>
          <p:cNvPicPr>
            <a:picLocks noChangeAspect="1"/>
          </p:cNvPicPr>
          <p:nvPr/>
        </p:nvPicPr>
        <p:blipFill>
          <a:blip r:embed="rId2">
            <a:alphaModFix amt="18000"/>
          </a:blip>
          <a:stretch>
            <a:fillRect/>
          </a:stretch>
        </p:blipFill>
        <p:spPr>
          <a:xfrm>
            <a:off x="5760719" y="2069208"/>
            <a:ext cx="6126480" cy="271958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417320"/>
            <a:ext cx="493776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B2A4A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794760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1F5C99"/>
                </a:solidFill>
                <a:latin typeface="Arial"/>
                <a:ea typeface="微软雅黑"/>
              </a:rPr>
              <a:t>硕士学位论文答辩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526280"/>
            <a:ext cx="49377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答辩人：高铜</a:t>
            </a:r>
          </a:p>
          <a:p>
            <a:pPr algn="l">
              <a:spcBef>
                <a:spcPts val="500"/>
              </a:spcBef>
            </a:pPr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指导教师：兰雨晴 教授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 / 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目录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72184"/>
            <a:ext cx="658368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0B2A4A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61872" y="1426464"/>
            <a:ext cx="315468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333333"/>
                </a:solidFill>
                <a:latin typeface="Arial"/>
                <a:ea typeface="微软雅黑"/>
              </a:rPr>
              <a:t>研究背景与现状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80560" y="1481328"/>
            <a:ext cx="54864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566474"/>
                </a:solidFill>
                <a:latin typeface="Arial"/>
                <a:ea typeface="微软雅黑"/>
              </a:rPr>
              <a:t>万节点规模下的三个瓶颈、两条技术路线与本文的两个问题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85248" y="1453896"/>
            <a:ext cx="107899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50" b="1">
                <a:solidFill>
                  <a:srgbClr val="1F5C99"/>
                </a:solidFill>
                <a:latin typeface="Arial"/>
                <a:ea typeface="微软雅黑"/>
              </a:rPr>
              <a:t>P3–P5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2121408"/>
            <a:ext cx="10497312" cy="7315"/>
          </a:xfrm>
          <a:prstGeom prst="rect">
            <a:avLst/>
          </a:prstGeom>
          <a:solidFill>
            <a:srgbClr val="D8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423160"/>
            <a:ext cx="658368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0B2A4A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61872" y="2377440"/>
            <a:ext cx="315468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333333"/>
                </a:solidFill>
                <a:latin typeface="Arial"/>
                <a:ea typeface="微软雅黑"/>
              </a:rPr>
              <a:t>架构总览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2432304"/>
            <a:ext cx="54864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566474"/>
                </a:solidFill>
                <a:latin typeface="Arial"/>
                <a:ea typeface="微软雅黑"/>
              </a:rPr>
              <a:t>Dispatcher / Scheduler / Binder 三层职责与 Pod 流转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85248" y="2404872"/>
            <a:ext cx="107899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50" b="1">
                <a:solidFill>
                  <a:srgbClr val="1F5C99"/>
                </a:solidFill>
                <a:latin typeface="Arial"/>
                <a:ea typeface="微软雅黑"/>
              </a:rPr>
              <a:t>P6–P8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3072384"/>
            <a:ext cx="10497312" cy="7315"/>
          </a:xfrm>
          <a:prstGeom prst="rect">
            <a:avLst/>
          </a:prstGeom>
          <a:solidFill>
            <a:srgbClr val="D8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3374136"/>
            <a:ext cx="658368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0B2A4A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61872" y="3328416"/>
            <a:ext cx="315468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333333"/>
                </a:solidFill>
                <a:latin typeface="Arial"/>
                <a:ea typeface="微软雅黑"/>
              </a:rPr>
              <a:t>核心方案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3383280"/>
            <a:ext cx="54864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566474"/>
                </a:solidFill>
                <a:latin typeface="Arial"/>
                <a:ea typeface="微软雅黑"/>
              </a:rPr>
              <a:t>把 Binder 合并进 Scheduler、缓存零拷贝共享；四层容错 + 不变量证明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985248" y="3355848"/>
            <a:ext cx="107899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50" b="1">
                <a:solidFill>
                  <a:srgbClr val="1F5C99"/>
                </a:solidFill>
                <a:latin typeface="Arial"/>
                <a:ea typeface="微软雅黑"/>
              </a:rPr>
              <a:t>P9–P12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4023360"/>
            <a:ext cx="10497312" cy="7315"/>
          </a:xfrm>
          <a:prstGeom prst="rect">
            <a:avLst/>
          </a:prstGeom>
          <a:solidFill>
            <a:srgbClr val="D8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4325112"/>
            <a:ext cx="658368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0B2A4A"/>
                </a:solidFill>
                <a:latin typeface="Arial"/>
                <a:ea typeface="微软雅黑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61872" y="4279392"/>
            <a:ext cx="315468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333333"/>
                </a:solidFill>
                <a:latin typeface="Arial"/>
                <a:ea typeface="微软雅黑"/>
              </a:rPr>
              <a:t>实验与结果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60" y="4334255"/>
            <a:ext cx="54864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566474"/>
                </a:solidFill>
                <a:latin typeface="Arial"/>
                <a:ea typeface="微软雅黑"/>
              </a:rPr>
              <a:t>144 次 run 的口径与断言；五组基线、逐场景吞吐与尾延迟、扩展与复杂负载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985248" y="4306824"/>
            <a:ext cx="107899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50" b="1">
                <a:solidFill>
                  <a:srgbClr val="1F5C99"/>
                </a:solidFill>
                <a:latin typeface="Arial"/>
                <a:ea typeface="微软雅黑"/>
              </a:rPr>
              <a:t>P13–P21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4974336"/>
            <a:ext cx="10497312" cy="7315"/>
          </a:xfrm>
          <a:prstGeom prst="rect">
            <a:avLst/>
          </a:prstGeom>
          <a:solidFill>
            <a:srgbClr val="D8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6928" y="5276088"/>
            <a:ext cx="658368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0B2A4A"/>
                </a:solidFill>
                <a:latin typeface="Arial"/>
                <a:ea typeface="微软雅黑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61872" y="5230368"/>
            <a:ext cx="315468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333333"/>
                </a:solidFill>
                <a:latin typeface="Arial"/>
                <a:ea typeface="微软雅黑"/>
              </a:rPr>
              <a:t>故障注入与局限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0560" y="5285232"/>
            <a:ext cx="54864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566474"/>
                </a:solidFill>
                <a:latin typeface="Arial"/>
                <a:ea typeface="微软雅黑"/>
              </a:rPr>
              <a:t>Layer 0 / Layer 3 两场注入，以及三条局限与展望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85248" y="5257800"/>
            <a:ext cx="107899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50" b="1">
                <a:solidFill>
                  <a:srgbClr val="1F5C99"/>
                </a:solidFill>
                <a:latin typeface="Arial"/>
                <a:ea typeface="微软雅黑"/>
              </a:rPr>
              <a:t>P22–P24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66928" y="5925312"/>
            <a:ext cx="10497312" cy="7315"/>
          </a:xfrm>
          <a:prstGeom prst="rect">
            <a:avLst/>
          </a:prstGeom>
          <a:solidFill>
            <a:srgbClr val="D8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 / 25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研究背景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生产集群进入万节点量级，单实例架构在吞吐与高可用上同时受制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783080"/>
            <a:ext cx="1088136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333333"/>
                </a:solidFill>
                <a:latin typeface="Arial"/>
                <a:ea typeface="微软雅黑"/>
              </a:rPr>
              <a:t>Kubernetes 已成为云原生的事实标准，调度器处在 Pod 生命周期的关键路径上：它的吞吐与延迟直接决定集群资源利用率与业务响应速度。千节点规模下单实例尚可支撑，集群进入万节点量级后，三个瓶颈同时显现。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880360"/>
            <a:ext cx="3517391" cy="21031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880360"/>
            <a:ext cx="50292" cy="21031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3008376"/>
            <a:ext cx="3243072" cy="192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吞吐存在上限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activeQ 串行处理 Pod，大规模弹性伸缩与批任务启动被拖慢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0351" y="2880360"/>
            <a:ext cx="3517391" cy="21031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0351" y="2880360"/>
            <a:ext cx="50292" cy="21031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04943" y="3008376"/>
            <a:ext cx="3243072" cy="192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尾延迟持续抬升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Filter/Score 遍历节点开销随规模线性上升，5000 节点下 P99 明显恶化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13775" y="2880360"/>
            <a:ext cx="3517391" cy="21031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13775" y="2880360"/>
            <a:ext cx="50292" cy="21031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8367" y="3008376"/>
            <a:ext cx="3243072" cy="192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单点故障风险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Leader 崩溃后需等待 Standby 接管，这段窗口内集群完全无法调度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3 / 25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国内外研究现状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国外从集中式走到共享状态，国内以 Gödel 分片式多实例为代表；落盘侧仍缺结构化方案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487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051560"/>
                <a:gridCol w="4343400"/>
                <a:gridCol w="338328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系统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区域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架构特征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局限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Borg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集中式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单点决策路径上限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Omega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共享状态 + 乐观并发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冲突处理复杂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Mesos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两级资源调度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多框架共享开销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kube-scheduler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中心式插件框架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超大规模扩展受限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分片式分布式（字节跳动）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独立 Binder 存在瓶颈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插件增强（Gang/队列）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中心路径仍有瓶颈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Koordinator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插件增强（QoS/超卖）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单实例扩展受限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国外：Borg→Omega→Mesos→kube-scheduler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国内：Gödel（字节跳动）做分片，Volcano/Koordinator 做插件增强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缺口：绑定阶段串行化、漂移下的严格一致性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4 / 25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研究内容与创新点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55648"/>
            <a:ext cx="5404104" cy="23317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755648"/>
            <a:ext cx="50292" cy="23317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83664"/>
            <a:ext cx="5129784" cy="21488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1 · ENO 架构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单 Dispatcher、多独立 Scheduler；Binder 与决策同域；CacheAdapter 零拷贝共享 SchedulerCache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27064" y="1755648"/>
            <a:ext cx="5404104" cy="23317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27064" y="1755648"/>
            <a:ext cx="50292" cy="23317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91656" y="1883664"/>
            <a:ext cx="5129784" cy="21488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L0 归属校验 · L1 同步退避 · L2 异步回收 · L3 全局回退，全部建立在 etcd 原子语义上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553712"/>
            <a:ext cx="11064240" cy="86868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4553712"/>
            <a:ext cx="73152" cy="86868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4645152"/>
            <a:ext cx="10607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两条创新指向同一目标：不改 API 的前提下，让分布式调度既跑得快，稳定性更高。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5 / 25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整体架构图</a:t>
            </a:r>
          </a:p>
        </p:txBody>
      </p:sp>
      <p:pic>
        <p:nvPicPr>
          <p:cNvPr id="4" name="Picture 3" descr="fig3-1-system-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5464" y="868680"/>
            <a:ext cx="7930591" cy="352044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590288"/>
            <a:ext cx="50292" cy="1481328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Dispatcher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单实例（Leader Election）。维护节点分区表，按分区把待调度 Pod 分发到对应 Scheduler；绑定失败时清理调度注解，触发全局重分发。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120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1208" y="4590288"/>
            <a:ext cx="50292" cy="1481328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408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Scheduler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多实例水平扩展。只调度本分区内的节点，依次执行 Filter / Score / Reserve，产出目标节点后交给 Binder 落盘。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548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5488" y="4590288"/>
            <a:ext cx="50292" cy="1481328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7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Binder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与 Scheduler 同进程。执行 Bind 子资源原子写；失败时按四层机制重试、回收孤儿状态，必要时上升到跨实例回退。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6 / 25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Dispatcher 内部流程</a:t>
            </a:r>
          </a:p>
        </p:txBody>
      </p:sp>
      <p:pic>
        <p:nvPicPr>
          <p:cNvPr id="4" name="Picture 3" descr="fig3-3-dispatcher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0114" y="868680"/>
            <a:ext cx="5861290" cy="3703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① 排序入队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Informer 观察到 nodeName 为空、且无 scheduler-name 注解的新 Pod，按 FIFO 排序后进入有序队列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② 分发决策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PodGroup 成员复用该组已分配的实例；否则按负载均衡（MaxIdle 加权轮询）挑选最空闲的 Scheduler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③ 写入并跟踪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PatchPod 写入 scheduler-name 完成分发；持续观察绑定结果，失败进入不可调度队列等待重分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7 / 25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Scheduler 内部流程</a:t>
            </a:r>
          </a:p>
        </p:txBody>
      </p:sp>
      <p:pic>
        <p:nvPicPr>
          <p:cNvPr id="4" name="Picture 3" descr="fig3-4-scheduler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7347" y="868680"/>
            <a:ext cx="5666825" cy="3703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① 入队与预处理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只接 scheduler-name 匹配自身的 Pod；pre-queue 插件校验 PodGroup 成员与亲和依赖，不通过则退回 Dispatcher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② 调度循环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从 activeQ 弹出后依次 Filter（剔除硬约束不满足）、Score（打分）、Reserve（标记候选并写 Assumed 状态）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③ 绑定与回流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Reserve 后调用 Binder 执行 Bind；失败进入 backoffQ 指数退避，多次失败则退回 Dispatcher 触发跨实例回退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8 / 25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进程内 Binder 架构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去掉一次跨进程绑定链路，是吞吐提升的第一性来源</a:t>
            </a:r>
          </a:p>
        </p:txBody>
      </p:sp>
      <p:pic>
        <p:nvPicPr>
          <p:cNvPr id="6" name="Picture 5" descr="fig5-1a-shared-bin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8676" y="1828800"/>
            <a:ext cx="3751462" cy="3200400"/>
          </a:xfrm>
          <a:prstGeom prst="rect">
            <a:avLst/>
          </a:prstGeom>
        </p:spPr>
      </p:pic>
      <p:pic>
        <p:nvPicPr>
          <p:cNvPr id="7" name="Picture 6" descr="fig5-1b-eno-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9354" y="1828800"/>
            <a:ext cx="1580651" cy="32004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绑定与决策同域，事件传递归零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序列化与网络往返被消除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9 / 25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CacheAdapter</a:t>
            </a:r>
          </a:p>
        </p:txBody>
      </p:sp>
      <p:pic>
        <p:nvPicPr>
          <p:cNvPr id="4" name="Picture 3" descr="fig5-2-cache-zero-cop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28698" y="868680"/>
            <a:ext cx="4504123" cy="3703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① 共享同一实例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CacheAdapter 把 Scheduler 的 SchedulerCache 交给进程内 Binder，两边持有同一份缓存对象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② 零拷贝、零同步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状态以引用传递，不做序列化复制，也没有跨进程的同步延迟与网络往返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③ 同一份真相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Layer 0 的节点归属校验读的就是这份缓存，Scheduler 与 Binder 看到的状态一致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10 / 25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四层绑定容错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每一层对应一类威胁，并分别依赖一种 etcd 原子语义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783080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783080"/>
            <a:ext cx="73152" cy="896112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911095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B2A4A"/>
                </a:solidFill>
                <a:latin typeface="Arial"/>
                <a:ea typeface="微软雅黑"/>
              </a:rPr>
              <a:t>① Layer 0 · 预防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38728" y="1874519"/>
            <a:ext cx="3840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333333"/>
                </a:solidFill>
                <a:latin typeface="Arial"/>
                <a:ea typeface="微软雅黑"/>
              </a:rPr>
              <a:t>威胁：T0 节点分区归属漂移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333333"/>
                </a:solidFill>
                <a:latin typeface="Arial"/>
                <a:ea typeface="微软雅黑"/>
              </a:rPr>
              <a:t>动作：Bind 前校验 Node 的 eno.io/scheduler-name 注解，非本分区直接拒绝并清理注解回退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70648" y="1874519"/>
            <a:ext cx="39776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依赖：resourceVersion 乐观并发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770632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2770632"/>
            <a:ext cx="73152" cy="896112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898648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B2A4A"/>
                </a:solidFill>
                <a:latin typeface="Arial"/>
                <a:ea typeface="微软雅黑"/>
              </a:rPr>
              <a:t>② Layer 1 · 即时恢复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38728" y="2862072"/>
            <a:ext cx="3840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333333"/>
                </a:solidFill>
                <a:latin typeface="Arial"/>
                <a:ea typeface="微软雅黑"/>
              </a:rPr>
              <a:t>威胁：T1 Bind 返回 409 Conflict / 429 TooManyRequests / ServerTimeout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333333"/>
                </a:solidFill>
                <a:latin typeface="Arial"/>
                <a:ea typeface="微软雅黑"/>
              </a:rPr>
              <a:t>动作：线性退避 n×100ms（100/200/300ms），最多 3 次；仅这三类重试，其余错误立即上抛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70648" y="2862072"/>
            <a:ext cx="39776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依赖：Bind 原子性：重复 Bind 返回 409，可视为成功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758184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3758184"/>
            <a:ext cx="73152" cy="896112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8096" y="3886200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B2A4A"/>
                </a:solidFill>
                <a:latin typeface="Arial"/>
                <a:ea typeface="微软雅黑"/>
              </a:rPr>
              <a:t>③ Layer 2 · 后台回收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38728" y="3849624"/>
            <a:ext cx="3840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333333"/>
                </a:solidFill>
                <a:latin typeface="Arial"/>
                <a:ea typeface="微软雅黑"/>
              </a:rPr>
              <a:t>威胁：T2 Bind 失败后 scheduler-name、assumed-node 注解残留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333333"/>
                </a:solidFill>
                <a:latin typeface="Arial"/>
                <a:ea typeface="微软雅黑"/>
              </a:rPr>
              <a:t>动作：异步 Reconciler 消费失败队列，PatchPod 清理调度注解，按失败计数决定本地重试或升 L3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70648" y="3849624"/>
            <a:ext cx="39776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依赖：Watch 一致性视图；NotFound 直接丢弃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745736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6928" y="4745736"/>
            <a:ext cx="73152" cy="89611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4873752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B2A4A"/>
                </a:solidFill>
                <a:latin typeface="Arial"/>
                <a:ea typeface="微软雅黑"/>
              </a:rPr>
              <a:t>④ Layer 3 · 全局回退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38728" y="4837176"/>
            <a:ext cx="3840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333333"/>
                </a:solidFill>
                <a:latin typeface="Arial"/>
                <a:ea typeface="微软雅黑"/>
              </a:rPr>
              <a:t>威胁：T3 本地重试耗尽、Scheduler 实例失活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333333"/>
                </a:solidFill>
                <a:latin typeface="Arial"/>
                <a:ea typeface="微软雅黑"/>
              </a:rPr>
              <a:t>动作：一次 PatchPod 原子提交：置 pod-state=Pending、删 scheduler-name、追加 failed-schedulers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70648" y="4837176"/>
            <a:ext cx="39776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依赖：etcd 事务原子提交（Txn）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11 / 25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核心不变量 I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所有机制最终归约到“任一 Pod 至多绑定到一个节点”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874519"/>
            <a:ext cx="1088136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P1 Bind 唯一性：nodeName 为空才允许写，重复写返回 409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P2 Assumed 清理：Reject 阶段 ForgetPod，Layer 2 清 etcd 注解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P3 清理与重分发时序：一次 PatchPod 原子提交，无中间态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P4 前置拦截：归属注解 + Layer 0 校验，缓存滞后由 P1 兜底</a:t>
            </a:r>
          </a:p>
        </p:txBody>
      </p:sp>
      <p:pic>
        <p:nvPicPr>
          <p:cNvPr id="7" name="Picture 6" descr="fig4-3-consistency-invaria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582352"/>
            <a:ext cx="11064240" cy="211645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12 / 25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实验设计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16 个对比场景，每场景 3 次重复，共 144 次 run，n=3 取中位数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3456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维度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取值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规模 s1–s4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100 / 1000 / 5000 / 10000 节点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速率型 w1–w4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100 / 500 / 1000 / 2000 pods/s（1 万 / 5 万 / 10 万 / 20 万 Pod，w4 为极限）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突发 w5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 → 2000 → 0 pods/s，5 万 Pod，考察涌入与退潮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Gang w6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200 组/s × 5 Pod，共 5 万 Pod，组内必须同时调度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异构 w7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500 pods/s，5 万 Pod，节点资源规格异构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实例 inst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inst1 = 1 个实例；inst3 = 3 个实例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对比组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a=ENO  b=Gödel  c=kube-scheduler  d=Volcano  e=Koordinator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公平性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每 Pod 2C/4G；各调度器 client-go QPS=Burst=10000（不设限流瓶颈）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431536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KWOK 仿真，kind 内 K8s v1.34.8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Prometheus 15 s 抓取 + recording rules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warmup/cooldown 各剔除 30 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13 / 25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评估指标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41732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41732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54533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有效吞吐 pods/s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名义总工作量 ÷ 总完成时间；本文吞吐主口径，与采样窗口长度无关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0351" y="141732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40351" y="141732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04943" y="154533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峰值吞吐 pods/s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处理过程中的最高瞬时调度速率，反映瞬时处理能力上限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13775" y="141732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113775" y="141732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8367" y="154533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P90 / P99 调度延迟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从 Pod 进入 activeQ 到完成 Bind 的分位延迟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15468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315468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28269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Pod E2E 延迟 P99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从 Dispatcher 观察到 Pod 起，直至绑定完成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0351" y="315468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40351" y="315468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04943" y="328269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绑定成功率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Bind 成功次数 ÷ Bind 尝试次数，直接对应正确性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13775" y="315468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13775" y="315468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78367" y="328269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队列堆积峰值 pods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pending_pods 在处理过程中的最大值，反映消化能力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495604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▪  有效吞吐：每次 run 单独算「总工作量 ÷ 完成时间」，再取 3 次中位数（不走时序聚合）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▪  其余时序指标：3 条 run 逐点取中位（离散度半 IQR）→ 剔首尾各 2 点（约 30 s）→ 取中位数；分位数线性插值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▪  队列堆积是例外：逐点中位聚合后取峰值、不做剔尾；c/d/e 过载存在幸存者偏差，只与 a/b 比吞吐、队列、成功率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14 / 25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绑定正确性与不变量验证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144 次 run 的 apiserver 断言全部通过：unbound = 0 且 dup = 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341376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892807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E8833A"/>
                </a:solidFill>
                <a:latin typeface="Arial"/>
                <a:ea typeface="微软雅黑"/>
              </a:rPr>
              <a:t>100%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绑定成功率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92168" y="1783080"/>
            <a:ext cx="341376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92168" y="1892807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E8833A"/>
                </a:solidFill>
                <a:latin typeface="Arial"/>
                <a:ea typeface="微软雅黑"/>
              </a:rPr>
              <a:t>144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921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次 run 全部通过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25968" y="1783080"/>
            <a:ext cx="341376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25968" y="1892807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E8833A"/>
                </a:solidFill>
                <a:latin typeface="Arial"/>
                <a:ea typeface="微软雅黑"/>
              </a:rPr>
              <a:t>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259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unbound / dup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3520440"/>
            <a:ext cx="1078992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ENO 48 次 run：绑定成功率 100%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Layer 0 / Layer 3 故障注入均通过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15 / 25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五组基线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ENO/Gödel 第一档，kube-scheduler 第二档，Volcano/Koordinator 低一个数量级</a:t>
            </a:r>
          </a:p>
        </p:txBody>
      </p:sp>
      <p:pic>
        <p:nvPicPr>
          <p:cNvPr id="6" name="Picture 5" descr="fig6-3-throughput-5gro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较 kube-scheduler +1.8%~+22.5%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较 Volcano 约 6×，较 Koordinator 12× 以上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s1/w1 低负载例外 -7.2%（未饱和）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4160520"/>
          <a:ext cx="5029200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8200"/>
                <a:gridCol w="838200"/>
                <a:gridCol w="838200"/>
                <a:gridCol w="838200"/>
                <a:gridCol w="838200"/>
                <a:gridCol w="83820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k-sched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Koord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≈297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≈16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≈292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≈24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16 / 25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主场景 s3/w3 的时序形态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ENO 更早进入平台、平台更高、结束更早</a:t>
            </a:r>
          </a:p>
        </p:txBody>
      </p:sp>
      <p:pic>
        <p:nvPicPr>
          <p:cNvPr id="6" name="Picture 5" descr="fig6-throughput-s3-w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322730"/>
            <a:ext cx="5394960" cy="2212539"/>
          </a:xfrm>
          <a:prstGeom prst="rect">
            <a:avLst/>
          </a:prstGeom>
        </p:spPr>
      </p:pic>
      <p:pic>
        <p:nvPicPr>
          <p:cNvPr id="7" name="Picture 6" descr="fig6-6-latency-p99-s3-w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2323351"/>
            <a:ext cx="5394960" cy="221129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吞吐平台更高且更早稳定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P99 峰值更低、回落更快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整体完成时间更短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17 / 25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ENO vs Gödel 各场景吞吐对比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平均 +11.9%，高负载与多实例场景优势最大</a:t>
            </a:r>
          </a:p>
        </p:txBody>
      </p:sp>
      <p:pic>
        <p:nvPicPr>
          <p:cNvPr id="6" name="Picture 5" descr="fig6-2-effective-throughp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14 领先、2 持平（s1/w1、s4/w7）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提升 +2.0%~+22.9%，平均 +11.9%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亮点：s2/w3 +22.9%、s3/w3 inst3 +21.7%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18 / 25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ENO vs Gödel 各场景尾延迟对比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s2/w3 从 23.48 s 降到 4.00 s，降幅 82.9%</a:t>
            </a:r>
          </a:p>
        </p:txBody>
      </p:sp>
      <p:pic>
        <p:nvPicPr>
          <p:cNvPr id="6" name="Picture 5" descr="fig6-4-latency-p99-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27662"/>
            <a:ext cx="5852160" cy="271707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15 个场景：11 好、1 持平（s2/w2）、3 个 Gang 反向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Gang（w6）3 个场景全部偏差：P99 高 1.6~4.1 倍，但吞吐仍 +4.3%~+19.1%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Pod E2E P99：12 个非 Gang 改善 0.6%~75.3%，3 个 Gang 高 11.9%~122.2%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19 / 25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ENO vs Gödel 实例扩展对比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实例 ×3：ENO 吞吐 ×1.18，Gödel 仅 ×1.01；P99 都降约 99%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10512"/>
          <a:ext cx="56235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8760"/>
                <a:gridCol w="2103120"/>
                <a:gridCol w="2011680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指标（s3/w3）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ENO：inst1 → inst3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Gödel：inst1 → inst3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有效吞吐 pods/s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297.6 → 349.7（×1.18）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283.3 → 287.4（×1.01）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P99 延迟 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16.22 → 0.13（−99.2%）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32.57 → 0.15（−99.5%）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14698 → 20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22652 → 16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fig6-16-throughput-s3-w3-inst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812181"/>
            <a:ext cx="5276088" cy="216378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355080" y="4014215"/>
            <a:ext cx="527608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s3/w3 inst3 吞吐时序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52628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3333"/>
                </a:solidFill>
                <a:latin typeface="Arial"/>
                <a:ea typeface="微软雅黑"/>
              </a:rPr>
              <a:t>▪  同样的实例增量：ENO 多 52.1 pods/s，Gödel 只多 4.1 pods/s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20 / 25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规模翻倍与复杂负载下仍保持领先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07008"/>
          <a:ext cx="11064240" cy="36210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011680"/>
                <a:gridCol w="2011680"/>
                <a:gridCol w="2377440"/>
                <a:gridCol w="2377440"/>
              </a:tblGrid>
              <a:tr h="603504">
                <a:tc rowSpan="2"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场景（inst3）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 gridSpan="2"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吞吐提升（vs Gödel）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 gridSpan="2"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P99 降幅（vs Gödel）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603504">
                <a:tc vMerge="1"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s3（5k）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s4（10k）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s3（5k）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s4（10k）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w3 稳态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+21.7%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+5.6%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−15.2%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−33.4%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w4 极限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+9.3%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+16.0%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−49.7%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−14.8%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w5 突发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+21.3%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+2.8%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−18.0%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−0.3%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w7 异构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+21.2%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持平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−22.1%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−3.9%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21 / 25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故障注入 Layer 0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10% 节点注解漂移，300 次拦截全部转为合规重排</a:t>
            </a:r>
          </a:p>
        </p:txBody>
      </p:sp>
      <p:pic>
        <p:nvPicPr>
          <p:cNvPr id="6" name="Picture 5" descr="fig6-29a-layer0-time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300 次拦截全部转为回退：不发 Bind，Pod 进 Dispatcher 回退队列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回退后由新归属实例重新调度，15 s 内落到合法节点；累计 50000/50000 绑定成功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代价：总耗时 683 s，对基线 680 s 多 3 s（+0.4%）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22 / 25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故障注入 Layer 3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杀掉 1/3 实例并停机 180 s，系统仍在 784 s 内完成全部绑定</a:t>
            </a:r>
          </a:p>
        </p:txBody>
      </p:sp>
      <p:pic>
        <p:nvPicPr>
          <p:cNvPr id="6" name="Picture 5" descr="fig6-29b-layer3-time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kill 后 90 s 窗口内，被杀实例只剩 68 次绑定，占该窗口 8407 次的 0.81%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同一窗口共完成 8407 次绑定；pending 峰值 353，60 s 内回落到 2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整场耗时 784 s，比无故障基线 680 s 多 104 s（+15.3%）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23 / 25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局限与展望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三条局限有明确边界，三方向是本工作的自然延伸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847088"/>
            <a:ext cx="3517391" cy="2084831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847088"/>
            <a:ext cx="50292" cy="2084831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975104"/>
            <a:ext cx="3243072" cy="19019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Gang 尾延迟未分离归因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w6 场景 ENO 单 Pod P99 高于 Gödel，归因是同组预留等待与后续决策共用进程与队列，尚未用独立计时实验把两段耗时分离开量化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0351" y="1847088"/>
            <a:ext cx="3517391" cy="2084831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40351" y="1847088"/>
            <a:ext cx="50292" cy="2084831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04943" y="1975104"/>
            <a:ext cx="3243072" cy="19019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仿真环境的测量边界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KWOK 用模拟 kubelet 让 Pod 直接进入 Running，省掉镜像拉取、容器启动与真实 IO：好处是测的是调度器本身、可复现；代价是绝对数值不能外推到生产，只能做相对对比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13775" y="1847088"/>
            <a:ext cx="3517391" cy="2084831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13775" y="1847088"/>
            <a:ext cx="50292" cy="2084831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8367" y="1975104"/>
            <a:ext cx="3243072" cy="19019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资源开销未量化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公平策略是各组 Deployment 同规格（2C/4G），因此没有量化 ENO 移除 Binder Deployment 后集群总资源开销的收益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422452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▪  展望：生产环境灰度验证 · 多 Dispatcher 分区协同 · 在 ENO 上叠加资源感知与拓扑亲和策略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24 / 25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197864" y="2212848"/>
            <a:ext cx="9866376" cy="20116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395728"/>
            <a:ext cx="1033272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>
                <a:solidFill>
                  <a:srgbClr val="0B2A4A"/>
                </a:solidFill>
                <a:latin typeface="Arial"/>
                <a:ea typeface="微软雅黑"/>
              </a:rPr>
              <a:t>谢谢各位老师，请批评指正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2900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566474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343400"/>
            <a:ext cx="10332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566474"/>
                </a:solidFill>
                <a:latin typeface="Arial"/>
                <a:ea typeface="微软雅黑"/>
              </a:rPr>
              <a:t>答辩人：高铜</a:t>
            </a:r>
          </a:p>
          <a:p>
            <a:pPr algn="ctr">
              <a:spcBef>
                <a:spcPts val="400"/>
              </a:spcBef>
            </a:pPr>
            <a:r>
              <a:rPr sz="1300" b="0">
                <a:solidFill>
                  <a:srgbClr val="566474"/>
                </a:solidFill>
                <a:latin typeface="Arial"/>
                <a:ea typeface="微软雅黑"/>
              </a:rPr>
              <a:t>指导教师：兰雨晴 教授</a:t>
            </a:r>
          </a:p>
        </p:txBody>
      </p:sp>
      <p:sp>
        <p:nvSpPr>
          <p:cNvPr id="6" name="Rectangle 5"/>
          <p:cNvSpPr/>
          <p:nvPr/>
        </p:nvSpPr>
        <p:spPr>
          <a:xfrm>
            <a:off x="1197864" y="5074920"/>
            <a:ext cx="9866376" cy="20116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25 / 25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