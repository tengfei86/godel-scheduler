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41732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261872" y="137160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4480560" y="142646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9985248" y="139903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9007" name="Rectangle 9006"/>
          <p:cNvSpPr/>
          <p:nvPr/>
        </p:nvSpPr>
        <p:spPr>
          <a:xfrm>
            <a:off x="566928" y="2066543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566928" y="2203703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261872" y="215798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480560" y="22128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9985248" y="2185415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9012" name="Rectangle 9011"/>
          <p:cNvSpPr/>
          <p:nvPr/>
        </p:nvSpPr>
        <p:spPr>
          <a:xfrm>
            <a:off x="566928" y="2852928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566928" y="2990087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261872" y="2944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两项创新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4480560" y="2999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把 Binder 合并进 Scheduler、缓存零拷贝共享；四层容错守住至多绑定一次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9985248" y="2971799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566928" y="3639311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377647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1261872" y="373075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实验设计与正确性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4480560" y="378561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16 场景 144 次 run 的编码、六项指标口径与不变量断言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9985248" y="375818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P13–P15</a:t>
            </a:r>
          </a:p>
        </p:txBody>
      </p:sp>
      <p:sp>
        <p:nvSpPr>
          <p:cNvPr id="9022" name="Rectangle 9021"/>
          <p:cNvSpPr/>
          <p:nvPr/>
        </p:nvSpPr>
        <p:spPr>
          <a:xfrm>
            <a:off x="566928" y="4425696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3" name="TextBox 9022"/>
          <p:cNvSpPr txBox="1"/>
          <p:nvPr/>
        </p:nvSpPr>
        <p:spPr>
          <a:xfrm>
            <a:off x="566928" y="4562855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24" name="TextBox 9023"/>
          <p:cNvSpPr txBox="1"/>
          <p:nvPr/>
        </p:nvSpPr>
        <p:spPr>
          <a:xfrm>
            <a:off x="1261872" y="451713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性能结果</a:t>
            </a:r>
          </a:p>
        </p:txBody>
      </p:sp>
      <p:sp>
        <p:nvSpPr>
          <p:cNvPr id="9025" name="TextBox 9024"/>
          <p:cNvSpPr txBox="1"/>
          <p:nvPr/>
        </p:nvSpPr>
        <p:spPr>
          <a:xfrm>
            <a:off x="4480560" y="4571999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五组基线、主场景形态、逐场景吞吐与尾延迟、实例与规模扩展</a:t>
            </a:r>
          </a:p>
        </p:txBody>
      </p:sp>
      <p:sp>
        <p:nvSpPr>
          <p:cNvPr id="9026" name="TextBox 9025"/>
          <p:cNvSpPr txBox="1"/>
          <p:nvPr/>
        </p:nvSpPr>
        <p:spPr>
          <a:xfrm>
            <a:off x="9985248" y="454456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P16–P21</a:t>
            </a:r>
          </a:p>
        </p:txBody>
      </p:sp>
      <p:sp>
        <p:nvSpPr>
          <p:cNvPr id="9027" name="Rectangle 9026"/>
          <p:cNvSpPr/>
          <p:nvPr/>
        </p:nvSpPr>
        <p:spPr>
          <a:xfrm>
            <a:off x="566928" y="5212079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8" name="TextBox 9027"/>
          <p:cNvSpPr txBox="1"/>
          <p:nvPr/>
        </p:nvSpPr>
        <p:spPr>
          <a:xfrm>
            <a:off x="566928" y="534924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9" name="TextBox 9028"/>
          <p:cNvSpPr txBox="1"/>
          <p:nvPr/>
        </p:nvSpPr>
        <p:spPr>
          <a:xfrm>
            <a:off x="1261872" y="530352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9030" name="TextBox 9029"/>
          <p:cNvSpPr txBox="1"/>
          <p:nvPr/>
        </p:nvSpPr>
        <p:spPr>
          <a:xfrm>
            <a:off x="4480560" y="5358383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9031" name="TextBox 9030"/>
          <p:cNvSpPr txBox="1"/>
          <p:nvPr/>
        </p:nvSpPr>
        <p:spPr>
          <a:xfrm>
            <a:off x="9985248" y="533095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9032" name="Rectangle 9031"/>
          <p:cNvSpPr/>
          <p:nvPr/>
        </p:nvSpPr>
        <p:spPr>
          <a:xfrm>
            <a:off x="566928" y="5998464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3" name="TextBox 903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