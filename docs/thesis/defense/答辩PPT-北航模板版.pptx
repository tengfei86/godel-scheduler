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</p:sldMasterIdLst>
  <p:notesMasterIdLst>
    <p:notesMasterId r:id="rId32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7"/>
    <p:sldId id="281" r:id="rId6"/>
    <p:sldId id="282" r:id="rId5"/>
    <p:sldId id="283" r:id="rId4"/>
    <p:sldId id="284" r:id="rId3"/>
    <p:sldId id="285" r:id="rId37"/>
    <p:sldId id="286" r:id="rId38"/>
    <p:sldId id="287" r:id="rId39"/>
    <p:sldId id="288" r:id="rId40"/>
  </p:sldIdLst>
  <p:sldSz cx="12196763" cy="6858000"/>
  <p:notesSz cx="6858000" cy="9144000"/>
  <p:defaultTextStyle>
    <a:defPPr>
      <a:defRPr lang="zh-CN"/>
    </a:defPPr>
    <a:lvl1pPr marL="0" lvl="0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1pPr>
    <a:lvl2pPr marL="457200" lvl="1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2pPr>
    <a:lvl3pPr marL="914400" lvl="2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3pPr>
    <a:lvl4pPr marL="1371600" lvl="3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4pPr>
    <a:lvl5pPr marL="1828800" lvl="4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5pPr>
    <a:lvl6pPr marL="2286000" lvl="5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6pPr>
    <a:lvl7pPr marL="2743200" lvl="6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7pPr>
    <a:lvl8pPr marL="3200400" lvl="7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8pPr>
    <a:lvl9pPr marL="3657600" lvl="8" indent="0" algn="l" defTabSz="914400" eaLnBrk="1" fontAlgn="base" latinLnBrk="0" hangingPunct="1">
      <a:lnSpc>
        <a:spcPct val="100000"/>
      </a:lnSpc>
      <a:spcBef>
        <a:spcPct val="0"/>
      </a:spcBef>
      <a:spcAft>
        <a:spcPct val="0"/>
      </a:spcAft>
      <a:buNone/>
      <a:defRPr b="0" i="0" u="none" kern="1200" baseline="0">
        <a:solidFill>
          <a:schemeClr val="tx1"/>
        </a:solidFill>
        <a:latin typeface="Arial" panose="020B0604020202020204" pitchFamily="34" charset="0"/>
        <a:ea typeface="宋体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42">
          <p15:clr>
            <a:srgbClr val="A4A3A4"/>
          </p15:clr>
        </p15:guide>
        <p15:guide id="2" pos="384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8F8"/>
    <a:srgbClr val="113E6A"/>
    <a:srgbClr val="006BBC"/>
    <a:srgbClr val="363636"/>
    <a:srgbClr val="FAFAFA"/>
    <a:srgbClr val="0F3D68"/>
    <a:srgbClr val="00336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477" autoAdjust="0"/>
    <p:restoredTop sz="94660"/>
  </p:normalViewPr>
  <p:slideViewPr>
    <p:cSldViewPr snapToObjects="1" showGuides="1">
      <p:cViewPr varScale="1">
        <p:scale>
          <a:sx n="58" d="100"/>
          <a:sy n="58" d="100"/>
        </p:scale>
        <p:origin x="738" y="66"/>
      </p:cViewPr>
      <p:guideLst>
        <p:guide orient="horz" pos="2142"/>
        <p:guide pos="384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29.xml"/><Relationship Id="rId4" Type="http://schemas.openxmlformats.org/officeDocument/2006/relationships/slide" Target="slides/slide28.xml"/><Relationship Id="rId5" Type="http://schemas.openxmlformats.org/officeDocument/2006/relationships/slide" Target="slides/slide27.xml"/><Relationship Id="rId6" Type="http://schemas.openxmlformats.org/officeDocument/2006/relationships/slide" Target="slides/slide26.xml"/><Relationship Id="rId7" Type="http://schemas.openxmlformats.org/officeDocument/2006/relationships/slide" Target="slides/slide25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124" name="Rectangle 4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单击此处编辑母版文本样式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第二级</a:t>
            </a:r>
          </a:p>
          <a:p>
            <a:pPr marL="914400" marR="0" lvl="2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第三级</a:t>
            </a:r>
          </a:p>
          <a:p>
            <a:pPr marL="1371600" marR="0" lvl="3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第四级</a:t>
            </a:r>
          </a:p>
          <a:p>
            <a:pPr marL="1828800" marR="0" lvl="4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libri" panose="020F0502020204030204" pitchFamily="34" charset="0"/>
                <a:ea typeface="宋体" panose="02010600030101010101" pitchFamily="2" charset="-122"/>
                <a:cs typeface="+mn-cs"/>
              </a:rPr>
              <a:t>第五级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>
            <a:lvl1pPr eaLnBrk="0" hangingPunct="0">
              <a:buFont typeface="Arial" panose="020B0604020202020204" pitchFamily="34" charset="0"/>
              <a:buNone/>
              <a:defRPr sz="1200"/>
            </a:lvl1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endParaRPr kumimoji="0" lang="en-US" altLang="zh-CN" sz="1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/>
          <a:lstStyle/>
          <a:p>
            <a:pPr lvl="0" algn="r" fontAlgn="base">
              <a:buChar char="•"/>
            </a:pPr>
            <a:fld id="{9A0DB2DC-4C9A-4742-B13C-FB6460FD3503}" type="slidenum">
              <a:rPr lang="zh-CN" altLang="en-US" sz="1200" strike="noStrike" noProof="1" dirty="0">
                <a:latin typeface="Arial" panose="020B0604020202020204" pitchFamily="34" charset="0"/>
                <a:ea typeface="宋体" panose="02010600030101010101" pitchFamily="2" charset="-122"/>
                <a:cs typeface="+mn-ea"/>
              </a:rPr>
              <a:pPr lvl="0" algn="r" fontAlgn="base">
                <a:buChar char="•"/>
              </a:pPr>
              <a:t>‹#›</a:t>
            </a:fld>
            <a:endParaRPr lang="zh-CN" altLang="en-US" sz="1200" strike="noStrike" noProof="1"/>
          </a:p>
        </p:txBody>
      </p:sp>
    </p:spTree>
    <p:extLst>
      <p:ext uri="{BB962C8B-B14F-4D97-AF65-F5344CB8AC3E}">
        <p14:creationId xmlns:p14="http://schemas.microsoft.com/office/powerpoint/2010/main" val="336092147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各位老师上午好。我汇报的题目是《基于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先说背景。云原生负载规模持续增长，生产集群已经进入万节点量级；业务对调度器提出双重要求，既要秒级承接海量 Pod，又要长期运行不因单点失效中断服务。原生 kube-scheduler 是单实例架构，这两条同时满足很吃力——这正是工业界做分布式改造的起点，也是本文要处理的问题。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现状分国外与国内两条线。国外从集中式走到共享状态：Borg、Omega、Mesos，再到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走插件增强。共同缺口在落盘侧，本文正落在这个缺口上。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这一页把全文压成两句。架构上，单 Dispatcher、多独立 Scheduler，Binder 合并进 Scheduler 进程，CacheAdapter 零拷贝共享缓存，去掉跨进程的事件传递与序列化。一致性上，四层容错，L0 到 L3 覆盖 Bind 前中后，每层对应一类 etcd 原子语义。两条创新指向同一个目标：不改 API，跑得快且绑得对。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Gödel 是最有代表性的开源实现：Dispatcher 分发、Scheduler 决策、Binder 落盘，加节点分区。但它留了两个缺口：Binder 独立部署，绑定又变成跨进程串行环节；分区归属会漂移，严格一致性缺少完整论证。本文的两个问题就对着这两个缺口。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进程里。这一刀去掉三段开销：事件传递、跨进程调用、序列化。后面所有吞吐数字都从这一刀下来，同时保留 CLI 开关可回退。开关的意义是：改动可回退，部署可平滑。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 Dispatcher 的内部流程。它进来先做归属校验，把分区漂移的 Pod 拦住；再按实例负载做分区选择，决定交给哪个 Scheduler；然后入队。注意它不选节点，只决定 Pod 去哪，选节点是下一环的事，这也是它能并行分发的原因。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这是总体架构。Dispatcher 只做两件事：分区怎么分、出事怎么退；中间多个 Scheduler 各管一个分区，跑 Filter、Score、Reserve；最下面把决策写进 apiserver。分区之间没有共享锁，状态靠 Watch 驱动，这是能扩展的前提。三层职责清晰，故障面也就容易划清。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的校验才有同一个真相可依。零拷贝的收益，会在扩展性实验里直接体现。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前，Layer 0 校验归属注解，把漂移拦在门外；Bind 中，Layer 1 用同步退避处理暂态错误；失败后，Layer 2 用异步 Reconciler 回收孤儿状态；重试耗尽，Layer 3 由 Dispatcher 清注解、触发全局重分发。四层之间是衔接关系，不是四个独立补丁。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所有机制最后都回到不变量 I：任一 Pod 至多绑定到一个节点。证明拆四点：P1 来自 Bind 子资源原子写；P2 是 Assumed 状态清理；P3 是注解清理与重分发的时序；P4 是 Layer 0 前置拦截。四层都不破坏 I，且可在 apiserver 侧复核。这也是后面所有实验断言的设计依据。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所有机制最后都要回到不变量 I：任一 Pod 至多绑定到一个节点。证明拆四点：P1 来自 Bind 子资源原子写；P2 是 Assumed 状态清理；P3 是注解清理与重分发的时序；P4 是 Layer 0 前置拦截。四层都不破坏 I，而且可以在 apiserver 侧用断言复核，不是自说自话。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这一页是方法学核心。吞吐时序是爬升、平台、归零三段，直接取平均会被尾段零值稀释，稀释程度还取决于跑多久，跨调度器就不可比，所以主口径是总工作量除以总完成时间。时序类指标先对三条 run 逐点取中位数，再剔首尾各两点。还有一条限定：c、d、e 是单实例，过载时大量 Pod 堵在 activeQ 没进直方图，存在幸存者偏差，只做定性说明。这三条口径，是后面所有数字可比的前提。另外，跨调度器我只用吞吐、队列堆积与绑定成功率做整体比较，延迟只在 ENO 与 Gödel 之间比。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项判据全过。所谓正确，不是日志没报错，而是外部事实对得上。两场注入分别是分区漂移与实例失活，正好覆盖两类威胁。判据包括成功率、断言、拦截数、回退数、耗时与队列行为，六项都要成立。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次，两条曲线重叠。关键是拦截不等于丢弃：Pod 进回退队列被重分发，所以成功率仍是 1.00，断言 50000 全过，总耗时 683 秒，只比基线多 3 秒。这组数字说明 Layer 0 只是把错误前置，不是把工作丢掉，代价几乎为零。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秒。被杀实例未完成的绑定只占 68/8407，即 0.81%；两个存活实例接管 8407 个 Pod，孤儿回收 77.15 每秒，队列峰值 353 后回落到 2。累计绑定 49607/50000，断言仍全过。代价是 784 秒、多 104 秒，这是工作量重排，不是数据损坏。对比基线是同一场景下的无故障运行，680 秒；这也说明接管是可控的，代价有界。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五组对比，结论是三档。第一档 ENO 与 Gödel，都是几百 pods/s；第二档 kube-scheduler；第三档 Volcano 与 Koordinator，只有约 48 和约 24 pods/s，几乎不随规模变化。主评估四场景里，ENO 比 kube-scheduler 高 1.8% 到 22.5%，比 Volcano 约 6 倍、比 Koordinator 12 倍以上。唯一例外是 s1/w1 低负载低 7.2%，那是没饱和。柱状图按场景排序，第三档几乎是一条水平线。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 14 个领先、2 个持平，没有落后的，提升 2.0% 到 22.9%，平均 11.9%。优势最大的是高负载与多实例：s2/w3 高 22.9%，s3/w3 三实例高 21.7%，s3/w5 与 s3/w7 三实例也都超过 21%。持平场景是没饱和，完成时间由注入速率决定。四个亮点场景分别是高负载、突发、异构与多实例。平均 11.9% 这个数，是把 14 个领先场景的幅度取均值得到的。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延迟这页。除 s2/w2 外，11 个非 Gang 场景 P99 都低于 Gödel，改善 0.3% 到 82.9%。最典型是 s2/w3，23.48 秒降到 4.00 秒；单实例 s3/w3 从 32.57 秒到 16.22 秒。Pod 端到端 P99 在 12 个非 Gang 场景也都不高于 Gödel，改善 0.6% 到 75.3%。Gang 是反的，放到局限里展开。延迟的单位都是秒，纵轴用对数，便于跨量级比较；改善的下界 0.3% 出现在接近饱和的场景。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这是全文最强的归因证据。同样把实例从 1 加到 3，两边延迟都降约 99%，这部分一样。差别在吞吐：ENO 从 297.6 到 349.7，提升 17.5%；Gödel 从 283.3 到 287.4，只提升 1.4%。同样多的并发能力，Gödel 的增量被独立 Binder 的串行绑定吸收掉了。扩展性实验固定负载为 s3/w3，w3 即 1000 pods per second，两组都跑三次取中位数。延迟数量级下降，说明瓶颈不在决策侧。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仍领先——吞吐 296.7 对 280.9 高 5.6%，P99 0.19 对 0.28 秒低 33.4%，队列峰值 9 对 61。第二，复杂负载：极限 +9.3% 与 +16.0%，突发 +21.3% 与 +2.8%，异构 s3 高 21.2%、s4 持平。注意固定三实例，回落不等于扩展上限。s4 的退化与固定三实例有关，这写在局限里。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把机制和指标对齐。进程内绑定去掉事件传递，对应 E2E 降低，三实例 0.45 对 0.93 秒；零拷贝让状态复用无同步延迟；关键是第三行，没有独立 Binder 的串行段，吞吐才能随实例扩展，+17.5% 对 +1.4%；第四行四层容错守住不变量。也要说明相关与归因的区别：峰值吞吐不是每个场景都领先，s3/w5 与 s4/w3 低于 Gödel。四行对应四个机制，每一项都有可复核的字段；如果评委追问某个数字，备用页里有完整口径以及原始目录。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局限六条，只讲关键。KWOK 是仿真，绝对数值不外推，但跨调度器相对比较成立。Gang 即 w6，ENO 尾延迟确实更高：吞吐高 4.3% 到 19.1%，单 Pod P99 高 1.6 到 4.1 倍，原因是同组预留等待与决策共用进程和队列，我们没用独立计时实验把两段分离。其余是固定实例数、资源公平、Volcano 口径、幸存者偏差。这六条不是免责声明，而是给结论划边界；在这个边界内，跨调度器的相对结论是稳的。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API、保留开关、基准开源。三组证据合起来，正好对应问题、方法与效果。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上做到更高吞吐、更低尾延迟、100% 成功率。请各位老师批评指正。如果只问一个问题，我的回答就是刚才那一句。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我的汇报到这里。如果只允许一句话总结：本文把 Binder 从独立进程合并进 Scheduler，用基于 etcd 原子语义的四层容错守住“至多绑定一次”，在 16 个场景、144 次 run 上做到更高吞吐、更低尾延迟和 100% 绑定成功率。请各位老师批评指正，谢谢。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备用页：这一页给评委看形态。左边吞吐，右边 P99，共享时间轴。ENO 的平台更高、更早稳定；P99 峰值更低、回落更快。两张图放一起的意义是：我们的优势不是某个瞬时点，而是整段完成时间更短。这正好解释为什么有效吞吐对我们有利——它衡量的就是固定工作量多久做完，而不是某一秒的瞬时速率。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8763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8763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20363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20363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411788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3788" y="1600200"/>
            <a:ext cx="5413375" cy="4525963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20362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93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93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5375" y="1681163"/>
            <a:ext cx="5184775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5375" y="2505075"/>
            <a:ext cx="5184775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4775" y="987425"/>
            <a:ext cx="6175375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3825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775" y="987425"/>
            <a:ext cx="6175375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accen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382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43963" y="908050"/>
            <a:ext cx="2743200" cy="5218113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0" y="908050"/>
            <a:ext cx="8081963" cy="5218113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</a:p>
          <a:p>
            <a:pPr lvl="1" fontAlgn="base"/>
            <a:r>
              <a:rPr lang="zh-CN" altLang="en-US" strike="noStrike" noProof="1"/>
              <a:t>第二级</a:t>
            </a:r>
          </a:p>
          <a:p>
            <a:pPr lvl="2" fontAlgn="base"/>
            <a:r>
              <a:rPr lang="zh-CN" altLang="en-US" strike="noStrike" noProof="1"/>
              <a:t>第三级</a:t>
            </a:r>
          </a:p>
          <a:p>
            <a:pPr lvl="3" fontAlgn="base"/>
            <a:r>
              <a:rPr lang="zh-CN" altLang="en-US" strike="noStrike" noProof="1"/>
              <a:t>第四级</a:t>
            </a:r>
          </a:p>
          <a:p>
            <a:pPr lvl="4" fontAlgn="base"/>
            <a:r>
              <a:rPr lang="zh-CN" altLang="en-US" strike="noStrike" noProof="1"/>
              <a:t>第五级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theme" Target="../theme/theme2.xml"/><Relationship Id="rId13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Rectangle 2"/>
          <p:cNvSpPr>
            <a:spLocks noGrp="1"/>
          </p:cNvSpPr>
          <p:nvPr>
            <p:ph type="title"/>
          </p:nvPr>
        </p:nvSpPr>
        <p:spPr>
          <a:xfrm>
            <a:off x="609600" y="908050"/>
            <a:ext cx="10977563" cy="635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zh-CN" dirty="0"/>
              <a:t>单击此处编辑母版标题样式</a:t>
            </a:r>
          </a:p>
        </p:txBody>
      </p:sp>
      <p:sp>
        <p:nvSpPr>
          <p:cNvPr id="2053" name="Rectangle 3"/>
          <p:cNvSpPr>
            <a:spLocks noGrp="1"/>
          </p:cNvSpPr>
          <p:nvPr>
            <p:ph type="body"/>
          </p:nvPr>
        </p:nvSpPr>
        <p:spPr>
          <a:xfrm>
            <a:off x="609600" y="1600200"/>
            <a:ext cx="10977563" cy="4525963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 indent="-342900"/>
            <a:r>
              <a:rPr lang="zh-CN" altLang="zh-CN" dirty="0"/>
              <a:t>单击此处编辑母版文本样式</a:t>
            </a:r>
          </a:p>
          <a:p>
            <a:pPr lvl="1" indent="-285750"/>
            <a:r>
              <a:rPr lang="zh-CN" altLang="zh-CN" dirty="0"/>
              <a:t>第二级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400" fill="hold"/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75" grpId="0"/>
    </p:bldLst>
  </p:timing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400" kern="1200">
          <a:solidFill>
            <a:schemeClr val="accent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400">
          <a:solidFill>
            <a:schemeClr val="accent1"/>
          </a:solidFill>
          <a:latin typeface="Arial" panose="020B0604020202020204" pitchFamily="34" charset="0"/>
          <a:ea typeface="微软雅黑" panose="020B0503020204020204" pitchFamily="34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accent1"/>
          </a:solidFill>
          <a:latin typeface="+mn-lt"/>
          <a:ea typeface="仿宋_GB2312" pitchFamily="1" charset="-122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宋体" panose="02010600030101010101" pitchFamily="2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5615" y="942540"/>
            <a:ext cx="4224528" cy="80325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157984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97864" y="3282696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2231136"/>
            <a:ext cx="10725912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113E6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3456432"/>
            <a:ext cx="107259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0070C0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97864" y="4617720"/>
            <a:ext cx="9866376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636363"/>
                </a:solidFill>
                <a:latin typeface="Arial"/>
                <a:ea typeface="微软雅黑"/>
              </a:rPr>
              <a:t>答辩人：[姓名]　　指导教师：[导师]　　学院：[学院]　　日期：[日期]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 / 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1874519"/>
            <a:ext cx="3517391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2011679"/>
            <a:ext cx="2877312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生产集群已进入万节点级，规模仍在增长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1874519"/>
            <a:ext cx="3517391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2011679"/>
            <a:ext cx="2877312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吞吐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业务要求秒级承接海量 Pod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1874519"/>
            <a:ext cx="3517391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2011679"/>
            <a:ext cx="2877312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可用性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长期运行不能因单点失效中断服务</a:t>
            </a:r>
          </a:p>
        </p:txBody>
      </p:sp>
      <p:sp>
        <p:nvSpPr>
          <p:cNvPr id="9014" name="Rounded Rectangle 9013"/>
          <p:cNvSpPr/>
          <p:nvPr/>
        </p:nvSpPr>
        <p:spPr>
          <a:xfrm>
            <a:off x="566928" y="3657600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5" name="Rectangle 9014"/>
          <p:cNvSpPr/>
          <p:nvPr/>
        </p:nvSpPr>
        <p:spPr>
          <a:xfrm>
            <a:off x="566928" y="3657600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6" name="TextBox 9015"/>
          <p:cNvSpPr txBox="1"/>
          <p:nvPr/>
        </p:nvSpPr>
        <p:spPr>
          <a:xfrm>
            <a:off x="786384" y="3749039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单实例架构难以同时满足高吞吐与高可用，分布式改造成为必然；但改造会带来新的一致性难题。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 / 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9005" name="Table 9004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6" name="TextBox 9005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3 / 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两个创新：把 Binder 放进 Scheduler 进程；用四层容错守住“至多绑定一次”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1874519"/>
            <a:ext cx="5404104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2011679"/>
            <a:ext cx="4764024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6227064" y="1874519"/>
            <a:ext cx="5404104" cy="21031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6373368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6739128" y="2011679"/>
            <a:ext cx="4764024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566928" y="4343400"/>
            <a:ext cx="11064240" cy="868680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Rectangle 9011"/>
          <p:cNvSpPr/>
          <p:nvPr/>
        </p:nvSpPr>
        <p:spPr>
          <a:xfrm>
            <a:off x="566928" y="4343400"/>
            <a:ext cx="73152" cy="868680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TextBox 9012"/>
          <p:cNvSpPr txBox="1"/>
          <p:nvPr/>
        </p:nvSpPr>
        <p:spPr>
          <a:xfrm>
            <a:off x="786384" y="4434840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13E6A"/>
                </a:solidFill>
                <a:latin typeface="Arial"/>
                <a:ea typeface="微软雅黑"/>
              </a:rPr>
              <a:t>两条创新指向同一目标：不改 API 的前提下，让分布式调度既跑得快，又绑得对。</a:t>
            </a:r>
          </a:p>
        </p:txBody>
      </p:sp>
      <p:sp>
        <p:nvSpPr>
          <p:cNvPr id="9014" name="TextBox 90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4 / 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分布式改造真正的难点在“绑定阶段”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Gödel 用三层解耦拿到并发，但 Binder 独立部署与分区漂移留下两个缺口</a:t>
            </a:r>
          </a:p>
        </p:txBody>
      </p:sp>
      <p:pic>
        <p:nvPicPr>
          <p:cNvPr id="9005" name="Picture 9004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7273" y="1783080"/>
            <a:ext cx="4930493" cy="420624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Q1 独立 Binder 重新引入串行化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Q2 归属漂移缺乏完整一致性论证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本文定位：把绑定拉回进程内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5 / 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三层职责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分区之间无锁并发，状态推进全部由 Watch 事件驱动</a:t>
            </a:r>
          </a:p>
        </p:txBody>
      </p:sp>
      <p:pic>
        <p:nvPicPr>
          <p:cNvPr id="9005" name="Picture 9004" descr="fig3-1-system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87294"/>
            <a:ext cx="5852160" cy="2597811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Dispatcher：分区分配与回退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Scheduler：Filter/Score/Reserve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Binder：Bind 原子写与失败处理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6 / 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Dispatcher 内部流程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先校验归属、再选分区、然后入队——它不选节点，只决定 Pod 去哪</a:t>
            </a:r>
          </a:p>
        </p:txBody>
      </p:sp>
      <p:pic>
        <p:nvPicPr>
          <p:cNvPr id="9005" name="Picture 9004" descr="fig3-3-dispatch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66984"/>
            <a:ext cx="6720840" cy="4246406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归属校验：把漂移的 Pod 拦住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分区选择：按实例负载均衡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入队：交给对应 Scheduler 实例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7 / 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Scheduler 内部流程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Filter → Score → Reserve → Permit，产出目标节点后交给 Binder 落盘</a:t>
            </a:r>
          </a:p>
        </p:txBody>
      </p:sp>
      <p:pic>
        <p:nvPicPr>
          <p:cNvPr id="9005" name="Picture 9004" descr="fig3-4-scheduler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9282" y="1664208"/>
            <a:ext cx="6506354" cy="425196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2011680"/>
            <a:ext cx="41605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Filter：在分区内过滤候选节点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Score：打分选出最优节点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Reserve/Permit 后交 Binder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8 / 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创新点 1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9005" name="Picture 9004" descr="fig5-1a-shared-bin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9006" name="Picture 9005" descr="fig5-1b-eno-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9007" name="TextBox 9006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序列化与网络往返被消除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保留 CLI 开关，可回退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9 / 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CacheAdapter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状态以对象引用共享，不再复制，也没有跨进程同步延迟</a:t>
            </a:r>
          </a:p>
        </p:txBody>
      </p:sp>
      <p:pic>
        <p:nvPicPr>
          <p:cNvPr id="9005" name="Picture 9004" descr="fig5-2-cache-zero-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4622" y="1783080"/>
            <a:ext cx="5115794" cy="420624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对象引用而非序列化拷贝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进程内 Binder 与 Scheduler 同视图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为一致性校验提供同一份真相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10 / 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创新点 2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9005" name="Rectangle 9004"/>
          <p:cNvSpPr/>
          <p:nvPr/>
        </p:nvSpPr>
        <p:spPr>
          <a:xfrm>
            <a:off x="2212848" y="1920240"/>
            <a:ext cx="25603" cy="396849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2139696" y="2194560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TextBox 9006"/>
          <p:cNvSpPr txBox="1"/>
          <p:nvPr/>
        </p:nvSpPr>
        <p:spPr>
          <a:xfrm>
            <a:off x="566928" y="2029968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0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预防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2450592" y="1938528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2615184" y="2039112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威胁：分区归属漂移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etcd：resourceVersion 乐观并发</a:t>
            </a:r>
          </a:p>
        </p:txBody>
      </p:sp>
      <p:sp>
        <p:nvSpPr>
          <p:cNvPr id="9010" name="Oval 9009"/>
          <p:cNvSpPr/>
          <p:nvPr/>
        </p:nvSpPr>
        <p:spPr>
          <a:xfrm>
            <a:off x="2139696" y="3172968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566928" y="3008376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1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即时恢复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2450592" y="2916936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TextBox 9012"/>
          <p:cNvSpPr txBox="1"/>
          <p:nvPr/>
        </p:nvSpPr>
        <p:spPr>
          <a:xfrm>
            <a:off x="2615184" y="3017520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威胁：apiserver 暂态错误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etcd：Bind 原子写 / 409 冲突</a:t>
            </a:r>
          </a:p>
        </p:txBody>
      </p:sp>
      <p:sp>
        <p:nvSpPr>
          <p:cNvPr id="9014" name="Oval 9013"/>
          <p:cNvSpPr/>
          <p:nvPr/>
        </p:nvSpPr>
        <p:spPr>
          <a:xfrm>
            <a:off x="2139696" y="4151376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5" name="TextBox 9014"/>
          <p:cNvSpPr txBox="1"/>
          <p:nvPr/>
        </p:nvSpPr>
        <p:spPr>
          <a:xfrm>
            <a:off x="566928" y="3986783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2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后台回收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2450592" y="3895344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TextBox 9016"/>
          <p:cNvSpPr txBox="1"/>
          <p:nvPr/>
        </p:nvSpPr>
        <p:spPr>
          <a:xfrm>
            <a:off x="2615184" y="3995928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威胁：孤儿 Assumed 状态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etcd：Watch 一致性视图</a:t>
            </a:r>
          </a:p>
        </p:txBody>
      </p:sp>
      <p:sp>
        <p:nvSpPr>
          <p:cNvPr id="9018" name="Oval 9017"/>
          <p:cNvSpPr/>
          <p:nvPr/>
        </p:nvSpPr>
        <p:spPr>
          <a:xfrm>
            <a:off x="2139696" y="5129784"/>
            <a:ext cx="201168" cy="201168"/>
          </a:xfrm>
          <a:prstGeom prst="ellipse">
            <a:avLst/>
          </a:prstGeom>
          <a:solidFill>
            <a:srgbClr val="113E6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9" name="TextBox 9018"/>
          <p:cNvSpPr txBox="1"/>
          <p:nvPr/>
        </p:nvSpPr>
        <p:spPr>
          <a:xfrm>
            <a:off x="566928" y="4965192"/>
            <a:ext cx="144475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Layer 3</a:t>
            </a:r>
          </a:p>
          <a:p>
            <a:pPr algn="r">
              <a:spcBef>
                <a:spcPts val="100"/>
              </a:spcBef>
            </a:pPr>
            <a:r>
              <a:rPr sz="1050" b="0">
                <a:solidFill>
                  <a:srgbClr val="636363"/>
                </a:solidFill>
                <a:latin typeface="Arial"/>
                <a:ea typeface="微软雅黑"/>
              </a:rPr>
              <a:t>全局回退</a:t>
            </a:r>
          </a:p>
        </p:txBody>
      </p:sp>
      <p:sp>
        <p:nvSpPr>
          <p:cNvPr id="9020" name="Rounded Rectangle 9019"/>
          <p:cNvSpPr/>
          <p:nvPr/>
        </p:nvSpPr>
        <p:spPr>
          <a:xfrm>
            <a:off x="2450592" y="4873752"/>
            <a:ext cx="89611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1" name="TextBox 9020"/>
          <p:cNvSpPr txBox="1"/>
          <p:nvPr/>
        </p:nvSpPr>
        <p:spPr>
          <a:xfrm>
            <a:off x="2615184" y="4974336"/>
            <a:ext cx="8641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2E2C2C"/>
                </a:solidFill>
                <a:latin typeface="Arial"/>
                <a:ea typeface="微软雅黑"/>
              </a:rPr>
              <a:t>威胁：实例失活、重试耗尽</a:t>
            </a:r>
          </a:p>
          <a:p>
            <a:pPr algn="l">
              <a:spcBef>
                <a:spcPts val="200"/>
              </a:spcBef>
            </a:pPr>
            <a:r>
              <a:rPr sz="1050" b="0">
                <a:solidFill>
                  <a:srgbClr val="2E2C2C"/>
                </a:solidFill>
                <a:latin typeface="Arial"/>
                <a:ea typeface="微软雅黑"/>
              </a:rPr>
              <a:t>etcd：注解清理 + 全局重分发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11 / 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正确性根基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Bind 原子写是最后防线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resourceVersion 防并发覆盖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2E2C2C"/>
                </a:solidFill>
                <a:latin typeface="Arial"/>
                <a:ea typeface="微软雅黑"/>
              </a:rPr>
              <a:t>▪  四层机制均不破坏 I</a:t>
            </a:r>
          </a:p>
        </p:txBody>
      </p:sp>
      <p:pic>
        <p:nvPicPr>
          <p:cNvPr id="9006" name="Picture 9005" descr="fig4-3-consistency-invari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12 / 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9005" name="Table 9004"/>
          <p:cNvGraphicFramePr>
            <a:graphicFrameLocks noGrp="1"/>
          </p:cNvGraphicFramePr>
          <p:nvPr/>
        </p:nvGraphicFramePr>
        <p:xfrm>
          <a:off x="566928" y="1828800"/>
          <a:ext cx="1106424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负载 w1–w7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w1 100 → w4 2000 pods/s（极限）；w5 突发、w6 Gang、w7 异构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Pod 2C/4G；客户端 QPS=Burst=10000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6" name="TextBox 9005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13 / 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吞吐时序会“归零”，只有“总工作量 ÷ 总完成时间”跨场景可比</a:t>
            </a:r>
          </a:p>
        </p:txBody>
      </p:sp>
      <p:pic>
        <p:nvPicPr>
          <p:cNvPr id="9005" name="Picture 9004" descr="fig6-throughput-s2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493" y="1755647"/>
            <a:ext cx="7357788" cy="3017520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4809744"/>
            <a:ext cx="7360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s2/w3 吞吐时序：爬升—平台—归零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8138160" y="1828800"/>
            <a:ext cx="347472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三段结构：爬升—平台—归零，均值被尾段零值稀释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时序类：3 run 逐点中位数，再去首尾各 2 点（约 30 s）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▪  c/d/e 单实例过载存在幸存者偏差，只与 a/b 比吞吐、队列、成功率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566928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TextBox 9008"/>
          <p:cNvSpPr txBox="1"/>
          <p:nvPr/>
        </p:nvSpPr>
        <p:spPr>
          <a:xfrm>
            <a:off x="658368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名义工作量 ÷ 完成时间（主口径）</a:t>
            </a:r>
          </a:p>
        </p:txBody>
      </p:sp>
      <p:sp>
        <p:nvSpPr>
          <p:cNvPr id="9010" name="Rounded Rectangle 9009"/>
          <p:cNvSpPr/>
          <p:nvPr/>
        </p:nvSpPr>
        <p:spPr>
          <a:xfrm>
            <a:off x="2430780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2522220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过程中的最高瞬时调度速率</a:t>
            </a:r>
          </a:p>
        </p:txBody>
      </p:sp>
      <p:sp>
        <p:nvSpPr>
          <p:cNvPr id="9012" name="Rounded Rectangle 9011"/>
          <p:cNvSpPr/>
          <p:nvPr/>
        </p:nvSpPr>
        <p:spPr>
          <a:xfrm>
            <a:off x="4294632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3" name="TextBox 9012"/>
          <p:cNvSpPr txBox="1"/>
          <p:nvPr/>
        </p:nvSpPr>
        <p:spPr>
          <a:xfrm>
            <a:off x="4386071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P90 / P99 延迟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入 activeQ 到 Bind 完成</a:t>
            </a:r>
          </a:p>
        </p:txBody>
      </p:sp>
      <p:sp>
        <p:nvSpPr>
          <p:cNvPr id="9014" name="Rounded Rectangle 9013"/>
          <p:cNvSpPr/>
          <p:nvPr/>
        </p:nvSpPr>
        <p:spPr>
          <a:xfrm>
            <a:off x="6158483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5" name="TextBox 9014"/>
          <p:cNvSpPr txBox="1"/>
          <p:nvPr/>
        </p:nvSpPr>
        <p:spPr>
          <a:xfrm>
            <a:off x="6249923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Pod E2E P99 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Dispatcher 观察到绑定完成</a:t>
            </a:r>
          </a:p>
        </p:txBody>
      </p:sp>
      <p:sp>
        <p:nvSpPr>
          <p:cNvPr id="9016" name="Rounded Rectangle 9015"/>
          <p:cNvSpPr/>
          <p:nvPr/>
        </p:nvSpPr>
        <p:spPr>
          <a:xfrm>
            <a:off x="8022335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7" name="TextBox 9016"/>
          <p:cNvSpPr txBox="1"/>
          <p:nvPr/>
        </p:nvSpPr>
        <p:spPr>
          <a:xfrm>
            <a:off x="8113775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Bind 成功 / Bind 尝试</a:t>
            </a:r>
          </a:p>
        </p:txBody>
      </p:sp>
      <p:sp>
        <p:nvSpPr>
          <p:cNvPr id="9018" name="Rounded Rectangle 9017"/>
          <p:cNvSpPr/>
          <p:nvPr/>
        </p:nvSpPr>
        <p:spPr>
          <a:xfrm>
            <a:off x="9886188" y="4956048"/>
            <a:ext cx="1744980" cy="841248"/>
          </a:xfrm>
          <a:prstGeom prst="roundRect">
            <a:avLst/>
          </a:prstGeom>
          <a:solidFill>
            <a:srgbClr val="F2F4F7"/>
          </a:solidFill>
          <a:ln w="9525">
            <a:solidFill>
              <a:srgbClr val="D9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9" name="TextBox 9018"/>
          <p:cNvSpPr txBox="1"/>
          <p:nvPr/>
        </p:nvSpPr>
        <p:spPr>
          <a:xfrm>
            <a:off x="9977627" y="5029200"/>
            <a:ext cx="1598676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113E6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05000"/>
              </a:lnSpc>
              <a:spcBef>
                <a:spcPts val="100"/>
              </a:spcBef>
            </a:pPr>
            <a:r>
              <a:rPr sz="800" b="0">
                <a:solidFill>
                  <a:srgbClr val="636363"/>
                </a:solidFill>
                <a:latin typeface="Arial"/>
                <a:ea typeface="微软雅黑"/>
              </a:rPr>
              <a:t>pending_pods 最大值</a:t>
            </a:r>
          </a:p>
        </p:txBody>
      </p:sp>
      <p:sp>
        <p:nvSpPr>
          <p:cNvPr id="9020" name="TextBox 901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21" name="TextBox 902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14 / 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Rectangle 9005"/>
          <p:cNvSpPr/>
          <p:nvPr/>
        </p:nvSpPr>
        <p:spPr>
          <a:xfrm>
            <a:off x="6583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7" name="TextBox 9006"/>
          <p:cNvSpPr txBox="1"/>
          <p:nvPr/>
        </p:nvSpPr>
        <p:spPr>
          <a:xfrm>
            <a:off x="6583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009" name="Rounded Rectangle 900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0" name="Rectangle 9009"/>
          <p:cNvSpPr/>
          <p:nvPr/>
        </p:nvSpPr>
        <p:spPr>
          <a:xfrm>
            <a:off x="43921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1" name="TextBox 9010"/>
          <p:cNvSpPr txBox="1"/>
          <p:nvPr/>
        </p:nvSpPr>
        <p:spPr>
          <a:xfrm>
            <a:off x="43921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9012" name="TextBox 9011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9013" name="Rounded Rectangle 9012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4" name="Rectangle 9013"/>
          <p:cNvSpPr/>
          <p:nvPr/>
        </p:nvSpPr>
        <p:spPr>
          <a:xfrm>
            <a:off x="8125968" y="1783080"/>
            <a:ext cx="3413760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5" name="TextBox 9014"/>
          <p:cNvSpPr txBox="1"/>
          <p:nvPr/>
        </p:nvSpPr>
        <p:spPr>
          <a:xfrm>
            <a:off x="8125968" y="1911095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113E6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36363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9017" name="TextBox 9016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Layer 0 / Layer 3 故障注入各 6 项判据全过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断言在 apiserver 侧可复核</a:t>
            </a:r>
          </a:p>
        </p:txBody>
      </p:sp>
      <p:sp>
        <p:nvSpPr>
          <p:cNvPr id="9018" name="TextBox 901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15 / 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9005" name="Picture 9004" descr="fig6-29a-layer0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拦截 300 次 / 回退 300 次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绑定成功率 1.00；断言 50000/50000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683 s 对基线 680 s（+0.4%）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16 / 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9005" name="Picture 9004" descr="fig6-29b-layer3-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被杀实例绑定占比 68/8407 =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存活实例接管 8407 pods；pending 353→2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总耗时 784 s，较基线 +15.3%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17 / 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9005" name="Picture 9004" descr="fig6-3-throughput-5gro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9007" name="Table 9006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8" name="TextBox 900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18 / 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ENO vs Gödel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9005" name="Picture 9004" descr="fig6-2-effective-throughp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19 / 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尾延迟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9005" name="Picture 9004" descr="fig6-4-latency-p99-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9006" name="TextBox 9005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P99 改善 0.3%~82.9%（除 s2/w2）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s3/w3 inst1 32.57→16.22 s（-50.2%）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2E2C2C"/>
                </a:solidFill>
                <a:latin typeface="Arial"/>
                <a:ea typeface="微软雅黑"/>
              </a:rPr>
              <a:t>▪  Pod E2E P99 改善 0.6%~75.3%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20 / 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实例 1→3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ENO 有效吞吐 +17.5%，Gödel 仅 +1.4%</a:t>
            </a:r>
          </a:p>
        </p:txBody>
      </p:sp>
      <p:graphicFrame>
        <p:nvGraphicFramePr>
          <p:cNvPr id="9005" name="Table 9004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inst1→inst3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 → 349.7（+17.5%）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 → 287.4（+1.4%）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 → 0.13 s（-99.2%）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 → 0.15 s（-99.5%）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9006" name="Picture 9005" descr="fig6-16-throughput-s3-w3-inst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9007" name="TextBox 9006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延迟都降约 99%，但吞吐转化率差 12 倍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Gödel 增量被独立 Binder 串行吸收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200" b="0">
                <a:solidFill>
                  <a:srgbClr val="2E2C2C"/>
                </a:solidFill>
                <a:latin typeface="Arial"/>
                <a:ea typeface="微软雅黑"/>
              </a:rPr>
              <a:t>▪  这是架构归因最强的一组证据</a:t>
            </a:r>
          </a:p>
        </p:txBody>
      </p:sp>
      <p:sp>
        <p:nvSpPr>
          <p:cNvPr id="9009" name="TextBox 900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21 / 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s4 规模下吞吐仍 +5.6%、P99 低 33.4%；突发、极限、异构均不落后</a:t>
            </a:r>
          </a:p>
        </p:txBody>
      </p:sp>
      <p:graphicFrame>
        <p:nvGraphicFramePr>
          <p:cNvPr id="9005" name="Table 9004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vs Gödel 有效吞吐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/ E2E 变化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s3→s4（w3，实例不变）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349.7→296.7 vs 287.4→280.9（+5.6%）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0.19 vs 0.28 s（低 33.4%）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w4 极限（s3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+9.3% / +16.0%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P99 -49.7% / -14.8%；E2E -32.6%~-35.3%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w5 突发（s3 / s4）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+21.3% / +2.8%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-53.8%；s4 基本持平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w7 异构（s3 / s4）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+21.2% / 基本持平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 E2E -67.6%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6" name="TextBox 9005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s4 队列堆积峰值 9 vs 61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规模翻倍时两者都退化（ENO -15.2%）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s3/s4 固定 3 实例，口径需说明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22 / 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归因闭环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去掉一次跨进程绑定链路，换来吞吐、尾延迟、队列深度的同步改善</a:t>
            </a:r>
          </a:p>
        </p:txBody>
      </p:sp>
      <p:graphicFrame>
        <p:nvGraphicFramePr>
          <p:cNvPr id="9005" name="Table 9004"/>
          <p:cNvGraphicFramePr>
            <a:graphicFrameLocks noGrp="1"/>
          </p:cNvGraphicFramePr>
          <p:nvPr/>
        </p:nvGraphicFramePr>
        <p:xfrm>
          <a:off x="566928" y="1828800"/>
          <a:ext cx="1106424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机制差异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对应指标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实测证据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进程内绑定，无事件传递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 0.45 vs 0.93 s（低 51.9%）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CacheAdapter 零拷贝共享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状态复用 / 无同步延迟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inst3 队列峰值 20 vs 16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无独立 Binder 串行段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有效吞吐随实例扩展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+17.5% vs +1.4%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四层容错守住不变量 I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 / 断言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100%；144 次 run 全过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6" name="TextBox 9005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相关不等于归因：峰值吞吐并非全面领先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s3/w5、s4/w3 峰值吞吐低于 Gödel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收益部分来自启动更快（口径权衡）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36363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23 / 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局限性与威胁效力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结论在“跨调度器相对比较”上成立，绝对数值不外推到生产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KWOK 仿真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无法反映真实资源竞争与 IO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Gang 延迟口径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w6 尾延迟反向，未分离计时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固定实例数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s3→s4 未同步扩容</a:t>
            </a:r>
          </a:p>
        </p:txBody>
      </p:sp>
      <p:sp>
        <p:nvSpPr>
          <p:cNvPr id="9014" name="Rounded Rectangle 9013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5" name="Oval 9014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资源公平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17" name="Rounded Rectangle 9016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Oval 9017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9" name="TextBox 9018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Volcano 指标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测量对象与粒度不完全等价</a:t>
            </a:r>
          </a:p>
        </p:txBody>
      </p:sp>
      <p:sp>
        <p:nvSpPr>
          <p:cNvPr id="9020" name="Rounded Rectangle 9019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1" name="Oval 9020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幸存者偏差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c/d/e 的 P99 不做数值对齐</a:t>
            </a:r>
          </a:p>
        </p:txBody>
      </p:sp>
      <p:sp>
        <p:nvSpPr>
          <p:cNvPr id="9023" name="TextBox 90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24 / 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9005" name="Rounded Rectangle 9004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6" name="Oval 9005"/>
          <p:cNvSpPr/>
          <p:nvPr/>
        </p:nvSpPr>
        <p:spPr>
          <a:xfrm>
            <a:off x="713232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01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992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008" name="Rounded Rectangle 9007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9" name="Oval 9008"/>
          <p:cNvSpPr/>
          <p:nvPr/>
        </p:nvSpPr>
        <p:spPr>
          <a:xfrm>
            <a:off x="4486656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02</a:t>
            </a:r>
          </a:p>
        </p:txBody>
      </p:sp>
      <p:sp>
        <p:nvSpPr>
          <p:cNvPr id="9010" name="TextBox 9009"/>
          <p:cNvSpPr txBox="1"/>
          <p:nvPr/>
        </p:nvSpPr>
        <p:spPr>
          <a:xfrm>
            <a:off x="4852416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9011" name="Rounded Rectangle 9010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2" name="Oval 9011"/>
          <p:cNvSpPr/>
          <p:nvPr/>
        </p:nvSpPr>
        <p:spPr>
          <a:xfrm>
            <a:off x="8260079" y="2011679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03</a:t>
            </a:r>
          </a:p>
        </p:txBody>
      </p:sp>
      <p:sp>
        <p:nvSpPr>
          <p:cNvPr id="9013" name="TextBox 9012"/>
          <p:cNvSpPr txBox="1"/>
          <p:nvPr/>
        </p:nvSpPr>
        <p:spPr>
          <a:xfrm>
            <a:off x="8625839" y="2011679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9014" name="Rounded Rectangle 9013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5" name="Oval 9014"/>
          <p:cNvSpPr/>
          <p:nvPr/>
        </p:nvSpPr>
        <p:spPr>
          <a:xfrm>
            <a:off x="713232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04</a:t>
            </a:r>
          </a:p>
        </p:txBody>
      </p:sp>
      <p:sp>
        <p:nvSpPr>
          <p:cNvPr id="9016" name="TextBox 9015"/>
          <p:cNvSpPr txBox="1"/>
          <p:nvPr/>
        </p:nvSpPr>
        <p:spPr>
          <a:xfrm>
            <a:off x="1078992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9017" name="Rounded Rectangle 9016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18" name="Oval 9017"/>
          <p:cNvSpPr/>
          <p:nvPr/>
        </p:nvSpPr>
        <p:spPr>
          <a:xfrm>
            <a:off x="4486656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05</a:t>
            </a:r>
          </a:p>
        </p:txBody>
      </p:sp>
      <p:sp>
        <p:nvSpPr>
          <p:cNvPr id="9019" name="TextBox 9018"/>
          <p:cNvSpPr txBox="1"/>
          <p:nvPr/>
        </p:nvSpPr>
        <p:spPr>
          <a:xfrm>
            <a:off x="4852416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9020" name="Rounded Rectangle 9019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6E3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21" name="Oval 9020"/>
          <p:cNvSpPr/>
          <p:nvPr/>
        </p:nvSpPr>
        <p:spPr>
          <a:xfrm>
            <a:off x="8260079" y="3319271"/>
            <a:ext cx="274320" cy="274320"/>
          </a:xfrm>
          <a:prstGeom prst="ellipse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  <a:ea typeface="微软雅黑"/>
              </a:rPr>
              <a:t>06</a:t>
            </a:r>
          </a:p>
        </p:txBody>
      </p:sp>
      <p:sp>
        <p:nvSpPr>
          <p:cNvPr id="9022" name="TextBox 9021"/>
          <p:cNvSpPr txBox="1"/>
          <p:nvPr/>
        </p:nvSpPr>
        <p:spPr>
          <a:xfrm>
            <a:off x="8625839" y="3319271"/>
            <a:ext cx="2877312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13E6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>
                <a:solidFill>
                  <a:srgbClr val="2E2C2C"/>
                </a:solidFill>
                <a:latin typeface="Arial"/>
                <a:ea typeface="微软雅黑"/>
              </a:rPr>
              <a:t>不改 API、保留开关、基准开源</a:t>
            </a:r>
          </a:p>
        </p:txBody>
      </p:sp>
      <p:sp>
        <p:nvSpPr>
          <p:cNvPr id="9023" name="TextBox 90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25 / 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113E6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636363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636363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7" name="Rectangle 6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113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26 /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9005" name="Table 9004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6" name="TextBox 9005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9005" name="Table 9004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9006" name="TextBox 9005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9005" name="Table 9004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113E6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2F4F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2E2C2C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006" name="TextBox 9005"/>
          <p:cNvSpPr txBox="1"/>
          <p:nvPr/>
        </p:nvSpPr>
        <p:spPr>
          <a:xfrm>
            <a:off x="566928" y="5074920"/>
            <a:ext cx="1097280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2E2C2C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9007" name="TextBox 900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13E6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9005" name="TextBox 9004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2E2C2C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9006" name="TextBox 900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000" name="Freeform 5"/>
          <p:cNvSpPr/>
          <p:nvPr/>
        </p:nvSpPr>
        <p:spPr>
          <a:xfrm>
            <a:off x="427038" y="220663"/>
            <a:ext cx="474662" cy="560387"/>
          </a:xfrm>
          <a:custGeom>
            <a:avLst/>
            <a:gdLst/>
            <a:ahLst/>
            <a:cxnLst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0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2147483647" y="2147483647"/>
              </a:cxn>
              <a:cxn ang="0">
                <a:pos x="0" y="2147483647"/>
              </a:cxn>
              <a:cxn ang="0">
                <a:pos x="2147483647" y="2147483647"/>
              </a:cxn>
            </a:cxnLst>
            <a:rect l="0" t="0" r="0" b="0"/>
            <a:pathLst>
              <a:path w="574" h="681">
                <a:moveTo>
                  <a:pt x="120" y="441"/>
                </a:moveTo>
                <a:cubicBezTo>
                  <a:pt x="153" y="441"/>
                  <a:pt x="183" y="454"/>
                  <a:pt x="205" y="476"/>
                </a:cubicBezTo>
                <a:lnTo>
                  <a:pt x="389" y="329"/>
                </a:lnTo>
                <a:cubicBezTo>
                  <a:pt x="383" y="317"/>
                  <a:pt x="380" y="303"/>
                  <a:pt x="380" y="289"/>
                </a:cubicBezTo>
                <a:cubicBezTo>
                  <a:pt x="380" y="271"/>
                  <a:pt x="384" y="255"/>
                  <a:pt x="392" y="241"/>
                </a:cubicBezTo>
                <a:lnTo>
                  <a:pt x="270" y="138"/>
                </a:lnTo>
                <a:cubicBezTo>
                  <a:pt x="256" y="151"/>
                  <a:pt x="237" y="159"/>
                  <a:pt x="217" y="159"/>
                </a:cubicBezTo>
                <a:cubicBezTo>
                  <a:pt x="173" y="159"/>
                  <a:pt x="137" y="123"/>
                  <a:pt x="137" y="79"/>
                </a:cubicBezTo>
                <a:cubicBezTo>
                  <a:pt x="137" y="36"/>
                  <a:pt x="173" y="0"/>
                  <a:pt x="217" y="0"/>
                </a:cubicBezTo>
                <a:cubicBezTo>
                  <a:pt x="260" y="0"/>
                  <a:pt x="296" y="36"/>
                  <a:pt x="296" y="79"/>
                </a:cubicBezTo>
                <a:cubicBezTo>
                  <a:pt x="296" y="91"/>
                  <a:pt x="293" y="103"/>
                  <a:pt x="289" y="113"/>
                </a:cubicBezTo>
                <a:lnTo>
                  <a:pt x="412" y="217"/>
                </a:lnTo>
                <a:cubicBezTo>
                  <a:pt x="429" y="201"/>
                  <a:pt x="452" y="192"/>
                  <a:pt x="477" y="192"/>
                </a:cubicBezTo>
                <a:cubicBezTo>
                  <a:pt x="530" y="192"/>
                  <a:pt x="574" y="235"/>
                  <a:pt x="574" y="289"/>
                </a:cubicBezTo>
                <a:cubicBezTo>
                  <a:pt x="574" y="342"/>
                  <a:pt x="530" y="386"/>
                  <a:pt x="477" y="386"/>
                </a:cubicBezTo>
                <a:cubicBezTo>
                  <a:pt x="449" y="386"/>
                  <a:pt x="424" y="374"/>
                  <a:pt x="406" y="355"/>
                </a:cubicBezTo>
                <a:lnTo>
                  <a:pt x="224" y="501"/>
                </a:lnTo>
                <a:cubicBezTo>
                  <a:pt x="234" y="518"/>
                  <a:pt x="240" y="539"/>
                  <a:pt x="240" y="561"/>
                </a:cubicBezTo>
                <a:cubicBezTo>
                  <a:pt x="240" y="627"/>
                  <a:pt x="186" y="681"/>
                  <a:pt x="120" y="681"/>
                </a:cubicBezTo>
                <a:cubicBezTo>
                  <a:pt x="54" y="681"/>
                  <a:pt x="0" y="627"/>
                  <a:pt x="0" y="561"/>
                </a:cubicBezTo>
                <a:cubicBezTo>
                  <a:pt x="0" y="495"/>
                  <a:pt x="54" y="441"/>
                  <a:pt x="120" y="441"/>
                </a:cubicBezTo>
                <a:close/>
              </a:path>
            </a:pathLst>
          </a:custGeom>
          <a:solidFill>
            <a:srgbClr val="113E6A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9001" name="Picture 9000" descr="beihang-logo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6024" y="91665"/>
            <a:ext cx="2642616" cy="502469"/>
          </a:xfrm>
          <a:prstGeom prst="rect">
            <a:avLst/>
          </a:prstGeom>
        </p:spPr>
      </p:pic>
      <p:sp>
        <p:nvSpPr>
          <p:cNvPr id="9002" name="TextBox 9001"/>
          <p:cNvSpPr txBox="1"/>
          <p:nvPr/>
        </p:nvSpPr>
        <p:spPr>
          <a:xfrm>
            <a:off x="1014984" y="155448"/>
            <a:ext cx="80010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13E6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9003" name="Rectangle 9002"/>
          <p:cNvSpPr/>
          <p:nvPr/>
        </p:nvSpPr>
        <p:spPr>
          <a:xfrm>
            <a:off x="1014984" y="1298448"/>
            <a:ext cx="27432" cy="310896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04" name="TextBox 9003"/>
          <p:cNvSpPr txBox="1"/>
          <p:nvPr/>
        </p:nvSpPr>
        <p:spPr>
          <a:xfrm>
            <a:off x="1161288" y="1271016"/>
            <a:ext cx="102412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0070C0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9005" name="Picture 9004" descr="fig6-throughput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9006" name="Picture 9005" descr="fig6-6-latency-p99-s3-w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9007" name="TextBox 9006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2E2C2C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008" name="TextBox 900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636363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2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">
  <a:themeElements>
    <a:clrScheme name="">
      <a:dk1>
        <a:srgbClr val="004C54"/>
      </a:dk1>
      <a:lt1>
        <a:srgbClr val="009EB0"/>
      </a:lt1>
      <a:dk2>
        <a:srgbClr val="DDDDDD"/>
      </a:dk2>
      <a:lt2>
        <a:srgbClr val="808080"/>
      </a:lt2>
      <a:accent1>
        <a:srgbClr val="292929"/>
      </a:accent1>
      <a:accent2>
        <a:srgbClr val="FFFFFF"/>
      </a:accent2>
      <a:accent3>
        <a:srgbClr val="AACCD4"/>
      </a:accent3>
      <a:accent4>
        <a:srgbClr val="004046"/>
      </a:accent4>
      <a:accent5>
        <a:srgbClr val="ACACAC"/>
      </a:accent5>
      <a:accent6>
        <a:srgbClr val="E7E7E7"/>
      </a:accent6>
      <a:hlink>
        <a:srgbClr val="B3B3B3"/>
      </a:hlink>
      <a:folHlink>
        <a:srgbClr val="404040"/>
      </a:folHlink>
    </a:clrScheme>
    <a:fontScheme name="3_默认设计模板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3_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FDEF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E4ECF8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7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9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默认设计模板 13">
        <a:dk1>
          <a:srgbClr val="000000"/>
        </a:dk1>
        <a:lt1>
          <a:srgbClr val="FFFFD9"/>
        </a:lt1>
        <a:dk2>
          <a:srgbClr val="2B2E30"/>
        </a:dk2>
        <a:lt2>
          <a:srgbClr val="777777"/>
        </a:lt2>
        <a:accent1>
          <a:srgbClr val="7FBA00"/>
        </a:accent1>
        <a:accent2>
          <a:srgbClr val="FCDB00"/>
        </a:accent2>
        <a:accent3>
          <a:srgbClr val="FFFFE9"/>
        </a:accent3>
        <a:accent4>
          <a:srgbClr val="000000"/>
        </a:accent4>
        <a:accent5>
          <a:srgbClr val="C0D9AA"/>
        </a:accent5>
        <a:accent6>
          <a:srgbClr val="E4C600"/>
        </a:accent6>
        <a:hlink>
          <a:srgbClr val="21A3D0"/>
        </a:hlink>
        <a:folHlink>
          <a:srgbClr val="DA25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2227</Words>
  <Application>Microsoft Office PowerPoint</Application>
  <PresentationFormat>自定义</PresentationFormat>
  <Paragraphs>279</Paragraphs>
  <Slides>29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34" baseType="lpstr">
      <vt:lpstr>微软雅黑</vt:lpstr>
      <vt:lpstr>Arial</vt:lpstr>
      <vt:lpstr>Calibri</vt:lpstr>
      <vt:lpstr>1</vt:lpstr>
      <vt:lpstr>2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1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</dc:title>
  <dc:subject>1</dc:subject>
  <dc:creator>zhite</dc:creator>
  <dc:description>1</dc:description>
  <cp:lastModifiedBy> </cp:lastModifiedBy>
  <cp:revision>8</cp:revision>
  <dcterms:created xsi:type="dcterms:W3CDTF">2013-01-25T01:44:00Z</dcterms:created>
  <dcterms:modified xsi:type="dcterms:W3CDTF">2019-07-19T02:21:16Z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2052-10.1.0.6490</vt:lpwstr>
  </property>
</Properties>
</file>