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项判据全过：Layer 0 拦截 300 次、全部由 Dispatcher 回退重排；Layer 3 存活实例接管 8407 个 Pod、pending 从 353 回落到 2。所谓正确，不是日志里没报错，而是外部可观测的事实对得上。断言是在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 ENO 与 Gödel，都是几百 pods/s；第二档 kube-scheduler；第三档 Volcano 与 Koordinator，只有约 48 和约 24 pods/s，几乎不随规模变化。主评估四场景里，ENO 比 kube-scheduler 高 1.8% 到 22.5%。唯一例外是 s1/w1 低负载低 7.2%，那个场景没饱和。柱状图按场景排序，第三档几乎是一条水平线，说明它们的瓶颈不在调度吞吐这一维。从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Gödel。Gang 是反的，放到局限里展开。延迟单位是秒，纵轴用对数，便于跨量级比较。改善的下界 0.3% 出现在已经接近饱和的场景。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的串行绑定吸收掉了。延迟数量级下降说明瓶颈不在决策侧，而在绑定这一环的串行化。峰值吞吐两家都涨，但只有 ENO 把增量转化成了有效吞吐。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+1.4%；第四行四层容错守住不变量。也要说明相关与归因的区别：峰值吞吐不是每个场景都领先。如果评委追问某个数字，备用页里有完整口径与原始目录。四行对应四个机制，每一项都有可复核的字段。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Pod，队列峰值 353 后回落到 2。累计绑定 49607/50000，断言仍全过。代价是 784 秒、比基线多 104 秒，是工作量重排的代价，不是数据损坏。对比基线是同一场景下的无故障运行，680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倍，原因是同组预留等待与决策共用进程和队列。s3 到 s4 固定三实例，退化幅度不能读成上限。其余是资源公平、Volcano 口径、幸存者偏差。这六条不是免责声明，而是给结论划边界。在这个边界内，跨调度器的相对结论是稳的。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301752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3017520"/>
            <a:ext cx="2877312" cy="19019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6373368" y="1892807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739128" y="1892807"/>
            <a:ext cx="4764024" cy="21305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5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9003" name="Picture 9002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9003" name="Picture 9002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9003" name="Picture 9002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4" name="Picture 9003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5" name="Picture 9004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9003" name="Picture 9002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9004" name="Rounded Rectangle 9003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Rectangle 9007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Rectangle 9010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4" name="Rectangle 9003"/>
          <p:cNvSpPr/>
          <p:nvPr/>
        </p:nvSpPr>
        <p:spPr>
          <a:xfrm>
            <a:off x="2212848" y="1847088"/>
            <a:ext cx="25603" cy="4041648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2139696" y="21579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566928" y="1993392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2450592" y="1828800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TextBox 9007"/>
          <p:cNvSpPr txBox="1"/>
          <p:nvPr/>
        </p:nvSpPr>
        <p:spPr>
          <a:xfrm>
            <a:off x="2615184" y="1892807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9009" name="Oval 9008"/>
          <p:cNvSpPr/>
          <p:nvPr/>
        </p:nvSpPr>
        <p:spPr>
          <a:xfrm>
            <a:off x="2139696" y="3200399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566928" y="3035808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2450592" y="2871215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TextBox 9011"/>
          <p:cNvSpPr txBox="1"/>
          <p:nvPr/>
        </p:nvSpPr>
        <p:spPr>
          <a:xfrm>
            <a:off x="2615184" y="2935223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9013" name="Oval 9012"/>
          <p:cNvSpPr/>
          <p:nvPr/>
        </p:nvSpPr>
        <p:spPr>
          <a:xfrm>
            <a:off x="2139696" y="424281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566928" y="4078223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2450592" y="3913631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2615184" y="3977639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9017" name="Oval 9016"/>
          <p:cNvSpPr/>
          <p:nvPr/>
        </p:nvSpPr>
        <p:spPr>
          <a:xfrm>
            <a:off x="2139696" y="5285232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TextBox 9017"/>
          <p:cNvSpPr txBox="1"/>
          <p:nvPr/>
        </p:nvSpPr>
        <p:spPr>
          <a:xfrm>
            <a:off x="566928" y="5120640"/>
            <a:ext cx="1444752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0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2450592" y="4956048"/>
            <a:ext cx="8961120" cy="96926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TextBox 9019"/>
          <p:cNvSpPr txBox="1"/>
          <p:nvPr/>
        </p:nvSpPr>
        <p:spPr>
          <a:xfrm>
            <a:off x="2615184" y="5020056"/>
            <a:ext cx="8641080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2E2C2C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9005" name="Picture 9004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ounded Rectangle 9002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Oval 9003"/>
          <p:cNvSpPr/>
          <p:nvPr/>
        </p:nvSpPr>
        <p:spPr>
          <a:xfrm>
            <a:off x="713232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992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9006" name="Rounded Rectangle 9005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Oval 9006"/>
          <p:cNvSpPr/>
          <p:nvPr/>
        </p:nvSpPr>
        <p:spPr>
          <a:xfrm>
            <a:off x="4486656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4852416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Oval 9009"/>
          <p:cNvSpPr/>
          <p:nvPr/>
        </p:nvSpPr>
        <p:spPr>
          <a:xfrm>
            <a:off x="8260079" y="155448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8625839" y="155448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Oval 9012"/>
          <p:cNvSpPr/>
          <p:nvPr/>
        </p:nvSpPr>
        <p:spPr>
          <a:xfrm>
            <a:off x="713232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992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9015" name="Rounded Rectangle 9014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Oval 9015"/>
          <p:cNvSpPr/>
          <p:nvPr/>
        </p:nvSpPr>
        <p:spPr>
          <a:xfrm>
            <a:off x="4486656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4852416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Oval 9018"/>
          <p:cNvSpPr/>
          <p:nvPr/>
        </p:nvSpPr>
        <p:spPr>
          <a:xfrm>
            <a:off x="8260079" y="3291840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8625839" y="3291840"/>
            <a:ext cx="287731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Rectangle 9004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TextBox 9005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Rectangle 9008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TextBox 9009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1" name="TextBox 90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Rectangle 9012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TextBox 9013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故障注入各 6 项判据全过：L0 拦截 300 次、全部经回退重排；L3 存活实例接管 8407 pods、pending 353 → 2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4" name="Picture 9003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6" name="Table 9005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4" name="Picture 9003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4" name="Picture 9003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5" name="Picture 9004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4" name="Picture 9003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4" name="Picture 9003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5" name="TextBox 9004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4" name="Rounded Rectangle 9003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5" name="Oval 9004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7" name="Rounded Rectangle 9006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8" name="Oval 9007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Oval 9010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Oval 9013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5" name="TextBox 9014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Oval 9016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19" name="Rounded Rectangle 9018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0" name="Oval 9019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250" b="0">
                <a:solidFill>
                  <a:srgbClr val="2E2C2C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4" name="Table 9003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5" name="TextBox 9004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4" name="TextBox 9003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182880" y="274320"/>
            <a:ext cx="310896" cy="402336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566928" y="155448"/>
            <a:ext cx="854964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TextBox 9002"/>
          <p:cNvSpPr txBox="1"/>
          <p:nvPr/>
        </p:nvSpPr>
        <p:spPr>
          <a:xfrm>
            <a:off x="566928" y="1261872"/>
            <a:ext cx="1088136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4" name="Picture 9003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5" name="Picture 9004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