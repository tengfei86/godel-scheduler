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汇报分六段，二十分钟左右，重点在第五、六段的实验。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答辩人：高铜　　指导教师：兰雨晴 教授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472184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1261872" y="1426464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研究背景与现状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4480560" y="1481328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万节点规模下的三个瓶颈、两条技术路线与本文的两个问题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9985248" y="1453896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P3–P5</a:t>
            </a:r>
          </a:p>
        </p:txBody>
      </p:sp>
      <p:sp>
        <p:nvSpPr>
          <p:cNvPr id="9007" name="Rectangle 9006"/>
          <p:cNvSpPr/>
          <p:nvPr/>
        </p:nvSpPr>
        <p:spPr>
          <a:xfrm>
            <a:off x="566928" y="2121408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566928" y="242316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261872" y="237744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480560" y="2432304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Dispatcher / Scheduler / Binder 三层职责与 Pod 流转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9985248" y="240487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P6–P8</a:t>
            </a:r>
          </a:p>
        </p:txBody>
      </p:sp>
      <p:sp>
        <p:nvSpPr>
          <p:cNvPr id="9012" name="Rectangle 9011"/>
          <p:cNvSpPr/>
          <p:nvPr/>
        </p:nvSpPr>
        <p:spPr>
          <a:xfrm>
            <a:off x="566928" y="3072384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566928" y="3374136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261872" y="3328416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核心方案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4480560" y="3383280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把 Binder 合并进 Scheduler、缓存零拷贝共享；四层容错 + 不变量证明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9985248" y="3355848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P9–P12</a:t>
            </a:r>
          </a:p>
        </p:txBody>
      </p:sp>
      <p:sp>
        <p:nvSpPr>
          <p:cNvPr id="9017" name="Rectangle 9016"/>
          <p:cNvSpPr/>
          <p:nvPr/>
        </p:nvSpPr>
        <p:spPr>
          <a:xfrm>
            <a:off x="566928" y="4023360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325112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1261872" y="4279392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实验数据与性能对比分析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4480560" y="4334255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144 次 run 的口径与断言；五组基线、逐场景吞吐与尾延迟、扩展与复杂负载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9985248" y="4306824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P13–P21</a:t>
            </a:r>
          </a:p>
        </p:txBody>
      </p:sp>
      <p:sp>
        <p:nvSpPr>
          <p:cNvPr id="9022" name="Rectangle 9021"/>
          <p:cNvSpPr/>
          <p:nvPr/>
        </p:nvSpPr>
        <p:spPr>
          <a:xfrm>
            <a:off x="566928" y="4974336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3" name="TextBox 9022"/>
          <p:cNvSpPr txBox="1"/>
          <p:nvPr/>
        </p:nvSpPr>
        <p:spPr>
          <a:xfrm>
            <a:off x="566928" y="5276088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24" name="TextBox 9023"/>
          <p:cNvSpPr txBox="1"/>
          <p:nvPr/>
        </p:nvSpPr>
        <p:spPr>
          <a:xfrm>
            <a:off x="1261872" y="5230368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故障注入与局限</a:t>
            </a:r>
          </a:p>
        </p:txBody>
      </p:sp>
      <p:sp>
        <p:nvSpPr>
          <p:cNvPr id="9025" name="TextBox 9024"/>
          <p:cNvSpPr txBox="1"/>
          <p:nvPr/>
        </p:nvSpPr>
        <p:spPr>
          <a:xfrm>
            <a:off x="4480560" y="5285232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Layer 0 / Layer 3 两场注入，以及三条局限与展望</a:t>
            </a:r>
          </a:p>
        </p:txBody>
      </p:sp>
      <p:sp>
        <p:nvSpPr>
          <p:cNvPr id="9026" name="TextBox 9025"/>
          <p:cNvSpPr txBox="1"/>
          <p:nvPr/>
        </p:nvSpPr>
        <p:spPr>
          <a:xfrm>
            <a:off x="9985248" y="5257800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P22–P24</a:t>
            </a:r>
          </a:p>
        </p:txBody>
      </p:sp>
      <p:sp>
        <p:nvSpPr>
          <p:cNvPr id="9027" name="Rectangle 9026"/>
          <p:cNvSpPr/>
          <p:nvPr/>
        </p:nvSpPr>
        <p:spPr>
          <a:xfrm>
            <a:off x="566928" y="5925312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8" name="TextBox 902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