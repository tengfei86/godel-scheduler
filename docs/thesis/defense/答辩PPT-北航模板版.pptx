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32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7"/>
    <p:sldId id="281" r:id="rId6"/>
    <p:sldId id="282" r:id="rId5"/>
    <p:sldId id="283" r:id="rId4"/>
    <p:sldId id="284" r:id="rId3"/>
    <p:sldId id="285" r:id="rId37"/>
    <p:sldId id="286" r:id="rId38"/>
    <p:sldId id="287" r:id="rId39"/>
  </p:sldIdLst>
  <p:sldSz cx="12196763" cy="6858000"/>
  <p:notesSz cx="6858000" cy="9144000"/>
  <p:defaultTextStyle>
    <a:defPPr>
      <a:defRPr lang="zh-CN"/>
    </a:defPPr>
    <a:lvl1pPr marL="0" lvl="0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1pPr>
    <a:lvl2pPr marL="457200" lvl="1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2pPr>
    <a:lvl3pPr marL="914400" lvl="2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3pPr>
    <a:lvl4pPr marL="1371600" lvl="3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4pPr>
    <a:lvl5pPr marL="1828800" lvl="4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5pPr>
    <a:lvl6pPr marL="2286000" lvl="5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6pPr>
    <a:lvl7pPr marL="2743200" lvl="6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7pPr>
    <a:lvl8pPr marL="3200400" lvl="7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8pPr>
    <a:lvl9pPr marL="3657600" lvl="8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42">
          <p15:clr>
            <a:srgbClr val="A4A3A4"/>
          </p15:clr>
        </p15:guide>
        <p15:guide id="2" pos="384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113E6A"/>
    <a:srgbClr val="006BBC"/>
    <a:srgbClr val="363636"/>
    <a:srgbClr val="FAFAFA"/>
    <a:srgbClr val="0F3D68"/>
    <a:srgbClr val="00336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77" autoAdjust="0"/>
    <p:restoredTop sz="94660"/>
  </p:normalViewPr>
  <p:slideViewPr>
    <p:cSldViewPr snapToObjects="1" showGuides="1">
      <p:cViewPr varScale="1">
        <p:scale>
          <a:sx n="58" d="100"/>
          <a:sy n="58" d="100"/>
        </p:scale>
        <p:origin x="738" y="66"/>
      </p:cViewPr>
      <p:guideLst>
        <p:guide orient="horz" pos="2142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29.xml"/><Relationship Id="rId4" Type="http://schemas.openxmlformats.org/officeDocument/2006/relationships/slide" Target="slides/slide28.xml"/><Relationship Id="rId5" Type="http://schemas.openxmlformats.org/officeDocument/2006/relationships/slide" Target="slides/slide27.xml"/><Relationship Id="rId6" Type="http://schemas.openxmlformats.org/officeDocument/2006/relationships/slide" Target="slides/slide26.xml"/><Relationship Id="rId7" Type="http://schemas.openxmlformats.org/officeDocument/2006/relationships/slide" Target="slides/slide25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124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单击此处编辑母版文本样式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第二级</a:t>
            </a: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第三级</a:t>
            </a: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第四级</a:t>
            </a: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第五级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 algn="r" fontAlgn="base">
              <a:buChar char="•"/>
            </a:pPr>
            <a:fld id="{9A0DB2DC-4C9A-4742-B13C-FB6460FD3503}" type="slidenum">
              <a:rPr lang="zh-CN" altLang="en-US" sz="1200" strike="noStrike" noProof="1" dirty="0">
                <a:latin typeface="Arial" panose="020B0604020202020204" pitchFamily="34" charset="0"/>
                <a:ea typeface="宋体" panose="02010600030101010101" pitchFamily="2" charset="-122"/>
                <a:cs typeface="+mn-ea"/>
              </a:rPr>
              <a:pPr lvl="0" algn="r" fontAlgn="base">
                <a:buChar char="•"/>
              </a:pPr>
              <a:t>‹#›</a:t>
            </a:fld>
            <a:endParaRPr lang="zh-CN" altLang="en-US" sz="1200" strike="noStrike" noProof="1"/>
          </a:p>
        </p:txBody>
      </p:sp>
    </p:spTree>
    <p:extLst>
      <p:ext uri="{BB962C8B-B14F-4D97-AF65-F5344CB8AC3E}">
        <p14:creationId xmlns:p14="http://schemas.microsoft.com/office/powerpoint/2010/main" val="336092147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各位老师上午好。我汇报的题目是《基于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先说背景。云原生负载规模持续增长，生产集群已经进入万节点量级；业务对调度器提出双重要求，既要秒级承接海量 Pod，又要长期运行不因单点失效中断服务。原生 kube-scheduler 是单实例架构，这两条同时满足很吃力——这正是工业界做分布式改造的起点，也是本文要处理的问题。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现状分国外与国内两条线。国外从集中式走到共享状态：Borg、Omega、Mesos，再到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走插件增强。共同缺口在落盘侧，本文正落在这个缺口上。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这一页把全文压成两句。架构上，单 Dispatcher、多独立 Scheduler，Binder 合并进 Scheduler 进程，CacheAdapter 零拷贝共享缓存，去掉跨进程的事件传递与序列化。一致性上，四层容错，L0 到 L3 覆盖 Bind 前中后，每层对应一类 etcd 原子语义。两条创新指向同一个目标：不改 API，跑得快且绑得对。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Gödel 是最有代表性的开源实现：Dispatcher 分发、Scheduler 决策、Binder 落盘，加节点分区。但它留了两个缺口：Binder 独立部署，绑定又变成跨进程串行环节；分区归属会漂移，严格一致性缺少完整论证。本文的两个问题就对着这两个缺口。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技术路线：并发做在分区上，一致性做在 etcd 上。Dispatcher 统一分发，Scheduler 在分区内并行决策，落盘走 dispatching、assuming、binding 三步事务。一致性不靠加锁，靠 etcd 三种原子语义：resourceVersion 乐观并发、Watch 一致性视图、Bind 子资源原子写。这三步事务，就是后面四层容错的落点。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先看 Dispatcher 的内部流程。它进来先做归属校验，把分区漂移的 Pod 拦住；再按实例负载做分区选择，决定交给哪个 Scheduler；然后入队。注意它不选节点，只决定 Pod 去哪，选节点是下一环的事，这也是它能并行分发的原因。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的校验才有同一个真相可依。零拷贝的收益，会在扩展性实验里直接体现。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前，Layer 0 校验归属注解，把漂移拦在门外；Bind 中，Layer 1 用同步退避处理暂态错误；失败后，Layer 2 用异步 Reconciler 回收孤儿状态；重试耗尽，Layer 3 由 Dispatcher 清注解、触发全局重分发。四层之间是衔接关系，不是四个独立补丁。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所有机制最后都回到不变量 I：任一 Pod 至多绑定到一个节点。证明拆四点：P1 来自 Bind 子资源原子写；P2 是 Assumed 状态清理；P3 是注解清理与重分发的时序；P4 是 Layer 0 前置拦截。四层都不破坏 I，且可在 apiserver 侧复核。这也是后面所有实验断言的设计依据。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是实例数，后面场景名都由这三段拼成。实验设计说明三点公平性。第一，KWOK 仿真，kind 集群内运行，Kubernetes 版本与对照组一致。第二，五个调度器 Pod 规格相同，客户端 QPS 与 Burst 都是 10000，避免把限流误读成能力差异。第三，每场景三次取中位数，共 144 次 run。所以主评估用 s2/w2、s2/w3、s3/w2、s3/w3 四个场景，扩展场景另算。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所有机制最后都要回到不变量 I：任一 Pod 至多绑定到一个节点。证明拆四点：P1 来自 Bind 子资源原子写；P2 是 Assumed 状态清理；P3 是注解清理与重分发的时序；P4 是 Layer 0 前置拦截。四层都不破坏 I，而且可以在 apiserver 侧用断言复核，不是自说自话。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项判据全过。所谓正确，不是日志没报错，而是外部事实对得上。两场注入分别是分区漂移与实例失活，正好覆盖两类威胁。判据包括成功率、断言、拦截数、回退数、耗时与队列行为，六项都要成立。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次，两条曲线重叠。关键是拦截不等于丢弃：Pod 进回退队列被重分发，所以成功率仍是 1.00，断言 50000 全过，总耗时 683 秒，只比基线多 3 秒。这组数字说明 Layer 0 只是把错误前置，不是把工作丢掉，代价几乎为零。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Pod，孤儿回收 77.15 每秒，队列峰值 353 后回落到 2。累计绑定 49607/50000，断言仍全过。代价是 784 秒、多 104 秒，这是工作量重排，不是数据损坏。对比基线是同一场景下的无故障运行，680 秒；这也说明接管是可控的，代价有界。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五组对比，结论是三档。第一档 ENO 与 Gödel，都是几百 pods/s；第二档 kube-scheduler；第三档 Volcano 与 Koordinator，只有约 48 和约 24 pods/s，几乎不随规模变化。主评估四场景里，ENO 比 kube-scheduler 高 1.8% 到 22.5%，比 Volcano 约 6 倍、比 Koordinator 12 倍以上。唯一例外是 s1/w1 低负载低 7.2%，那是没饱和。柱状图按场景排序，第三档几乎是一条水平线。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 14 个领先、2 个持平，没有落后的，提升 2.0% 到 22.9%，平均 11.9%。优势最大的是高负载与多实例：s2/w3 高 22.9%，s3/w3 三实例高 21.7%，s3/w5 与 s3/w7 三实例也都超过 21%。持平场景是没饱和，完成时间由注入速率决定。四个亮点场景分别是高负载、突发、异构与多实例。平均 11.9% 这个数，是把 14 个领先场景的幅度取均值得到的。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延迟这页。除 s2/w2 外，11 个非 Gang 场景 P99 都低于 Gödel，改善 0.3% 到 82.9%。最典型是 s2/w3，23.48 秒降到 4.00 秒；单实例 s3/w3 从 32.57 秒到 16.22 秒。Pod 端到端 P99 在 12 个非 Gang 场景也都不高于 Gödel，改善 0.6% 到 75.3%。Gang 是反的，放到局限里展开。延迟的单位都是秒，纵轴用对数，便于跨量级比较；改善的下界 0.3% 出现在接近饱和的场景。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这是全文最强的归因证据。同样把实例从 1 加到 3，两边延迟都降约 99%，这部分一样。差别在吞吐：ENO 从 297.6 到 349.7，提升 17.5%；Gödel 从 283.3 到 287.4，只提升 1.4%。同样多的并发能力，Gödel 的增量被独立 Binder 的串行绑定吸收掉了。扩展性实验固定负载为 s3/w3，w3 即 1000 pods per second，两组都跑三次取中位数。延迟数量级下降，说明瓶颈不在决策侧。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仍领先——吞吐 296.7 对 280.9 高 5.6%，P99 0.19 对 0.28 秒低 33.4%，队列峰值 9 对 61。第二，复杂负载：极限 +9.3% 与 +16.0%，突发 +21.3% 与 +2.8%，异构 s3 高 21.2%、s4 持平。注意固定三实例，回落不等于扩展上限。s4 的退化与固定三实例有关，这写在局限里。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+1.4%；第四行四层容错守住不变量。也要说明相关与归因的区别：峰值吞吐不是每个场景都领先，s3/w5 与 s4/w3 低于 Gödel。四行对应四个机制，每一项都有可复核的字段；如果评委追问某个数字，备用页里有完整口径以及原始目录。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倍，原因是同组预留等待与决策共用进程和队列，我们没用独立计时实验把两段分离。其余是固定实例数、资源公平、Volcano 口径、幸存者偏差。这六条不是免责声明，而是给结论划边界；在这个边界内，跨调度器的相对结论是稳的。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API、保留开关、基准开源。三组证据合起来，正好对应问题、方法与效果。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上做到更高吞吐、更低尾延迟、100% 成功率。请各位老师批评指正。如果只问一个问题，我的回答就是刚才那一句。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我的汇报到这里。如果只允许一句话总结：本文把 Binder 从独立进程合并进 Scheduler，用基于 etcd 原子语义的四层容错守住“至多绑定一次”，在 16 个场景、144 次 run 上做到更高吞吐、更低尾延迟和 100% 绑定成功率。请各位老师批评指正，谢谢。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备用页：这一页给评委看形态。左边吞吐，右边 P99，共享时间轴。ENO 的平台更高、更早稳定；P99 峰值更低、回落更快。两张图放一起的意义是：我们的优势不是某个瞬时点，而是整段完成时间更短。这正好解释为什么有效吞吐对我们有利——它衡量的就是固定工作量多久做完，而不是某一秒的瞬时速率。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1027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2053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" grpId="0"/>
    </p:bldLst>
  </p:timing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5" y="942540"/>
            <a:ext cx="4224528" cy="8032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157984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7864" y="3282696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2231136"/>
            <a:ext cx="107259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113E6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3456432"/>
            <a:ext cx="107259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0070C0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" y="4617720"/>
            <a:ext cx="986637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636363"/>
                </a:solidFill>
                <a:latin typeface="Arial"/>
                <a:ea typeface="微软雅黑"/>
              </a:rPr>
              <a:t>答辩人：[姓名]　　指导教师：[导师]　　学院：[学院]　　日期：[日期]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4486656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852416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Oval 9011"/>
          <p:cNvSpPr/>
          <p:nvPr/>
        </p:nvSpPr>
        <p:spPr>
          <a:xfrm>
            <a:off x="8260079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8625839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6373368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6739128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Rectangle 9009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TextBox 9010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9003" name="Picture 9002" descr="fig3-1-system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Dispatcher 内部流程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先校验归属、再选分区、然后入队——它不选节点，只决定 Pod 去哪</a:t>
            </a:r>
          </a:p>
        </p:txBody>
      </p:sp>
      <p:pic>
        <p:nvPicPr>
          <p:cNvPr id="9004" name="Picture 9003" descr="fig3-3-dispatch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66984"/>
            <a:ext cx="6720840" cy="424640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41605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归属校验：把漂移的 Pod 拦住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分区选择：按实例负载均衡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入队：交给对应 Scheduler 实例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Scheduler 内部流程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Filter → Score → Reserve → Permit，产出目标节点后交给 Binder 落盘</a:t>
            </a:r>
          </a:p>
        </p:txBody>
      </p:sp>
      <p:pic>
        <p:nvPicPr>
          <p:cNvPr id="9004" name="Picture 9003" descr="fig3-4-schedul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9282" y="1664208"/>
            <a:ext cx="6506354" cy="4251960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41605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Filter：在分区内过滤候选节点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Score：打分选出最优节点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Reserve/Permit 后交 Binder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创新点 1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9004" name="Picture 9003" descr="fig5-1a-shared-bi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9005" name="Picture 9004" descr="fig5-1b-eno-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序列化与网络往返被消除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保留 CLI 开关，可回退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CacheAdapter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状态以对象引用共享，不再复制，也没有跨进程同步延迟</a:t>
            </a:r>
          </a:p>
        </p:txBody>
      </p:sp>
      <p:pic>
        <p:nvPicPr>
          <p:cNvPr id="9004" name="Picture 9003" descr="fig5-2-cache-zero-co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4622" y="1783080"/>
            <a:ext cx="5115794" cy="4206240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对象引用而非序列化拷贝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进程内 Binder 与 Scheduler 同视图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为一致性校验提供同一份真相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创新点 2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9004" name="Rectangle 9003"/>
          <p:cNvSpPr/>
          <p:nvPr/>
        </p:nvSpPr>
        <p:spPr>
          <a:xfrm>
            <a:off x="2212848" y="1920240"/>
            <a:ext cx="25603" cy="396849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2139696" y="2194560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566928" y="2029968"/>
            <a:ext cx="14447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Layer 0</a:t>
            </a:r>
          </a:p>
          <a:p>
            <a:pPr algn="r">
              <a:spcBef>
                <a:spcPts val="100"/>
              </a:spcBef>
            </a:pPr>
            <a:r>
              <a:rPr sz="1050" b="0">
                <a:solidFill>
                  <a:srgbClr val="636363"/>
                </a:solidFill>
                <a:latin typeface="Arial"/>
                <a:ea typeface="微软雅黑"/>
              </a:rPr>
              <a:t>预防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2450592" y="1938528"/>
            <a:ext cx="896112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2615184" y="2039112"/>
            <a:ext cx="8641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威胁：分区归属漂移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etcd：resourceVersion 乐观并发</a:t>
            </a:r>
          </a:p>
        </p:txBody>
      </p:sp>
      <p:sp>
        <p:nvSpPr>
          <p:cNvPr id="9009" name="Oval 9008"/>
          <p:cNvSpPr/>
          <p:nvPr/>
        </p:nvSpPr>
        <p:spPr>
          <a:xfrm>
            <a:off x="2139696" y="3172968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566928" y="3008376"/>
            <a:ext cx="14447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Layer 1</a:t>
            </a:r>
          </a:p>
          <a:p>
            <a:pPr algn="r">
              <a:spcBef>
                <a:spcPts val="100"/>
              </a:spcBef>
            </a:pPr>
            <a:r>
              <a:rPr sz="1050" b="0">
                <a:solidFill>
                  <a:srgbClr val="636363"/>
                </a:solidFill>
                <a:latin typeface="Arial"/>
                <a:ea typeface="微软雅黑"/>
              </a:rPr>
              <a:t>即时恢复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2450592" y="2916936"/>
            <a:ext cx="896112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2615184" y="3017520"/>
            <a:ext cx="8641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威胁：apiserver 暂态错误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etcd：Bind 原子写 / 409 冲突</a:t>
            </a:r>
          </a:p>
        </p:txBody>
      </p:sp>
      <p:sp>
        <p:nvSpPr>
          <p:cNvPr id="9013" name="Oval 9012"/>
          <p:cNvSpPr/>
          <p:nvPr/>
        </p:nvSpPr>
        <p:spPr>
          <a:xfrm>
            <a:off x="2139696" y="4151376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566928" y="3986783"/>
            <a:ext cx="14447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Layer 2</a:t>
            </a:r>
          </a:p>
          <a:p>
            <a:pPr algn="r">
              <a:spcBef>
                <a:spcPts val="100"/>
              </a:spcBef>
            </a:pPr>
            <a:r>
              <a:rPr sz="1050" b="0">
                <a:solidFill>
                  <a:srgbClr val="636363"/>
                </a:solidFill>
                <a:latin typeface="Arial"/>
                <a:ea typeface="微软雅黑"/>
              </a:rPr>
              <a:t>后台回收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2450592" y="3895344"/>
            <a:ext cx="896112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2615184" y="3995928"/>
            <a:ext cx="8641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威胁：孤儿 Assumed 状态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etcd：Watch 一致性视图</a:t>
            </a:r>
          </a:p>
        </p:txBody>
      </p:sp>
      <p:sp>
        <p:nvSpPr>
          <p:cNvPr id="9017" name="Oval 9016"/>
          <p:cNvSpPr/>
          <p:nvPr/>
        </p:nvSpPr>
        <p:spPr>
          <a:xfrm>
            <a:off x="2139696" y="5129784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566928" y="4965192"/>
            <a:ext cx="14447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Layer 3</a:t>
            </a:r>
          </a:p>
          <a:p>
            <a:pPr algn="r">
              <a:spcBef>
                <a:spcPts val="100"/>
              </a:spcBef>
            </a:pPr>
            <a:r>
              <a:rPr sz="1050" b="0">
                <a:solidFill>
                  <a:srgbClr val="636363"/>
                </a:solidFill>
                <a:latin typeface="Arial"/>
                <a:ea typeface="微软雅黑"/>
              </a:rPr>
              <a:t>全局回退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2450592" y="4873752"/>
            <a:ext cx="896112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TextBox 9019"/>
          <p:cNvSpPr txBox="1"/>
          <p:nvPr/>
        </p:nvSpPr>
        <p:spPr>
          <a:xfrm>
            <a:off x="2615184" y="4974336"/>
            <a:ext cx="8641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威胁：实例失活、重试耗尽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etcd：注解清理 + 全局重分发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正确性根基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Bind 原子写是最后防线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resourceVersion 防并发覆盖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四层机制均不破坏 I</a:t>
            </a:r>
          </a:p>
        </p:txBody>
      </p:sp>
      <p:pic>
        <p:nvPicPr>
          <p:cNvPr id="9005" name="Picture 9004" descr="fig4-3-consistency-invari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负载 w1–w7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w1 100 → w4 2000 pods/s（极限）；w5 突发、w6 Gang、w7 异构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Pod 2C/4G；客户端 QPS=Burst=10000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吞吐时序会“归零”，只有“总工作量 ÷ 总完成时间”跨场景可比</a:t>
            </a:r>
          </a:p>
        </p:txBody>
      </p:sp>
      <p:pic>
        <p:nvPicPr>
          <p:cNvPr id="9004" name="Picture 9003" descr="fig6-throughput-s2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493" y="1755647"/>
            <a:ext cx="7357788" cy="3017520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4809744"/>
            <a:ext cx="7360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s2/w3 吞吐时序：爬升—平台—归零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8138160" y="1828800"/>
            <a:ext cx="347472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三段结构：爬升—平台—归零，均值被尾段零值稀释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时序类：3 run 逐点中位数，再去首尾各 2 点（约 30 s）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c/d/e 单实例过载存在幸存者偏差，只与 a/b 比吞吐、队列、成功率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566928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658368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名义工作量 ÷ 完成时间（主口径）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2430780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2522220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过程中的最高瞬时调度速率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4294632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4386071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P90 / P99 延迟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入 activeQ 到 Bind 完成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6158483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6249923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Pod E2E P99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Dispatcher 观察到绑定完成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8022335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8113775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Bind 成功 / Bind 尝试</a:t>
            </a:r>
          </a:p>
        </p:txBody>
      </p:sp>
      <p:sp>
        <p:nvSpPr>
          <p:cNvPr id="9017" name="Rounded Rectangle 9016"/>
          <p:cNvSpPr/>
          <p:nvPr/>
        </p:nvSpPr>
        <p:spPr>
          <a:xfrm>
            <a:off x="9886188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9977627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pending_pods 最大值</a:t>
            </a:r>
          </a:p>
        </p:txBody>
      </p:sp>
      <p:sp>
        <p:nvSpPr>
          <p:cNvPr id="9019" name="TextBox 901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6583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6583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Rectangle 9008"/>
          <p:cNvSpPr/>
          <p:nvPr/>
        </p:nvSpPr>
        <p:spPr>
          <a:xfrm>
            <a:off x="43921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43921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Rectangle 9012"/>
          <p:cNvSpPr/>
          <p:nvPr/>
        </p:nvSpPr>
        <p:spPr>
          <a:xfrm>
            <a:off x="81259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81259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Layer 0 / Layer 3 故障注入各 6 项判据全过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断言在 apiserver 侧可复核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9004" name="Picture 9003" descr="fig6-29a-layer0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9004" name="Picture 9003" descr="fig6-29b-layer3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9004" name="Picture 9003" descr="fig6-3-throughput-5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9006" name="Table 9005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9004" name="Picture 9003" descr="fig6-2-effective-through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尾延迟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9004" name="Picture 9003" descr="fig6-4-latency-p99-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P99 改善 0.3%~82.9%（除 s2/w2）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s3/w3 inst1 32.57→16.22 s（-50.2%）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Pod E2E P99 改善 0.6%~75.3%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实例 1→3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005" name="Picture 9004" descr="fig6-16-throughput-s3-w3-inst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这是架构归因最强的一组证据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不改 API、保留开关、基准开源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113E6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636363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7" name="Rectangle 6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9004" name="Picture 9003" descr="fig6-throughput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9005" name="Picture 9004" descr="fig6-6-latency-p99-s3-w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2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3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3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2227</Words>
  <Application>Microsoft Office PowerPoint</Application>
  <PresentationFormat>自定义</PresentationFormat>
  <Paragraphs>279</Paragraphs>
  <Slides>29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34" baseType="lpstr">
      <vt:lpstr>微软雅黑</vt:lpstr>
      <vt:lpstr>Arial</vt:lpstr>
      <vt:lpstr>Calibri</vt:lpstr>
      <vt:lpstr>1</vt:lpstr>
      <vt:lpstr>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</dc:title>
  <dc:subject>1</dc:subject>
  <dc:creator>zhite</dc:creator>
  <dc:description>1</dc:description>
  <cp:lastModifiedBy> </cp:lastModifiedBy>
  <cp:revision>8</cp:revision>
  <dcterms:created xsi:type="dcterms:W3CDTF">2013-01-25T01:44:00Z</dcterms:created>
  <dcterms:modified xsi:type="dcterms:W3CDTF">2019-07-19T02:21:16Z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2052-10.1.0.6490</vt:lpwstr>
  </property>
</Properties>
</file>