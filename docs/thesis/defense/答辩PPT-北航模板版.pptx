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</p:sldMasterIdLst>
  <p:notesMasterIdLst>
    <p:notesMasterId r:id="rId32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7"/>
    <p:sldId id="281" r:id="rId6"/>
    <p:sldId id="282" r:id="rId5"/>
    <p:sldId id="283" r:id="rId4"/>
    <p:sldId id="284" r:id="rId3"/>
    <p:sldId id="285" r:id="rId37"/>
    <p:sldId id="286" r:id="rId38"/>
    <p:sldId id="287" r:id="rId39"/>
  </p:sldIdLst>
  <p:sldSz cx="12196763" cy="6858000"/>
  <p:notesSz cx="6858000" cy="9144000"/>
  <p:defaultTextStyle>
    <a:defPPr>
      <a:defRPr lang="zh-CN"/>
    </a:defPPr>
    <a:lvl1pPr marL="0" lvl="0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1pPr>
    <a:lvl2pPr marL="457200" lvl="1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2pPr>
    <a:lvl3pPr marL="914400" lvl="2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3pPr>
    <a:lvl4pPr marL="1371600" lvl="3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4pPr>
    <a:lvl5pPr marL="1828800" lvl="4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5pPr>
    <a:lvl6pPr marL="2286000" lvl="5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6pPr>
    <a:lvl7pPr marL="2743200" lvl="6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7pPr>
    <a:lvl8pPr marL="3200400" lvl="7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8pPr>
    <a:lvl9pPr marL="3657600" lvl="8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9pPr>
  </p:defaultTextStyle>
  <p:extLst>
    <p:ext uri="{EFAFB233-063F-42B5-8137-9DF3F51BA10A}">
      <p15:sldGuideLst xmlns:p15="http://schemas.microsoft.com/office/powerpoint/2012/main">
        <p15:guide id="1" orient="horz" pos="2142">
          <p15:clr>
            <a:srgbClr val="A4A3A4"/>
          </p15:clr>
        </p15:guide>
        <p15:guide id="2" pos="384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F8F8"/>
    <a:srgbClr val="113E6A"/>
    <a:srgbClr val="006BBC"/>
    <a:srgbClr val="363636"/>
    <a:srgbClr val="FAFAFA"/>
    <a:srgbClr val="0F3D68"/>
    <a:srgbClr val="003366"/>
    <a:srgbClr val="EAEAE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477" autoAdjust="0"/>
    <p:restoredTop sz="94660"/>
  </p:normalViewPr>
  <p:slideViewPr>
    <p:cSldViewPr snapToObjects="1" showGuides="1">
      <p:cViewPr varScale="1">
        <p:scale>
          <a:sx n="58" d="100"/>
          <a:sy n="58" d="100"/>
        </p:scale>
        <p:origin x="738" y="66"/>
      </p:cViewPr>
      <p:guideLst>
        <p:guide orient="horz" pos="2142"/>
        <p:guide pos="384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29.xml"/><Relationship Id="rId4" Type="http://schemas.openxmlformats.org/officeDocument/2006/relationships/slide" Target="slides/slide28.xml"/><Relationship Id="rId5" Type="http://schemas.openxmlformats.org/officeDocument/2006/relationships/slide" Target="slides/slide27.xml"/><Relationship Id="rId6" Type="http://schemas.openxmlformats.org/officeDocument/2006/relationships/slide" Target="slides/slide26.xml"/><Relationship Id="rId7" Type="http://schemas.openxmlformats.org/officeDocument/2006/relationships/slide" Target="slides/slide25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r"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124" name="Rectangle 4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9525">
            <a:noFill/>
          </a:ln>
        </p:spPr>
      </p:sp>
      <p:sp>
        <p:nvSpPr>
          <p:cNvPr id="6149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单击此处编辑母版文本样式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第二级</a:t>
            </a:r>
          </a:p>
          <a:p>
            <a:pPr marL="914400" marR="0" lvl="2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第三级</a:t>
            </a:r>
          </a:p>
          <a:p>
            <a:pPr marL="1371600" marR="0" lvl="3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第四级</a:t>
            </a:r>
          </a:p>
          <a:p>
            <a:pPr marL="1828800" marR="0" lvl="4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第五级</a:t>
            </a:r>
          </a:p>
        </p:txBody>
      </p:sp>
      <p:sp>
        <p:nvSpPr>
          <p:cNvPr id="615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5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/>
          <a:p>
            <a:pPr lvl="0" algn="r" fontAlgn="base">
              <a:buChar char="•"/>
            </a:pPr>
            <a:fld id="{9A0DB2DC-4C9A-4742-B13C-FB6460FD3503}" type="slidenum">
              <a:rPr lang="zh-CN" altLang="en-US" sz="1200" strike="noStrike" noProof="1" dirty="0">
                <a:latin typeface="Arial" panose="020B0604020202020204" pitchFamily="34" charset="0"/>
                <a:ea typeface="宋体" panose="02010600030101010101" pitchFamily="2" charset="-122"/>
                <a:cs typeface="+mn-ea"/>
              </a:rPr>
              <a:pPr lvl="0" algn="r" fontAlgn="base">
                <a:buChar char="•"/>
              </a:pPr>
              <a:t>‹#›</a:t>
            </a:fld>
            <a:endParaRPr lang="zh-CN" altLang="en-US" sz="1200" strike="noStrike" noProof="1"/>
          </a:p>
        </p:txBody>
      </p:sp>
    </p:spTree>
    <p:extLst>
      <p:ext uri="{BB962C8B-B14F-4D97-AF65-F5344CB8AC3E}">
        <p14:creationId xmlns:p14="http://schemas.microsoft.com/office/powerpoint/2010/main" val="336092147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各位老师上午好。我的论文题目是《基于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Scheduler，用四层机制守住“至多绑定一次”。十八分钟，只讲问题、方法、证据。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先说背景。Kubernetes 已成为云原生的事实标准，调度器在 Pod 生命周期的关键路径上，吞吐和延迟直接决定资源利用率与业务响应速度。千节点规模单实例还能撑住，到万节点量级就暴露三个瓶颈：activeQ 串行、Filter/Score 随规模线性、Leader 单点。这三条叠在一起，单实例架构就很难再往上走。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第二章分国外与国内两条线。国外从集中式走到共享状态：Borg、Omega、Mesos，再到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走插件增强。共同缺口在落盘侧。决策侧已相对充分，落盘侧的工程问题还没被系统回答。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这一页压成两句。架构上，单 Dispatcher、多独立 Scheduler，Binder 合并进 Scheduler 进程，CacheAdapter 零拷贝共享缓存。一致性上，四层容错覆盖 Bind 前中后，都建立在 etcd 原子语义上。两条创新指向同一个目标。不改 API 的前提下，让分布式调度既跑得快、稳定性更高。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这张图是总体架构。上层 Dispatcher 单实例，维护节点分区表，把 Pod 按分区分发给对应 Scheduler，绑定出问题时清理注解、触发重分发。中间多个 Scheduler 只调度本分区节点。下层 Binder 与 Scheduler 同进程，负责真正写进 apiserver。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Dispatcher 内部三步。第一步排序入队：nodeName 为空、还没有 scheduler-name 注解的新 Pod，按 FIFO 进有序队列。第二步分发决策：PodGroup 成员复用已分配实例，否则按负载均衡挑最空闲的。第三步写入并跟踪：PatchPod 写 scheduler-name，失败进不可调度队列。注意它不选节点，只决定 Pod 去哪。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Scheduler 内部也是三步。入队前 pre-queue 先校验 PodGroup 成员与亲和依赖，不通过退回 Dispatcher。进 activeQ 后跑 Filter、Score、Reserve，Reserve 阶段写 Assumed 状态。最后调 Binder 执行 Bind；失败进 backoffQ 退避，多次失败退回 Dispatcher。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左边是原形态，Binder 独立部署，决策完要把任务发过去；右边是本文形态，Binder 就在 Scheduler 进程里。这一刀去掉三段开销：事件传递、跨进程调用、序列化。我把它称为第一性来源。Binder 进进程之后，绑定与决策共享同一份缓存、同一个调度循环。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的校验才有同一个真相可依。零拷贝的收益，会在后面的扩展性实验里直接看到。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 Layer 0 校验归属注解，非本分区直接拒绝并回退。Bind 中 Layer 1 只处理 409、429、ServerTimeout 三类暂态错误：线性退避 100、200、300 毫秒，最多三次，其它错误立即上抛。失败后 Layer 2 异步清理残留注解，按失败计数决定本地重试还是上升。重试耗尽 Layer 3 用一次原子 patch 交回 Dispatcher 重分发。四层之间是衔接关系，不是四个独立补丁。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所有机制最后都回到不变量 I：任一 Pod 至多绑定到一个节点。证明拆四点：P1 来自 Bind 子资源原子写；P2 是 Assumed 状态清理；P3 是注解清理与重分发的时序；P4 是 Layer 0 前置拦截。四层都不破坏 I，且可在 apiserver 侧复核。这也是后面所有实验断言的设计依据。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先讲编码：s 是规模档位，w 是负载强度，inst 是实例数，后面场景名都由这三段拼成。再说公平性：KWOK 仿真、kind 集群内运行；五个调度器 Pod 规格相同，客户端 QPS 与 Burst 都是 10000；每场景三次取中位数，共 144 次 run。主评估取 s2/w2、s2/w3、s3/w2、s3/w3 四个场景，其余作为扩展与复杂负载场景。观测栈是 Prometheus 每 15 秒抓取，recording rules 统一各组指标名。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这一页是方法学核心。吞吐时序是爬升、平台、归零三段，直接取平均会被尾段零值稀释，稀释程度还取决于跑多久，跨调度器就不可比，所以主口径是总工作量除以总完成时间。时序类先对三条 run 逐点取中位数，再剔首尾各两点。c、d、e 是单实例，过载时 Pod 没进直方图，存在幸存者偏差，只做定性说明。所以跨调度器我只用吞吐、队列堆积与绑定成功率做整体比较，延迟只在 ENO 与 Gödel 之间比。这三条口径是后面所有数字可比的前提；口径不同，数字就不能直接并列。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项判据全过。所谓正确，不是日志里没报错，而是外部可观测的事实对得上。断言是在 apiserver 侧做的，不是调度器自报。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次，两条曲线重叠。拦截不等于丢弃：Pod 进回退队列被重分发，成功率仍是 1.00，总耗时 683 秒、只比基线多 3 秒。这组数字说明 Layer 0 只是把错误前置，不是把工作丢掉，代价几乎为零。拦截 300 次、回退 300 次，两边对得上，说明没有 Pod 被丢掉。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秒。被杀实例未完成的绑定只占 68/8407，即 0.81%；两个存活实例接管 8407 个 Pod，队列峰值 353 后回落到 2。累计绑定 49607/50000，断言仍全过。代价是 784 秒、比基线多 104 秒，是工作量重排的代价，不是数据损坏。对比基线是同一场景下的无故障运行，680 秒。队列在 353 之后回落到 2，说明积压是瞬时的。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五组横向对比，结论是三档。第一档 ENO 与 Gödel，都是几百 pods/s；第二档 kube-scheduler；第三档 Volcano 与 Koordinator，只有约 48 和约 24 pods/s，几乎不随规模变化。主评估四场景里，ENO 比 kube-scheduler 高 1.8% 到 22.5%。唯一例外是 s1/w1 低负载低 7.2%，那个场景没饱和。柱状图按场景排序，第三档几乎是一条水平线，说明它们的瓶颈不在调度吞吐这一维。从 s1 到 s3，第一档的曲线始终压在最上面，第三档几乎不随规模变化。这个排序在 16 个场景上是一致的。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延迟这页。除 s2/w2 外，11 个非 Gang 场景 P99 都低于 Gödel，改善 0.3% 到 82.9%。最典型是 s2/w3，23.48 秒降到 4.00 秒；单实例 s3/w3 从 32.57 秒到 16.22 秒。Pod 端到端 P99 在 12 个非 Gang 场景也都不高于 Gödel。Gang 是反的，放到局限里展开。延迟单位是秒，纵轴用对数，便于跨量级比较。改善的下界 0.3% 出现在已经接近饱和的场景。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这是全文最强的归因证据。同样把实例从 1 加到 3，两边延迟都降约 99%，这部分一样。差别在吞吐：ENO 从 297.6 到 349.7，提升 17.5%；Gödel 从 283.3 到 287.4，只提升 1.4%。同样多的并发能力，Gödel 的增量被独立 Binder 的串行绑定吸收掉了。延迟数量级下降说明瓶颈不在决策侧，而在绑定这一环的串行化。峰值吞吐两家都涨，但只有 ENO 把增量转化成了有效吞吐。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仍领先，吞吐 296.7 对 280.9 高 5.6%，P99 0.19 对 0.28 秒低 33.4%，队列峰值 9 对 61。第二，复杂负载：极限 +9.3% 与 +16.0%，突发 +21.3% 与 +2.8%，异构 s3 高 21.2%、s4 持平。s4 的退化与固定三实例有关，这写在局限里。规模翻倍而实例不扩，本身就是一个更苛刻的设定，不能当作扩展上限。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把机制和指标对齐。进程内绑定去掉事件传递，对应 E2E 降低，三实例 0.45 对 0.93 秒；零拷贝让状态复用无同步延迟；关键是第三行，没有独立 Binder 的串行段，吞吐才能随实例扩展，+17.5% 对 +1.4%；第四行四层容错守住不变量。也要说明相关与归因的区别：峰值吞吐不是每个场景都领先。如果评委追问某个数字，备用页里有完整口径与原始目录。四行对应四个机制，每一项都有可复核的字段。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局限六条，只讲关键。KWOK 是仿真，绝对数值不外推，但跨调度器相对比较成立。Gang 即 w6，ENO 尾延迟确实更高：吞吐高 4.3% 到 19.1%，单 Pod P99 高 1.6 到 4.1 倍，原因是同组预留等待与决策共用进程和队列。s3 到 s4 固定三实例，退化幅度不能读成上限。其余是资源公平、Volcano 口径、幸存者偏差。这六条不是免责声明，而是给结论划边界。在这个边界内，跨调度器的相对结论是稳的。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最后收束。两个创新：ENO 把 Binder 放进进程内并用 CacheAdapter 共享缓存；四层容错给出不变量 I 的证明要点。三组证据：16 场景 144 次 run 全成功、平均 +11.9%、P99 最高 -82.9%、实例扩展 +17.5% 对 +1.4%。价值：不改 API、保留开关、基准开源。三组证据合起来，正好对应问题、方法与效果。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上做到更高吞吐、更低尾延迟与 100% 绑定成功率。请各位老师批评指正。如果只问一个问题，我的回答就是刚才那一句。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备用页：抽查任意场景的原始数值。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备用页：如果评委追问某个数字怎么算出来的，用这页回答。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备用页：幸存者偏差的解释。过载时 Pod 根本没被处理，所以延迟看起来“很好”。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备用页：w6 反向结果的完整数据与解释。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备用页：公平性与资源开销的口径说明。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备用页：评委问可复现性时展示。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备用页：这一页是给评委看“形态”的。左边吞吐，右边 P99，共享同一条时间轴。ENO 的平台更高、更早稳定；右边的 P99 峰值更低、回落更快。这两张图放在一起的意义是：我们的优势不是某个瞬时点上的抖动，而是整段完成时间都更短——这也正好解释了为什么有效吞吐这个口径对我们有利，因为它衡量的是固定工作量做多久做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jpe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9.xml"/><Relationship Id="rId8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3.xml"/><Relationship Id="rId12" Type="http://schemas.openxmlformats.org/officeDocument/2006/relationships/theme" Target="../theme/theme2.xml"/><Relationship Id="rId13" Type="http://schemas.openxmlformats.org/officeDocument/2006/relationships/image" Target="../media/image3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1027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2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2053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0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75" grpId="0"/>
    </p:bldLst>
  </p:timing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3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4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8.png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5615" y="942540"/>
            <a:ext cx="4224528" cy="80325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157984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97864" y="3282696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2231136"/>
            <a:ext cx="10725912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>
                <a:solidFill>
                  <a:srgbClr val="113E6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" y="3456432"/>
            <a:ext cx="1072591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0070C0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97864" y="4617720"/>
            <a:ext cx="986637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636363"/>
                </a:solidFill>
                <a:latin typeface="Arial"/>
                <a:ea typeface="微软雅黑"/>
              </a:rPr>
              <a:t>答辩人：[姓名]　　指导教师：[导师]　　学院：[学院]　　日期：[日期]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 / 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研究背景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生产集群进入万节点量级，单实例架构在吞吐与高可用上同时受制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783080"/>
            <a:ext cx="108813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Kubernetes 已成为云原生的事实标准，调度器处在 Pod 生命周期的关键路径上：它的吞吐与延迟直接决定集群资源利用率与业务响应速度。千节点规模下单实例尚可支撑，集群进入万节点量级后，三个瓶颈同时显现。</a:t>
            </a:r>
          </a:p>
        </p:txBody>
      </p:sp>
      <p:sp>
        <p:nvSpPr>
          <p:cNvPr id="9005" name="Rounded Rectangle 9004"/>
          <p:cNvSpPr/>
          <p:nvPr/>
        </p:nvSpPr>
        <p:spPr>
          <a:xfrm>
            <a:off x="566928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Oval 9005"/>
          <p:cNvSpPr/>
          <p:nvPr/>
        </p:nvSpPr>
        <p:spPr>
          <a:xfrm>
            <a:off x="713232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992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吞吐存在上限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activeQ 串行处理 Pod，大规模弹性伸缩与批任务启动被拖慢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40351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Oval 9008"/>
          <p:cNvSpPr/>
          <p:nvPr/>
        </p:nvSpPr>
        <p:spPr>
          <a:xfrm>
            <a:off x="4486656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10" name="TextBox 9009"/>
          <p:cNvSpPr txBox="1"/>
          <p:nvPr/>
        </p:nvSpPr>
        <p:spPr>
          <a:xfrm>
            <a:off x="4852416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尾延迟持续抬升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Filter/Score 遍历节点开销随规模线性上升，5000 节点下 P99 明显恶化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8113775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Oval 9011"/>
          <p:cNvSpPr/>
          <p:nvPr/>
        </p:nvSpPr>
        <p:spPr>
          <a:xfrm>
            <a:off x="8260079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8625839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单点故障风险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Leader 崩溃后需等待 Standby 接管，这段窗口内集群完全无法调度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9003" name="Rounded Rectangle 9002"/>
          <p:cNvSpPr/>
          <p:nvPr/>
        </p:nvSpPr>
        <p:spPr>
          <a:xfrm>
            <a:off x="566928" y="1755648"/>
            <a:ext cx="5404104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Oval 9003"/>
          <p:cNvSpPr/>
          <p:nvPr/>
        </p:nvSpPr>
        <p:spPr>
          <a:xfrm>
            <a:off x="713232" y="1892807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992" y="1892807"/>
            <a:ext cx="4764024" cy="21305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9006" name="Rounded Rectangle 9005"/>
          <p:cNvSpPr/>
          <p:nvPr/>
        </p:nvSpPr>
        <p:spPr>
          <a:xfrm>
            <a:off x="6227064" y="1755648"/>
            <a:ext cx="5404104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7" name="Oval 9006"/>
          <p:cNvSpPr/>
          <p:nvPr/>
        </p:nvSpPr>
        <p:spPr>
          <a:xfrm>
            <a:off x="6373368" y="1892807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6739128" y="1892807"/>
            <a:ext cx="4764024" cy="21305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9009" name="Rounded Rectangle 9008"/>
          <p:cNvSpPr/>
          <p:nvPr/>
        </p:nvSpPr>
        <p:spPr>
          <a:xfrm>
            <a:off x="566928" y="4553712"/>
            <a:ext cx="11064240" cy="86868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Rectangle 9009"/>
          <p:cNvSpPr/>
          <p:nvPr/>
        </p:nvSpPr>
        <p:spPr>
          <a:xfrm>
            <a:off x="566928" y="4553712"/>
            <a:ext cx="73152" cy="86868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TextBox 9010"/>
          <p:cNvSpPr txBox="1"/>
          <p:nvPr/>
        </p:nvSpPr>
        <p:spPr>
          <a:xfrm>
            <a:off x="786384" y="4645152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两条创新指向同一目标：不改 API 的前提下，让分布式调度既跑得快，稳定性更高。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整体架构图</a:t>
            </a:r>
          </a:p>
        </p:txBody>
      </p:sp>
      <p:pic>
        <p:nvPicPr>
          <p:cNvPr id="9003" name="Picture 9002" descr="fig3-1-system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5464" y="868680"/>
            <a:ext cx="7930591" cy="352044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Dispatcher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单实例（Leader Election）。维护节点分区表，按分区把待调度 Pod 分发到对应 Scheduler；绑定失败时清理调度注解，触发全局重分发。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Scheduler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多实例水平扩展。只调度本分区内的节点，依次执行 Filter / Score / Reserve，产出目标节点后交给 Binder 落盘。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Binder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与 Scheduler 同进程。执行 Bind 子资源原子写；失败时按四层机制重试、回收孤儿状态，必要时上升到跨实例回退。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Dispatcher 内部流程</a:t>
            </a:r>
          </a:p>
        </p:txBody>
      </p:sp>
      <p:pic>
        <p:nvPicPr>
          <p:cNvPr id="9003" name="Picture 9002" descr="fig3-3-dispatch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0114" y="868680"/>
            <a:ext cx="5861290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排序入队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Informer 观察到 nodeName 为空、且无 scheduler-name 注解的新 Pod，按 FIFO 排序后进入有序队列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分发决策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PodGroup 成员复用该组已分配的实例；否则按负载均衡（MaxIdle 加权轮询）挑选最空闲的 Scheduler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写入并跟踪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PatchPod 写入 scheduler-name 完成分发；持续观察绑定结果，失败进入不可调度队列等待重分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Scheduler 内部流程</a:t>
            </a:r>
          </a:p>
        </p:txBody>
      </p:sp>
      <p:pic>
        <p:nvPicPr>
          <p:cNvPr id="9003" name="Picture 9002" descr="fig3-4-schedul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7347" y="868680"/>
            <a:ext cx="5666825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入队与预处理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只接 scheduler-name 匹配自身的 Pod；pre-queue 插件校验 PodGroup 成员与亲和依赖，不通过则退回 Dispatcher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调度循环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activeQ 弹出后依次 Filter（剔除硬约束不满足）、Score（打分）、Reserve（标记候选并写 Assumed 状态）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绑定与回流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Reserve 后调用 Binder 执行 Bind；失败进入 backoffQ 指数退避，多次失败则退回 Dispatcher 触发跨实例回退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进程内 Binder 架构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9004" name="Picture 9003" descr="fig5-1a-shared-bin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9005" name="Picture 9004" descr="fig5-1b-eno-ar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序列化与网络往返被消除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CacheAdapter</a:t>
            </a:r>
          </a:p>
        </p:txBody>
      </p:sp>
      <p:pic>
        <p:nvPicPr>
          <p:cNvPr id="9003" name="Picture 9002" descr="fig5-2-cache-zero-cop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8698" y="868680"/>
            <a:ext cx="4504123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共享同一实例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CacheAdapter 把 Scheduler 的 SchedulerCache 交给进程内 Binder，两边持有同一份缓存对象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零拷贝、零同步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状态以引用传递，不做序列化复制，也没有跨进程的同步延迟与网络往返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同一份真相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Layer 0 的节点归属校验读的就是这份缓存，Scheduler 与 Binder 看到的状态一致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四层绑定容错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9004" name="Rectangle 9003"/>
          <p:cNvSpPr/>
          <p:nvPr/>
        </p:nvSpPr>
        <p:spPr>
          <a:xfrm>
            <a:off x="2212848" y="1847088"/>
            <a:ext cx="25603" cy="404164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2139696" y="2157984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566928" y="1993392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0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预防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2450592" y="1828800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TextBox 9007"/>
          <p:cNvSpPr txBox="1"/>
          <p:nvPr/>
        </p:nvSpPr>
        <p:spPr>
          <a:xfrm>
            <a:off x="2615184" y="1892807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威胁：T0 节点分区归属漂移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动作：Bind 前校验 Node 的 eno.io/scheduler-name 注解，非本分区直接拒绝并清理注解回退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依赖：resourceVersion 乐观并发</a:t>
            </a:r>
          </a:p>
        </p:txBody>
      </p:sp>
      <p:sp>
        <p:nvSpPr>
          <p:cNvPr id="9009" name="Oval 9008"/>
          <p:cNvSpPr/>
          <p:nvPr/>
        </p:nvSpPr>
        <p:spPr>
          <a:xfrm>
            <a:off x="2139696" y="3200399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566928" y="3035808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1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即时恢复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2450592" y="2871215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2615184" y="2935223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威胁：T1 Bind 返回 409 Conflict / 429 TooManyRequests / ServerTimeout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动作：线性退避 n×100ms（100/200/300ms），最多 3 次；仅这三类重试，其余错误立即上抛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依赖：Bind 原子性：重复 Bind 返回 409，可视为成功</a:t>
            </a:r>
          </a:p>
        </p:txBody>
      </p:sp>
      <p:sp>
        <p:nvSpPr>
          <p:cNvPr id="9013" name="Oval 9012"/>
          <p:cNvSpPr/>
          <p:nvPr/>
        </p:nvSpPr>
        <p:spPr>
          <a:xfrm>
            <a:off x="2139696" y="4242816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566928" y="4078223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2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后台回收</a:t>
            </a:r>
          </a:p>
        </p:txBody>
      </p:sp>
      <p:sp>
        <p:nvSpPr>
          <p:cNvPr id="9015" name="Rounded Rectangle 9014"/>
          <p:cNvSpPr/>
          <p:nvPr/>
        </p:nvSpPr>
        <p:spPr>
          <a:xfrm>
            <a:off x="2450592" y="3913631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TextBox 9015"/>
          <p:cNvSpPr txBox="1"/>
          <p:nvPr/>
        </p:nvSpPr>
        <p:spPr>
          <a:xfrm>
            <a:off x="2615184" y="3977639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威胁：T2 Bind 失败后 scheduler-name、assumed-node 注解残留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动作：异步 Reconciler 消费失败队列，PatchPod 清理调度注解，按失败计数决定本地重试或升 L3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依赖：Watch 一致性视图；NotFound 直接丢弃</a:t>
            </a:r>
          </a:p>
        </p:txBody>
      </p:sp>
      <p:sp>
        <p:nvSpPr>
          <p:cNvPr id="9017" name="Oval 9016"/>
          <p:cNvSpPr/>
          <p:nvPr/>
        </p:nvSpPr>
        <p:spPr>
          <a:xfrm>
            <a:off x="2139696" y="5285232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8" name="TextBox 9017"/>
          <p:cNvSpPr txBox="1"/>
          <p:nvPr/>
        </p:nvSpPr>
        <p:spPr>
          <a:xfrm>
            <a:off x="566928" y="5120640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3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全局回退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2450592" y="4956048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TextBox 9019"/>
          <p:cNvSpPr txBox="1"/>
          <p:nvPr/>
        </p:nvSpPr>
        <p:spPr>
          <a:xfrm>
            <a:off x="2615184" y="5020056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威胁：T3 本地重试耗尽、Scheduler 实例失活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动作：一次 PatchPod 原子提交：置 pod-state=Pending、删 scheduler-name、追加 failed-schedulers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依赖：etcd 事务原子提交（Txn）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正确性根基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Bind 原子写是最后防线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resourceVersion 防并发覆盖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四层机制均不破坏 I</a:t>
            </a:r>
          </a:p>
        </p:txBody>
      </p:sp>
      <p:pic>
        <p:nvPicPr>
          <p:cNvPr id="9005" name="Picture 9004" descr="fig4-3-consistency-invaria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5237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负载 w1–w7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w1 100 → w4 2000 pods/s（极限）；w5 突发、w6 Gang、w7 异构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每 Pod 2C/4G；客户端 QPS=Burst=10000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吞吐时序会“归零”，只有“总工作量 ÷ 总完成时间”跨场景可比</a:t>
            </a:r>
          </a:p>
        </p:txBody>
      </p:sp>
      <p:pic>
        <p:nvPicPr>
          <p:cNvPr id="9004" name="Picture 9003" descr="fig6-throughput-s2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493" y="1755647"/>
            <a:ext cx="7357788" cy="3017520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4809744"/>
            <a:ext cx="73609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s2/w3 吞吐时序：爬升—平台—归零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8138160" y="1828800"/>
            <a:ext cx="347472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▪  三段结构：爬升—平台—归零，均值被尾段零值稀释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▪  时序类：3 run 逐点中位数，再去首尾各 2 点（约 30 s）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▪  c/d/e 单实例过载存在幸存者偏差，只与 a/b 比吞吐、队列、成功率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566928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TextBox 9007"/>
          <p:cNvSpPr txBox="1"/>
          <p:nvPr/>
        </p:nvSpPr>
        <p:spPr>
          <a:xfrm>
            <a:off x="658368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36363"/>
                </a:solidFill>
                <a:latin typeface="Arial"/>
                <a:ea typeface="微软雅黑"/>
              </a:rPr>
              <a:t>名义工作量 ÷ 完成时间（主口径）</a:t>
            </a:r>
          </a:p>
        </p:txBody>
      </p:sp>
      <p:sp>
        <p:nvSpPr>
          <p:cNvPr id="9009" name="Rounded Rectangle 9008"/>
          <p:cNvSpPr/>
          <p:nvPr/>
        </p:nvSpPr>
        <p:spPr>
          <a:xfrm>
            <a:off x="2430780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2522220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36363"/>
                </a:solidFill>
                <a:latin typeface="Arial"/>
                <a:ea typeface="微软雅黑"/>
              </a:rPr>
              <a:t>过程中的最高瞬时调度速率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4294632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4386071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P90 / P99 延迟 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36363"/>
                </a:solidFill>
                <a:latin typeface="Arial"/>
                <a:ea typeface="微软雅黑"/>
              </a:rPr>
              <a:t>入 activeQ 到 Bind 完成</a:t>
            </a:r>
          </a:p>
        </p:txBody>
      </p:sp>
      <p:sp>
        <p:nvSpPr>
          <p:cNvPr id="9013" name="Rounded Rectangle 9012"/>
          <p:cNvSpPr/>
          <p:nvPr/>
        </p:nvSpPr>
        <p:spPr>
          <a:xfrm>
            <a:off x="6158483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6249923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Pod E2E P99 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36363"/>
                </a:solidFill>
                <a:latin typeface="Arial"/>
                <a:ea typeface="微软雅黑"/>
              </a:rPr>
              <a:t>Dispatcher 观察到绑定完成</a:t>
            </a:r>
          </a:p>
        </p:txBody>
      </p:sp>
      <p:sp>
        <p:nvSpPr>
          <p:cNvPr id="9015" name="Rounded Rectangle 9014"/>
          <p:cNvSpPr/>
          <p:nvPr/>
        </p:nvSpPr>
        <p:spPr>
          <a:xfrm>
            <a:off x="8022335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TextBox 9015"/>
          <p:cNvSpPr txBox="1"/>
          <p:nvPr/>
        </p:nvSpPr>
        <p:spPr>
          <a:xfrm>
            <a:off x="8113775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36363"/>
                </a:solidFill>
                <a:latin typeface="Arial"/>
                <a:ea typeface="微软雅黑"/>
              </a:rPr>
              <a:t>Bind 成功 / Bind 尝试</a:t>
            </a:r>
          </a:p>
        </p:txBody>
      </p:sp>
      <p:sp>
        <p:nvSpPr>
          <p:cNvPr id="9017" name="Rounded Rectangle 9016"/>
          <p:cNvSpPr/>
          <p:nvPr/>
        </p:nvSpPr>
        <p:spPr>
          <a:xfrm>
            <a:off x="9886188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8" name="TextBox 9017"/>
          <p:cNvSpPr txBox="1"/>
          <p:nvPr/>
        </p:nvSpPr>
        <p:spPr>
          <a:xfrm>
            <a:off x="9977627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36363"/>
                </a:solidFill>
                <a:latin typeface="Arial"/>
                <a:ea typeface="微软雅黑"/>
              </a:rPr>
              <a:t>pending_pods 最大值</a:t>
            </a:r>
          </a:p>
        </p:txBody>
      </p:sp>
      <p:sp>
        <p:nvSpPr>
          <p:cNvPr id="9019" name="TextBox 9018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20" name="TextBox 9019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6583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6583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Rectangle 9008"/>
          <p:cNvSpPr/>
          <p:nvPr/>
        </p:nvSpPr>
        <p:spPr>
          <a:xfrm>
            <a:off x="43921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43921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Rectangle 9012"/>
          <p:cNvSpPr/>
          <p:nvPr/>
        </p:nvSpPr>
        <p:spPr>
          <a:xfrm>
            <a:off x="81259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81259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9016" name="TextBox 9015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Layer 0 / Layer 3 故障注入各 6 项判据全过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断言在 apiserver 侧可复核</a:t>
            </a:r>
          </a:p>
        </p:txBody>
      </p:sp>
      <p:sp>
        <p:nvSpPr>
          <p:cNvPr id="9017" name="TextBox 901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9004" name="Picture 9003" descr="fig6-29a-layer0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拦截 300 次 / 回退 300 次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绑定成功率 1.00；断言 50000/50000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总耗时 683 s 对基线 680 s（+0.4%）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9004" name="Picture 9003" descr="fig6-29b-layer3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被杀实例绑定占比 68/8407 =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存活实例接管 8407 pods；pending 353→2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总耗时 784 s，较基线 +15.3%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9004" name="Picture 9003" descr="fig6-3-throughput-5gro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9006" name="Table 9005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7" name="TextBox 9006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9004" name="Picture 9003" descr="fig6-2-effective-throughp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尾延迟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9004" name="Picture 9003" descr="fig6-4-latency-p99-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P99 改善 0.3%~82.9%（除 s2/w2）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s3/w3 inst1 32.57→16.22 s（-50.2%）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Pod E2E P99 改善 0.6%~75.3%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实例 1→3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 有效吞吐 +17.5%，Gödel 仅 +1.4%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inst1→inst3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inst1→inst3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 → 349.7（+17.5%）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 → 287.4（+1.4%）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延迟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16.22 → 0.13 s（-99.2%）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32.57 → 0.15 s（-99.5%）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9005" name="Picture 9004" descr="fig6-16-throughput-s3-w3-inst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延迟都降约 99%，但吞吐转化率差 12 倍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Gödel 增量被独立 Binder 串行吸收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这是架构归因最强的一组证据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s4 规模下吞吐仍 +5.6%、P99 低 33.4%；突发、极限、异构均不落后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vs Gödel 有效吞吐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/ E2E 变化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s3→s4（w3，实例不变）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349.7→296.7 vs 287.4→280.9（+5.6%）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0.19 vs 0.28 s（低 33.4%）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w4 极限（s3 / s4）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+9.3% / +16.0%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P99 -49.7% / -14.8%；E2E -32.6%~-35.3%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w5 突发（s3 / s4）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+21.3% / +2.8%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 E2E -53.8%；s4 基本持平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w7 异构（s3 / s4）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+21.2% / 基本持平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 E2E -67.6%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s4 队列堆积峰值 9 vs 61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规模翻倍时两者都退化（ENO -15.2%）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s3/s4 固定 3 实例，口径需说明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归因闭环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去掉一次跨进程绑定链路，换来吞吐、尾延迟、队列深度的同步改善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机制差异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对应指标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实测证据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进程内绑定，无事件传递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inst3 0.45 vs 0.93 s（低 51.9%）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CacheAdapter 零拷贝共享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状态复用 / 无同步延迟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inst3 队列峰值 20 vs 16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无独立 Binder 串行段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有效吞吐随实例扩展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+17.5% vs +1.4%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四层容错守住不变量 I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绑定成功率 / 断言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100%；144 次 run 全过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相关不等于归因：峰值吞吐并非全面领先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s3/w5、s4/w3 峰值吞吐低于 Gödel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收益部分来自启动更快（口径权衡）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局限性与威胁效力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结论在“跨调度器相对比较”上成立，绝对数值不外推到生产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713232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992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KWOK 仿真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无法反映真实资源竞争与 IO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Oval 9007"/>
          <p:cNvSpPr/>
          <p:nvPr/>
        </p:nvSpPr>
        <p:spPr>
          <a:xfrm>
            <a:off x="4486656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4852416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Gang 延迟口径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w6 尾延迟反向，未分离计时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Oval 9010"/>
          <p:cNvSpPr/>
          <p:nvPr/>
        </p:nvSpPr>
        <p:spPr>
          <a:xfrm>
            <a:off x="8260079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8625839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固定实例数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s3→s4 未同步扩容</a:t>
            </a:r>
          </a:p>
        </p:txBody>
      </p:sp>
      <p:sp>
        <p:nvSpPr>
          <p:cNvPr id="9013" name="Rounded Rectangle 9012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Oval 9013"/>
          <p:cNvSpPr/>
          <p:nvPr/>
        </p:nvSpPr>
        <p:spPr>
          <a:xfrm>
            <a:off x="713232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1078992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资源公平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9016" name="Rounded Rectangle 9015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7" name="Oval 9016"/>
          <p:cNvSpPr/>
          <p:nvPr/>
        </p:nvSpPr>
        <p:spPr>
          <a:xfrm>
            <a:off x="4486656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8" name="TextBox 9017"/>
          <p:cNvSpPr txBox="1"/>
          <p:nvPr/>
        </p:nvSpPr>
        <p:spPr>
          <a:xfrm>
            <a:off x="4852416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Volcano 指标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测量对象与粒度不完全等价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Oval 9019"/>
          <p:cNvSpPr/>
          <p:nvPr/>
        </p:nvSpPr>
        <p:spPr>
          <a:xfrm>
            <a:off x="8260079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8625839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幸存者偏差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c/d/e 的 P99 不做数值对齐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结论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架构创新与一致性创新都有可复现实验支撑，且实现了向后兼容的工程落地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713232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992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创新 1 · ENO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Binder 进进程内 + CacheAdapter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Oval 9007"/>
          <p:cNvSpPr/>
          <p:nvPr/>
        </p:nvSpPr>
        <p:spPr>
          <a:xfrm>
            <a:off x="4486656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4852416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不变量 I 的完整证明要点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Oval 9010"/>
          <p:cNvSpPr/>
          <p:nvPr/>
        </p:nvSpPr>
        <p:spPr>
          <a:xfrm>
            <a:off x="8260079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8625839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1 · 规模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16 场景 / 144 run / 100% 成功率</a:t>
            </a:r>
          </a:p>
        </p:txBody>
      </p:sp>
      <p:sp>
        <p:nvSpPr>
          <p:cNvPr id="9013" name="Rounded Rectangle 9012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Oval 9013"/>
          <p:cNvSpPr/>
          <p:nvPr/>
        </p:nvSpPr>
        <p:spPr>
          <a:xfrm>
            <a:off x="713232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1078992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2 · 性能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平均 +11.9%；P99 最高 -82.9%</a:t>
            </a:r>
          </a:p>
        </p:txBody>
      </p:sp>
      <p:sp>
        <p:nvSpPr>
          <p:cNvPr id="9016" name="Rounded Rectangle 9015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7" name="Oval 9016"/>
          <p:cNvSpPr/>
          <p:nvPr/>
        </p:nvSpPr>
        <p:spPr>
          <a:xfrm>
            <a:off x="4486656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8" name="TextBox 9017"/>
          <p:cNvSpPr txBox="1"/>
          <p:nvPr/>
        </p:nvSpPr>
        <p:spPr>
          <a:xfrm>
            <a:off x="4852416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3 · 扩展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实例 1→3：+17.5% 对 +1.4%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Oval 9019"/>
          <p:cNvSpPr/>
          <p:nvPr/>
        </p:nvSpPr>
        <p:spPr>
          <a:xfrm>
            <a:off x="8260079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8625839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价值 · 落地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不改 API、保留开关、基准开源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113E6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636363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答辩人：[姓名]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联系方式：[邮箱]</a:t>
            </a:r>
          </a:p>
        </p:txBody>
      </p:sp>
      <p:sp>
        <p:nvSpPr>
          <p:cNvPr id="7" name="Rectangle 6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25 /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16 场景完整数据（摘要）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有效吞吐 / P99 / Pod E2E P99 / 队列堆积峰值（n=3 中位数）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331.1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324.7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4.00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23.48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16.22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32.57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349.7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287.4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s4/w3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296.7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280.9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s4/w7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完整 16 行见论文表 6-6/6-7/6-8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数据目录：results/compare/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统计口径：n=3 中位数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6 个指标的精确口径与来源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定义、聚合方式与对应的可复核字段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字段 / 定义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聚合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名义工作量 ÷ metadata.duration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每 run 算再取中位数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峰值吞吐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scheduling_peak_throughput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 run 逐点中位数后取标量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P90/P99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activeQ 到 Bind 完成的分位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剔首尾各 2 点后取中位数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pod_e2e_latency_p99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同上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绑定成功率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Bind 成功 / 尝试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比值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pending_pods 最大值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取最大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recording rules 归一化跨组指标名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提取脚本：collect/latency-compare.py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场景清单：results/compare/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13E6A"/>
                </a:solidFill>
                <a:latin typeface="Arial"/>
                <a:ea typeface="微软雅黑"/>
              </a:rPr>
              <a:t>为什么 c/d/e 的 P99 不能与 a/b 直接比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单实例过载 → Pod 长期堵在 activeQ → 未进入延迟直方图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直方图只覆盖“已被 pop 处理”的子集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数值对该子集准确，但样本群体不同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故只比吞吐 / 队列 / 成功率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13E6A"/>
                </a:solidFill>
                <a:latin typeface="Arial"/>
                <a:ea typeface="微软雅黑"/>
              </a:rPr>
              <a:t>Gang（w6）尾延迟反向的机理与边界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吞吐仍领先，但单 Pod 尾延迟高出 1.6~4.1 倍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s3/w6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251.3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211.0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0.428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s3/w6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215.5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0.892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0.218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s4/w6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245.1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0.576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0.353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同组预留等待与决策共用进程与队列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未用独立计时实验分离两段耗时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已在论文 §6.8 列为局限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资源公平性与未量化的资源收益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Scheduler Pod 统一 2C/4G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ENO 少一个 Binder Deployment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集群总资源收益未量化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一键复现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从零到结果的全部入口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run-experiment.sh：12 步实验流程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plot-results.py / collect/：聚合与出图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results/compare/：16 场景产物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13E6A"/>
                </a:solidFill>
                <a:latin typeface="Arial"/>
                <a:ea typeface="微软雅黑"/>
              </a:rPr>
              <a:t>主场景 s3/w3 的时序形态（备用）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9004" name="Picture 9003" descr="fig6-throughput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9005" name="Picture 9004" descr="fig6-6-latency-p99-s3-w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2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2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3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3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2227</Words>
  <Application>Microsoft Office PowerPoint</Application>
  <PresentationFormat>自定义</PresentationFormat>
  <Paragraphs>279</Paragraphs>
  <Slides>29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29</vt:i4>
      </vt:variant>
    </vt:vector>
  </HeadingPairs>
  <TitlesOfParts>
    <vt:vector size="34" baseType="lpstr">
      <vt:lpstr>微软雅黑</vt:lpstr>
      <vt:lpstr>Arial</vt:lpstr>
      <vt:lpstr>Calibri</vt:lpstr>
      <vt:lpstr>1</vt:lpstr>
      <vt:lpstr>2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1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</dc:title>
  <dc:subject>1</dc:subject>
  <dc:creator>zhite</dc:creator>
  <dc:description>1</dc:description>
  <cp:lastModifiedBy> </cp:lastModifiedBy>
  <cp:revision>8</cp:revision>
  <dcterms:created xsi:type="dcterms:W3CDTF">2013-01-25T01:44:00Z</dcterms:created>
  <dcterms:modified xsi:type="dcterms:W3CDTF">2019-07-19T02:21:16Z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2052-10.1.0.6490</vt:lpwstr>
  </property>
</Properties>
</file>